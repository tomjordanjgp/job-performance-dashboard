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3E2"/>
    <a:srgbClr val="6437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134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248" y="18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8429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4379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763500" y="0"/>
            <a:ext cx="3429000" cy="3619500"/>
          </a:xfrm>
          <a:prstGeom prst="rect">
            <a:avLst/>
          </a:prstGeom>
          <a:solidFill>
            <a:srgbClr val="9C67D3">
              <a:alpha val="6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4859000" y="0"/>
            <a:ext cx="3429000" cy="4572000"/>
          </a:xfrm>
          <a:prstGeom prst="rect">
            <a:avLst/>
          </a:prstGeom>
          <a:solidFill>
            <a:srgbClr val="E5FF6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43000" y="1143000"/>
            <a:ext cx="1648206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kern="0" spc="660" dirty="0">
                <a:solidFill>
                  <a:srgbClr val="E5F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 REPORT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43000" y="1543050"/>
            <a:ext cx="1117981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6500" b="1" kern="0" spc="-6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</a:t>
            </a:r>
            <a:endParaRPr lang="en-US" sz="16500" dirty="0"/>
          </a:p>
        </p:txBody>
      </p:sp>
      <p:sp>
        <p:nvSpPr>
          <p:cNvPr id="9" name="Text 7"/>
          <p:cNvSpPr/>
          <p:nvPr/>
        </p:nvSpPr>
        <p:spPr>
          <a:xfrm>
            <a:off x="1143000" y="3848100"/>
            <a:ext cx="16482060" cy="1924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6500" b="1" kern="0" spc="-660" dirty="0">
                <a:solidFill>
                  <a:srgbClr val="E5F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Report.</a:t>
            </a:r>
            <a:endParaRPr lang="en-US" sz="16500" dirty="0"/>
          </a:p>
        </p:txBody>
      </p:sp>
      <p:sp>
        <p:nvSpPr>
          <p:cNvPr id="10" name="Text 8"/>
          <p:cNvSpPr/>
          <p:nvPr/>
        </p:nvSpPr>
        <p:spPr>
          <a:xfrm>
            <a:off x="1143000" y="8239125"/>
            <a:ext cx="425403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PREPARED FOR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143000" y="8582025"/>
            <a:ext cx="4130129" cy="540990"/>
          </a:xfrm>
          <a:prstGeom prst="roundRect">
            <a:avLst>
              <a:gd name="adj" fmla="val 7043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219200" y="8601075"/>
            <a:ext cx="4101633" cy="540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600" kern="0" spc="-72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</a:t>
            </a:r>
            <a:endParaRPr lang="en-US" sz="3600" dirty="0">
              <a:latin typeface="DM Sans 14pt" pitchFamily="2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4875222" y="8543925"/>
            <a:ext cx="23459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1350" kern="0" spc="270" dirty="0">
                <a:solidFill>
                  <a:srgbClr val="FFFFFF">
                    <a:alpha val="7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REPORTING PERIOD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517838" y="8820150"/>
            <a:ext cx="662716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950" kern="0" spc="293" dirty="0">
                <a:highlight>
                  <a:srgbClr val="FFFFFF"/>
                </a:highlight>
                <a:latin typeface="DM Sans 14pt" pitchFamily="2" charset="77"/>
                <a:ea typeface="Arial" pitchFamily="34" charset="-122"/>
                <a:cs typeface="Arial" pitchFamily="34" charset="-120"/>
              </a:rPr>
              <a:t>{{PERIOD_START}} </a:t>
            </a:r>
            <a:r>
              <a:rPr lang="en-US" sz="1950" b="1" kern="0" spc="293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— </a:t>
            </a:r>
            <a:r>
              <a:rPr lang="en-US" sz="1950" kern="0" spc="293" dirty="0">
                <a:highlight>
                  <a:srgbClr val="FFFFFF"/>
                </a:highlight>
                <a:latin typeface="DM Sans 14pt" pitchFamily="2" charset="77"/>
                <a:ea typeface="Arial" pitchFamily="34" charset="-122"/>
                <a:cs typeface="Arial" pitchFamily="34" charset="-120"/>
              </a:rPr>
              <a:t>{{PERIOD_END}}</a:t>
            </a:r>
            <a:endParaRPr lang="en-US" sz="1950" dirty="0">
              <a:latin typeface="DM Sans 14pt" pitchFamily="2" charset="7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9600" y="9742289"/>
            <a:ext cx="1704677" cy="163711"/>
          </a:xfrm>
          <a:prstGeom prst="roundRect">
            <a:avLst>
              <a:gd name="adj" fmla="val 23273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85800" y="9761339"/>
            <a:ext cx="1628477" cy="1637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kern="0" spc="42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places. Go public.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7233255" y="9747945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FFFFFF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07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1203825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How your roles performed vs. benchmark.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9986861" y="1890712"/>
            <a:ext cx="2710403" cy="1946065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0158311" y="2055334"/>
            <a:ext cx="2380822" cy="1459641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 anchor="ctr"/>
          <a:lstStyle/>
          <a:p>
            <a:pPr algn="ctr"/>
            <a:r>
              <a:rPr lang="en-US" sz="30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3000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stat_total_jobs</a:t>
            </a:r>
            <a:r>
              <a:rPr lang="en-US" sz="30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3000" dirty="0">
              <a:latin typeface="DM Sans 14pt" pitchFamily="2" charset="7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532881" y="3520548"/>
            <a:ext cx="1618357" cy="304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ROLES BENCHMARKED</a:t>
            </a:r>
            <a:endParaRPr lang="en-US" sz="825" dirty="0">
              <a:latin typeface="DM Sans 14pt" pitchFamily="2" charset="77"/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BCF2827-5626-8C6D-774D-F9EC939EE4AC}"/>
              </a:ext>
            </a:extLst>
          </p:cNvPr>
          <p:cNvGrpSpPr/>
          <p:nvPr/>
        </p:nvGrpSpPr>
        <p:grpSpPr>
          <a:xfrm>
            <a:off x="9986861" y="4636790"/>
            <a:ext cx="2710403" cy="1951636"/>
            <a:chOff x="10089846" y="3991843"/>
            <a:chExt cx="2710403" cy="1951636"/>
          </a:xfrm>
        </p:grpSpPr>
        <p:sp>
          <p:nvSpPr>
            <p:cNvPr id="12" name="Shape 10"/>
            <p:cNvSpPr/>
            <p:nvPr/>
          </p:nvSpPr>
          <p:spPr>
            <a:xfrm>
              <a:off x="10089846" y="3991843"/>
              <a:ext cx="2710403" cy="1946063"/>
            </a:xfrm>
            <a:prstGeom prst="roundRect">
              <a:avLst/>
            </a:prstGeom>
            <a:solidFill>
              <a:srgbClr val="E5FF6E"/>
            </a:solidFill>
            <a:ln/>
          </p:spPr>
          <p:txBody>
            <a:bodyPr anchor="ctr"/>
            <a:lstStyle/>
            <a:p>
              <a:pPr algn="ctr"/>
              <a:endParaRPr lang="en-US" dirty="0">
                <a:latin typeface="DM Sans 14pt" pitchFamily="2" charset="77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10261296" y="4200561"/>
              <a:ext cx="2300827" cy="1362039"/>
            </a:xfrm>
            <a:prstGeom prst="roundRect">
              <a:avLst>
                <a:gd name="adj" fmla="val 17778"/>
              </a:avLst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>
                <a:lnSpc>
                  <a:spcPct val="110000"/>
                </a:lnSpc>
              </a:pPr>
              <a:endParaRPr lang="en-GB" sz="3000" kern="0" spc="-67">
                <a:solidFill>
                  <a:srgbClr val="FFFFFF"/>
                </a:solidFill>
                <a:latin typeface="DM Sans 14pt" pitchFamily="2" charset="77"/>
                <a:cs typeface="Arial" pitchFamily="34" charset="-12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10327970" y="5658331"/>
              <a:ext cx="2234153" cy="285148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b">
              <a:normAutofit/>
            </a:bodyPr>
            <a:lstStyle/>
            <a:p>
              <a:pPr marL="0" indent="0" algn="l">
                <a:buNone/>
              </a:pPr>
              <a:r>
                <a:rPr lang="en-US" sz="825" kern="0" spc="182" dirty="0">
                  <a:solidFill>
                    <a:srgbClr val="240F45">
                      <a:alpha val="85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IN THE TOP-RIGHT QUADRANT</a:t>
              </a:r>
              <a:endParaRPr lang="en-US" sz="825" dirty="0">
                <a:latin typeface="DM Sans 14pt" pitchFamily="2" charset="77"/>
              </a:endParaRPr>
            </a:p>
          </p:txBody>
        </p:sp>
      </p:grpSp>
      <p:sp>
        <p:nvSpPr>
          <p:cNvPr id="17" name="Shape 15"/>
          <p:cNvSpPr/>
          <p:nvPr/>
        </p:nvSpPr>
        <p:spPr>
          <a:xfrm>
            <a:off x="9986861" y="7388438"/>
            <a:ext cx="2710403" cy="1946062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0158922" y="7553060"/>
            <a:ext cx="2379600" cy="1461600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 anchor="ctr"/>
          <a:lstStyle/>
          <a:p>
            <a:pPr algn="ctr"/>
            <a:r>
              <a:rPr lang="en-US" sz="3000" kern="0" spc="-67" dirty="0">
                <a:solidFill>
                  <a:srgbClr val="FFFFFF"/>
                </a:solidFill>
                <a:latin typeface="DM Sans 14pt" pitchFamily="2" charset="77"/>
                <a:cs typeface="Arial" pitchFamily="34" charset="-120"/>
              </a:rPr>
              <a:t>{{</a:t>
            </a:r>
            <a:r>
              <a:rPr lang="en-US" sz="3000" kern="0" spc="-67" dirty="0" err="1">
                <a:solidFill>
                  <a:srgbClr val="FFFFFF"/>
                </a:solidFill>
                <a:latin typeface="DM Sans 14pt" pitchFamily="2" charset="77"/>
                <a:cs typeface="Arial" pitchFamily="34" charset="-120"/>
              </a:rPr>
              <a:t>stat_top_category</a:t>
            </a:r>
            <a:r>
              <a:rPr lang="en-US" sz="3000" kern="0" spc="-67" dirty="0">
                <a:solidFill>
                  <a:srgbClr val="FFFFFF"/>
                </a:solidFill>
                <a:latin typeface="DM Sans 14pt" pitchFamily="2" charset="77"/>
                <a:cs typeface="Arial" pitchFamily="34" charset="-120"/>
              </a:rPr>
              <a:t>}}</a:t>
            </a:r>
          </a:p>
        </p:txBody>
      </p:sp>
      <p:sp>
        <p:nvSpPr>
          <p:cNvPr id="20" name="Text 18"/>
          <p:cNvSpPr/>
          <p:nvPr/>
        </p:nvSpPr>
        <p:spPr>
          <a:xfrm>
            <a:off x="10286188" y="9006912"/>
            <a:ext cx="2111745" cy="3116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STRONGEST JOB CATEGORY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2000" y="1890712"/>
            <a:ext cx="8910097" cy="7443788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57249" y="2319904"/>
            <a:ext cx="8704459" cy="6919345"/>
          </a:xfrm>
          <a:prstGeom prst="roundRect">
            <a:avLst>
              <a:gd name="adj" fmla="val 4022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chart:benchmark_scatter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57249" y="2020637"/>
            <a:ext cx="406578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sz="1050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Views vs. apply clicks, % above/below benchmark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2995755" y="3391422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2995755" y="3880287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commentary_benchmark_intro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2995755" y="5271442"/>
            <a:ext cx="4707474" cy="11748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{{commentary_benchmark_point_1}}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12995755" y="6662597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{{commentary_benchmark_point_2}}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02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46" name="Shape 28">
            <a:extLst>
              <a:ext uri="{FF2B5EF4-FFF2-40B4-BE49-F238E27FC236}">
                <a16:creationId xmlns:a16="http://schemas.microsoft.com/office/drawing/2014/main" id="{6BF6FE9E-6B60-55B6-FFB2-3A3997294303}"/>
              </a:ext>
            </a:extLst>
          </p:cNvPr>
          <p:cNvSpPr/>
          <p:nvPr/>
        </p:nvSpPr>
        <p:spPr>
          <a:xfrm>
            <a:off x="12995755" y="189071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chart_explainer_benchmark_scatter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  <a:endParaRPr lang="en-US" sz="1400" dirty="0">
              <a:solidFill>
                <a:srgbClr val="643791"/>
              </a:solidFill>
              <a:latin typeface="DM Sans 14pt" pitchFamily="2" charset="77"/>
            </a:endParaRPr>
          </a:p>
        </p:txBody>
      </p:sp>
      <p:sp>
        <p:nvSpPr>
          <p:cNvPr id="49" name="Shape 32">
            <a:extLst>
              <a:ext uri="{FF2B5EF4-FFF2-40B4-BE49-F238E27FC236}">
                <a16:creationId xmlns:a16="http://schemas.microsoft.com/office/drawing/2014/main" id="{49E04A68-847E-82E3-4038-6247474AA428}"/>
              </a:ext>
            </a:extLst>
          </p:cNvPr>
          <p:cNvSpPr/>
          <p:nvPr/>
        </p:nvSpPr>
        <p:spPr>
          <a:xfrm>
            <a:off x="12995755" y="8053326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{{commentary_benchmark_point_3}}</a:t>
            </a:r>
            <a:endParaRPr lang="en-US" sz="1400" dirty="0">
              <a:latin typeface="DM Sans 14pt" pitchFamily="2" charset="77"/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4277861-6ED0-04AA-BFD6-B3A1BD64266B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7" name="Text 3">
              <a:extLst>
                <a:ext uri="{FF2B5EF4-FFF2-40B4-BE49-F238E27FC236}">
                  <a16:creationId xmlns:a16="http://schemas.microsoft.com/office/drawing/2014/main" id="{6F7C33C0-2054-2D5C-F29F-CD13941B3BB5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r">
                <a:buNone/>
              </a:pPr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01 · BENCHMARKING JOBS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58" name="Text 21">
              <a:extLst>
                <a:ext uri="{FF2B5EF4-FFF2-40B4-BE49-F238E27FC236}">
                  <a16:creationId xmlns:a16="http://schemas.microsoft.com/office/drawing/2014/main" id="{F285D6AD-CCAA-2178-0719-E68B4ED056A3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20000"/>
            </a:bodyPr>
            <a:lstStyle/>
            <a:p>
              <a:pPr>
                <a:lnSpc>
                  <a:spcPct val="140000"/>
                </a:lnSpc>
              </a:pP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Each dot is one of your vacancies, positioned by views and apply clicks relative to our market benchmark. The top-right quadrant is exceeding benchmark on both.</a:t>
              </a:r>
              <a:endParaRPr lang="en-US" sz="1350" dirty="0">
                <a:latin typeface="DM Sans 14pt" pitchFamily="2" charset="77"/>
              </a:endParaRPr>
            </a:p>
          </p:txBody>
        </p:sp>
      </p:grpSp>
      <p:sp>
        <p:nvSpPr>
          <p:cNvPr id="62" name="Shape 10">
            <a:extLst>
              <a:ext uri="{FF2B5EF4-FFF2-40B4-BE49-F238E27FC236}">
                <a16:creationId xmlns:a16="http://schemas.microsoft.com/office/drawing/2014/main" id="{F9149085-C9BF-B06F-2BD2-89A1D127AA4D}"/>
              </a:ext>
            </a:extLst>
          </p:cNvPr>
          <p:cNvSpPr/>
          <p:nvPr/>
        </p:nvSpPr>
        <p:spPr>
          <a:xfrm>
            <a:off x="10158922" y="4825695"/>
            <a:ext cx="2379600" cy="1461600"/>
          </a:xfrm>
          <a:prstGeom prst="roundRect">
            <a:avLst/>
          </a:prstGeom>
          <a:solidFill>
            <a:srgbClr val="F1F3E2"/>
          </a:solidFill>
          <a:ln/>
        </p:spPr>
        <p:txBody>
          <a:bodyPr anchor="ctr"/>
          <a:lstStyle/>
          <a:p>
            <a:pPr algn="ctr"/>
            <a:r>
              <a:rPr lang="en-US" sz="3000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3000" kern="0" spc="-67" dirty="0" err="1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stat_top_quadrant_pct</a:t>
            </a:r>
            <a:r>
              <a:rPr lang="en-US" sz="3000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3000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3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8104446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Your average vs. the market.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62000" y="2800350"/>
            <a:ext cx="11756529" cy="6534150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88847" y="3233450"/>
            <a:ext cx="11500657" cy="600580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9525">
            <a:noFill/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chart:benchmark_average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03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62000" y="1847850"/>
            <a:ext cx="276799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88846" y="1890712"/>
            <a:ext cx="2469476" cy="490538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983855" y="1890712"/>
            <a:ext cx="2347381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stat_benchmark_average_views</a:t>
            </a:r>
            <a:r>
              <a:rPr lang="en-US" sz="14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751854" y="1847850"/>
            <a:ext cx="2767998" cy="723900"/>
          </a:xfrm>
          <a:prstGeom prst="roundRect">
            <a:avLst/>
          </a:prstGeom>
          <a:solidFill>
            <a:srgbClr val="E5FF6E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080238" y="2016919"/>
            <a:ext cx="2140978" cy="214313"/>
          </a:xfrm>
          <a:prstGeom prst="roundRect">
            <a:avLst>
              <a:gd name="adj" fmla="val 17778"/>
            </a:avLst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885467" y="1974057"/>
            <a:ext cx="2369881" cy="3500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kern="0" spc="-67" dirty="0" err="1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stat_your_jobs_average_views</a:t>
            </a:r>
            <a:r>
              <a:rPr lang="en-US" sz="1400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255349" y="1933575"/>
            <a:ext cx="291588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-US" sz="2250" dirty="0">
              <a:latin typeface="DM Sans 14pt" pitchFamily="2" charset="7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741707" y="1847850"/>
            <a:ext cx="276245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895301" y="2016919"/>
            <a:ext cx="2002716" cy="214313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963563" y="1890712"/>
            <a:ext cx="2426421" cy="4119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stat_benchmark_average_applies</a:t>
            </a:r>
            <a:r>
              <a:rPr lang="en-US" sz="14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895301" y="2324100"/>
            <a:ext cx="2863967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BENCHMARK AVERAGE APPLYS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40" name="Shape 10">
            <a:extLst>
              <a:ext uri="{FF2B5EF4-FFF2-40B4-BE49-F238E27FC236}">
                <a16:creationId xmlns:a16="http://schemas.microsoft.com/office/drawing/2014/main" id="{9AFE0004-10EC-66DD-A433-5D4508C4D667}"/>
              </a:ext>
            </a:extLst>
          </p:cNvPr>
          <p:cNvSpPr/>
          <p:nvPr/>
        </p:nvSpPr>
        <p:spPr>
          <a:xfrm>
            <a:off x="9698935" y="1847850"/>
            <a:ext cx="2767998" cy="723900"/>
          </a:xfrm>
          <a:prstGeom prst="roundRect">
            <a:avLst/>
          </a:prstGeom>
          <a:solidFill>
            <a:srgbClr val="E5FF6E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42" name="Shape 12">
            <a:extLst>
              <a:ext uri="{FF2B5EF4-FFF2-40B4-BE49-F238E27FC236}">
                <a16:creationId xmlns:a16="http://schemas.microsoft.com/office/drawing/2014/main" id="{D797879B-C0B2-E195-8621-8907B9D82F1F}"/>
              </a:ext>
            </a:extLst>
          </p:cNvPr>
          <p:cNvSpPr/>
          <p:nvPr/>
        </p:nvSpPr>
        <p:spPr>
          <a:xfrm>
            <a:off x="9784266" y="2016919"/>
            <a:ext cx="2384034" cy="223838"/>
          </a:xfrm>
          <a:prstGeom prst="roundRect">
            <a:avLst>
              <a:gd name="adj" fmla="val 17778"/>
            </a:avLst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GB" sz="1400" dirty="0">
              <a:latin typeface="DM Sans 14pt" pitchFamily="2" charset="77"/>
            </a:endParaRPr>
          </a:p>
        </p:txBody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449B7F61-8DB7-9C1A-5603-4B3D66B1A57C}"/>
              </a:ext>
            </a:extLst>
          </p:cNvPr>
          <p:cNvSpPr/>
          <p:nvPr/>
        </p:nvSpPr>
        <p:spPr>
          <a:xfrm>
            <a:off x="9759268" y="2045494"/>
            <a:ext cx="2409032" cy="1833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kern="0" spc="-67" dirty="0" err="1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stat_your_jobs_average_applies</a:t>
            </a:r>
            <a:r>
              <a:rPr lang="en-US" sz="1400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45" name="Text 15">
            <a:extLst>
              <a:ext uri="{FF2B5EF4-FFF2-40B4-BE49-F238E27FC236}">
                <a16:creationId xmlns:a16="http://schemas.microsoft.com/office/drawing/2014/main" id="{814AD5B6-1982-6091-1726-B65BA561066F}"/>
              </a:ext>
            </a:extLst>
          </p:cNvPr>
          <p:cNvSpPr/>
          <p:nvPr/>
        </p:nvSpPr>
        <p:spPr>
          <a:xfrm>
            <a:off x="9784266" y="2324100"/>
            <a:ext cx="3499933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240F45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YOUR JOBS – AVERAGE APPLYS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851225" y="2393157"/>
            <a:ext cx="2890482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240F45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YOUR JOBS – AVERAGE VIEWS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63848" y="2366636"/>
            <a:ext cx="2467388" cy="2265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BENCHMARK AVERAGE VIEWS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7" name="Text 27">
            <a:extLst>
              <a:ext uri="{FF2B5EF4-FFF2-40B4-BE49-F238E27FC236}">
                <a16:creationId xmlns:a16="http://schemas.microsoft.com/office/drawing/2014/main" id="{6A0DF149-128C-9B78-2631-397C50980B39}"/>
              </a:ext>
            </a:extLst>
          </p:cNvPr>
          <p:cNvSpPr/>
          <p:nvPr/>
        </p:nvSpPr>
        <p:spPr>
          <a:xfrm>
            <a:off x="12995755" y="3391422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21" name="Shape 28">
            <a:extLst>
              <a:ext uri="{FF2B5EF4-FFF2-40B4-BE49-F238E27FC236}">
                <a16:creationId xmlns:a16="http://schemas.microsoft.com/office/drawing/2014/main" id="{AD11CE6B-1F35-10CA-93D1-DC7E7FEBDD35}"/>
              </a:ext>
            </a:extLst>
          </p:cNvPr>
          <p:cNvSpPr/>
          <p:nvPr/>
        </p:nvSpPr>
        <p:spPr>
          <a:xfrm>
            <a:off x="12995755" y="3880287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commentary_average_intro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46" name="Shape 30">
            <a:extLst>
              <a:ext uri="{FF2B5EF4-FFF2-40B4-BE49-F238E27FC236}">
                <a16:creationId xmlns:a16="http://schemas.microsoft.com/office/drawing/2014/main" id="{BC486ACB-7DD7-21F6-B0FC-03635C87339A}"/>
              </a:ext>
            </a:extLst>
          </p:cNvPr>
          <p:cNvSpPr/>
          <p:nvPr/>
        </p:nvSpPr>
        <p:spPr>
          <a:xfrm>
            <a:off x="12995755" y="5271442"/>
            <a:ext cx="4707474" cy="11748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{{commentary_average_point_1}}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49" name="Shape 32">
            <a:extLst>
              <a:ext uri="{FF2B5EF4-FFF2-40B4-BE49-F238E27FC236}">
                <a16:creationId xmlns:a16="http://schemas.microsoft.com/office/drawing/2014/main" id="{FDEF387C-5013-25D7-982E-02BE79CD5688}"/>
              </a:ext>
            </a:extLst>
          </p:cNvPr>
          <p:cNvSpPr/>
          <p:nvPr/>
        </p:nvSpPr>
        <p:spPr>
          <a:xfrm>
            <a:off x="12995755" y="6662597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{{commentary_average_point_2}}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52" name="Shape 28">
            <a:extLst>
              <a:ext uri="{FF2B5EF4-FFF2-40B4-BE49-F238E27FC236}">
                <a16:creationId xmlns:a16="http://schemas.microsoft.com/office/drawing/2014/main" id="{6E1337BE-457A-B636-2A43-3B1372F7401D}"/>
              </a:ext>
            </a:extLst>
          </p:cNvPr>
          <p:cNvSpPr/>
          <p:nvPr/>
        </p:nvSpPr>
        <p:spPr>
          <a:xfrm>
            <a:off x="12995755" y="189071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chart_explainer_benchmark_average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  <a:endParaRPr lang="en-US" sz="1400" dirty="0">
              <a:solidFill>
                <a:srgbClr val="643791"/>
              </a:solidFill>
              <a:latin typeface="DM Sans 14pt" pitchFamily="2" charset="77"/>
            </a:endParaRPr>
          </a:p>
        </p:txBody>
      </p:sp>
      <p:sp>
        <p:nvSpPr>
          <p:cNvPr id="59" name="Text 29">
            <a:extLst>
              <a:ext uri="{FF2B5EF4-FFF2-40B4-BE49-F238E27FC236}">
                <a16:creationId xmlns:a16="http://schemas.microsoft.com/office/drawing/2014/main" id="{4781B945-2946-0799-CAA7-A6CBCB58821A}"/>
              </a:ext>
            </a:extLst>
          </p:cNvPr>
          <p:cNvSpPr/>
          <p:nvPr/>
        </p:nvSpPr>
        <p:spPr>
          <a:xfrm>
            <a:off x="6546937" y="-2453221"/>
            <a:ext cx="4661496" cy="11824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GB" sz="1650" dirty="0">
                <a:solidFill>
                  <a:srgbClr val="643791"/>
                </a:solidFill>
                <a:latin typeface="DM Sans 14pt" pitchFamily="2" charset="77"/>
              </a:rPr>
              <a:t>{{chart_explainer_benchmark_scatter}}</a:t>
            </a:r>
            <a:endParaRPr lang="en-US" sz="1650" dirty="0">
              <a:solidFill>
                <a:srgbClr val="643791"/>
              </a:solidFill>
              <a:latin typeface="DM Sans 14pt" pitchFamily="2" charset="77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C4A8F459-F5C0-90D7-162E-BEA9A56AB013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67" name="Text 3">
              <a:extLst>
                <a:ext uri="{FF2B5EF4-FFF2-40B4-BE49-F238E27FC236}">
                  <a16:creationId xmlns:a16="http://schemas.microsoft.com/office/drawing/2014/main" id="{06DB073C-0DC3-299A-5EB3-6CFA66DF2747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r"/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02 · AVERAGE PERFORMANCE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68" name="Text 21">
              <a:extLst>
                <a:ext uri="{FF2B5EF4-FFF2-40B4-BE49-F238E27FC236}">
                  <a16:creationId xmlns:a16="http://schemas.microsoft.com/office/drawing/2014/main" id="{AA8D2D39-DF50-ADAB-4AB5-294CA052C018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/>
            </a:bodyPr>
            <a:lstStyle/>
            <a:p>
              <a:pPr>
                <a:lnSpc>
                  <a:spcPct val="140000"/>
                </a:lnSpc>
              </a:pP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Rolling up all your vacancies into a single average, compared with the benchmark for comparable public sector roles.</a:t>
              </a:r>
              <a:endParaRPr lang="en-US" sz="1350" dirty="0">
                <a:latin typeface="DM Sans 14pt" pitchFamily="2" charset="77"/>
              </a:endParaRPr>
            </a:p>
          </p:txBody>
        </p:sp>
      </p:grpSp>
      <p:sp>
        <p:nvSpPr>
          <p:cNvPr id="71" name="Text 26">
            <a:extLst>
              <a:ext uri="{FF2B5EF4-FFF2-40B4-BE49-F238E27FC236}">
                <a16:creationId xmlns:a16="http://schemas.microsoft.com/office/drawing/2014/main" id="{85F60CBB-25A0-A776-C08E-574558953B87}"/>
              </a:ext>
            </a:extLst>
          </p:cNvPr>
          <p:cNvSpPr/>
          <p:nvPr/>
        </p:nvSpPr>
        <p:spPr>
          <a:xfrm>
            <a:off x="857249" y="2934182"/>
            <a:ext cx="406578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r>
              <a:rPr lang="en-US" sz="1050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Views per vacancy · Apply clicks per vacancy</a:t>
            </a:r>
            <a:endParaRPr lang="en-US" sz="1050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9035394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Where your applies came from.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62000" y="1695451"/>
            <a:ext cx="11756529" cy="7639050"/>
          </a:xfrm>
          <a:prstGeom prst="roundRect">
            <a:avLst>
              <a:gd name="adj" fmla="val 2331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0210056" y="1883177"/>
            <a:ext cx="2117973" cy="228600"/>
          </a:xfrm>
          <a:prstGeom prst="roundRect">
            <a:avLst>
              <a:gd name="adj" fmla="val 16667"/>
            </a:avLst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0324356" y="1940327"/>
            <a:ext cx="1965573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825" kern="0" spc="124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STACKED BAR · BY JOB TYPE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51338" y="2299503"/>
            <a:ext cx="11592910" cy="6939747"/>
          </a:xfrm>
          <a:prstGeom prst="roundRect">
            <a:avLst>
              <a:gd name="adj" fmla="val 3334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987973" y="2337602"/>
            <a:ext cx="11301956" cy="675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{{chart:postings_by_type}}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893357" y="1902227"/>
            <a:ext cx="393196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Postings · views · apply clicks per category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04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7" name="Text 27">
            <a:extLst>
              <a:ext uri="{FF2B5EF4-FFF2-40B4-BE49-F238E27FC236}">
                <a16:creationId xmlns:a16="http://schemas.microsoft.com/office/drawing/2014/main" id="{3FF78C94-A50F-976C-A980-8C3CAB3F0D38}"/>
              </a:ext>
            </a:extLst>
          </p:cNvPr>
          <p:cNvSpPr/>
          <p:nvPr/>
        </p:nvSpPr>
        <p:spPr>
          <a:xfrm>
            <a:off x="12995755" y="3391422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9" name="Shape 28">
            <a:extLst>
              <a:ext uri="{FF2B5EF4-FFF2-40B4-BE49-F238E27FC236}">
                <a16:creationId xmlns:a16="http://schemas.microsoft.com/office/drawing/2014/main" id="{CD38405B-7A80-D9F5-43F9-EF7730151C46}"/>
              </a:ext>
            </a:extLst>
          </p:cNvPr>
          <p:cNvSpPr/>
          <p:nvPr/>
        </p:nvSpPr>
        <p:spPr>
          <a:xfrm>
            <a:off x="12995755" y="3880287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commentary_postings_intro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2" name="Shape 30">
            <a:extLst>
              <a:ext uri="{FF2B5EF4-FFF2-40B4-BE49-F238E27FC236}">
                <a16:creationId xmlns:a16="http://schemas.microsoft.com/office/drawing/2014/main" id="{36B729F7-3A69-5881-97D9-C59766E932D7}"/>
              </a:ext>
            </a:extLst>
          </p:cNvPr>
          <p:cNvSpPr/>
          <p:nvPr/>
        </p:nvSpPr>
        <p:spPr>
          <a:xfrm>
            <a:off x="12995755" y="5271442"/>
            <a:ext cx="4707474" cy="11748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{{commentary_postings_point_1}}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5" name="Shape 32">
            <a:extLst>
              <a:ext uri="{FF2B5EF4-FFF2-40B4-BE49-F238E27FC236}">
                <a16:creationId xmlns:a16="http://schemas.microsoft.com/office/drawing/2014/main" id="{62C2C6E1-4CAF-1AA6-2366-B71F536E616E}"/>
              </a:ext>
            </a:extLst>
          </p:cNvPr>
          <p:cNvSpPr/>
          <p:nvPr/>
        </p:nvSpPr>
        <p:spPr>
          <a:xfrm>
            <a:off x="12995755" y="6662597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{{commentary_postings_point_2}}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8" name="Shape 28">
            <a:extLst>
              <a:ext uri="{FF2B5EF4-FFF2-40B4-BE49-F238E27FC236}">
                <a16:creationId xmlns:a16="http://schemas.microsoft.com/office/drawing/2014/main" id="{B062927B-9F35-2BF4-1AC4-64F9583E72B9}"/>
              </a:ext>
            </a:extLst>
          </p:cNvPr>
          <p:cNvSpPr/>
          <p:nvPr/>
        </p:nvSpPr>
        <p:spPr>
          <a:xfrm>
            <a:off x="12995755" y="189071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chart_explainer_postings_by_type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6D313A4E-6410-2708-0A46-7A596DFFE2CB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46" name="Text 3">
              <a:extLst>
                <a:ext uri="{FF2B5EF4-FFF2-40B4-BE49-F238E27FC236}">
                  <a16:creationId xmlns:a16="http://schemas.microsoft.com/office/drawing/2014/main" id="{62BE7D87-7869-8168-6968-EDBE76A419EB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r"/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03 · JOB POSTINGS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47" name="Text 21">
              <a:extLst>
                <a:ext uri="{FF2B5EF4-FFF2-40B4-BE49-F238E27FC236}">
                  <a16:creationId xmlns:a16="http://schemas.microsoft.com/office/drawing/2014/main" id="{649E6B38-9A71-39CC-9327-91FE0E05FC58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20000"/>
            </a:bodyPr>
            <a:lstStyle/>
            <a:p>
              <a:pPr>
                <a:lnSpc>
                  <a:spcPct val="140000"/>
                </a:lnSpc>
              </a:pP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Postings broken down by job type. A role can appear in more than one category, so totals may exceed unique jobs posted. Low-volume categories are excluded.</a:t>
              </a:r>
              <a:endParaRPr lang="en-US" sz="1350" dirty="0">
                <a:latin typeface="DM Sans 14pt" pitchFamily="2" charset="77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0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22">
            <a:extLst>
              <a:ext uri="{FF2B5EF4-FFF2-40B4-BE49-F238E27FC236}">
                <a16:creationId xmlns:a16="http://schemas.microsoft.com/office/drawing/2014/main" id="{1FA0AF3D-C6C8-7A95-0AC0-E7674622E367}"/>
              </a:ext>
            </a:extLst>
          </p:cNvPr>
          <p:cNvSpPr/>
          <p:nvPr/>
        </p:nvSpPr>
        <p:spPr>
          <a:xfrm>
            <a:off x="3712545" y="2799557"/>
            <a:ext cx="8754388" cy="6534943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816653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Return on your subscription.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62000" y="2800350"/>
            <a:ext cx="2767997" cy="6534150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88847" y="2900362"/>
            <a:ext cx="1981051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75" kern="0" spc="244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CHART PLACEHOLDER</a:t>
            </a:r>
            <a:endParaRPr lang="en-US" sz="975" dirty="0">
              <a:latin typeface="DM Sans 14pt" pitchFamily="2" charset="7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820110" y="2976564"/>
            <a:ext cx="2699742" cy="228600"/>
          </a:xfrm>
          <a:prstGeom prst="roundRect">
            <a:avLst>
              <a:gd name="adj" fmla="val 16667"/>
            </a:avLst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967718" y="3014664"/>
            <a:ext cx="2552134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825" kern="0" spc="124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BAR · COST PER APPLY BY CATEGORY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25441" y="3081338"/>
            <a:ext cx="2607164" cy="6157912"/>
          </a:xfrm>
          <a:prstGeom prst="roundRect">
            <a:avLst>
              <a:gd name="adj" fmla="val 6482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15591" y="3205164"/>
            <a:ext cx="2440558" cy="59178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sz="1650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chart:spend_vs_ratecard</a:t>
            </a:r>
            <a:r>
              <a:rPr lang="en-US" sz="1650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03042" y="6161088"/>
            <a:ext cx="2588521" cy="525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Spent vs rate card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05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CC3A9E5C-B88E-E185-8372-EE03F5A2B5D7}"/>
              </a:ext>
            </a:extLst>
          </p:cNvPr>
          <p:cNvSpPr/>
          <p:nvPr/>
        </p:nvSpPr>
        <p:spPr>
          <a:xfrm>
            <a:off x="762000" y="1847850"/>
            <a:ext cx="276799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2836D9AC-24FD-DBDE-86B8-01457B5CE080}"/>
              </a:ext>
            </a:extLst>
          </p:cNvPr>
          <p:cNvSpPr/>
          <p:nvPr/>
        </p:nvSpPr>
        <p:spPr>
          <a:xfrm>
            <a:off x="915592" y="1981200"/>
            <a:ext cx="1449807" cy="214313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42" name="Text 8">
            <a:extLst>
              <a:ext uri="{FF2B5EF4-FFF2-40B4-BE49-F238E27FC236}">
                <a16:creationId xmlns:a16="http://schemas.microsoft.com/office/drawing/2014/main" id="{8AFAD58A-4779-D711-EF93-CF70613B8328}"/>
              </a:ext>
            </a:extLst>
          </p:cNvPr>
          <p:cNvSpPr/>
          <p:nvPr/>
        </p:nvSpPr>
        <p:spPr>
          <a:xfrm>
            <a:off x="915591" y="1904918"/>
            <a:ext cx="188604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{{stat_total_jobs}}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43" name="Shape 10">
            <a:extLst>
              <a:ext uri="{FF2B5EF4-FFF2-40B4-BE49-F238E27FC236}">
                <a16:creationId xmlns:a16="http://schemas.microsoft.com/office/drawing/2014/main" id="{9192B9F2-E9FB-1E01-247F-21B731030822}"/>
              </a:ext>
            </a:extLst>
          </p:cNvPr>
          <p:cNvSpPr/>
          <p:nvPr/>
        </p:nvSpPr>
        <p:spPr>
          <a:xfrm>
            <a:off x="3751854" y="1847850"/>
            <a:ext cx="2767998" cy="723900"/>
          </a:xfrm>
          <a:prstGeom prst="roundRect">
            <a:avLst/>
          </a:prstGeom>
          <a:solidFill>
            <a:srgbClr val="E5FF6E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44" name="Text 11">
            <a:extLst>
              <a:ext uri="{FF2B5EF4-FFF2-40B4-BE49-F238E27FC236}">
                <a16:creationId xmlns:a16="http://schemas.microsoft.com/office/drawing/2014/main" id="{30CA462F-47A2-539D-4291-F1CD13DCC540}"/>
              </a:ext>
            </a:extLst>
          </p:cNvPr>
          <p:cNvSpPr/>
          <p:nvPr/>
        </p:nvSpPr>
        <p:spPr>
          <a:xfrm>
            <a:off x="3905446" y="1933575"/>
            <a:ext cx="208924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250" b="1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+</a:t>
            </a:r>
            <a:endParaRPr lang="en-US" sz="2250" dirty="0">
              <a:latin typeface="DM Sans 14pt" pitchFamily="2" charset="77"/>
            </a:endParaRPr>
          </a:p>
        </p:txBody>
      </p:sp>
      <p:sp>
        <p:nvSpPr>
          <p:cNvPr id="45" name="Shape 12">
            <a:extLst>
              <a:ext uri="{FF2B5EF4-FFF2-40B4-BE49-F238E27FC236}">
                <a16:creationId xmlns:a16="http://schemas.microsoft.com/office/drawing/2014/main" id="{E8EC669E-B281-D005-F716-5E6DA02F3AF4}"/>
              </a:ext>
            </a:extLst>
          </p:cNvPr>
          <p:cNvSpPr/>
          <p:nvPr/>
        </p:nvSpPr>
        <p:spPr>
          <a:xfrm>
            <a:off x="4080238" y="2016919"/>
            <a:ext cx="2140978" cy="214313"/>
          </a:xfrm>
          <a:prstGeom prst="roundRect">
            <a:avLst>
              <a:gd name="adj" fmla="val 17778"/>
            </a:avLst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2F73C7D4-3186-84A0-40C8-8F61C92D93B1}"/>
              </a:ext>
            </a:extLst>
          </p:cNvPr>
          <p:cNvSpPr/>
          <p:nvPr/>
        </p:nvSpPr>
        <p:spPr>
          <a:xfrm>
            <a:off x="4148502" y="1949450"/>
            <a:ext cx="2072714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>
              <a:lnSpc>
                <a:spcPct val="110000"/>
              </a:lnSpc>
            </a:pPr>
            <a:r>
              <a:rPr lang="en-GB" dirty="0">
                <a:latin typeface="DM Sans 14pt" pitchFamily="2" charset="77"/>
              </a:rPr>
              <a:t>{{</a:t>
            </a:r>
            <a:r>
              <a:rPr lang="en-GB" dirty="0" err="1">
                <a:latin typeface="DM Sans 14pt" pitchFamily="2" charset="77"/>
              </a:rPr>
              <a:t>stat_cost_per_job</a:t>
            </a:r>
            <a:r>
              <a:rPr lang="en-GB" dirty="0">
                <a:latin typeface="DM Sans 14pt" pitchFamily="2" charset="77"/>
              </a:rPr>
              <a:t>}}</a:t>
            </a:r>
            <a:endParaRPr lang="en-US" sz="1125" dirty="0">
              <a:latin typeface="DM Sans 14pt" pitchFamily="2" charset="77"/>
            </a:endParaRPr>
          </a:p>
        </p:txBody>
      </p:sp>
      <p:sp>
        <p:nvSpPr>
          <p:cNvPr id="48" name="Shape 16">
            <a:extLst>
              <a:ext uri="{FF2B5EF4-FFF2-40B4-BE49-F238E27FC236}">
                <a16:creationId xmlns:a16="http://schemas.microsoft.com/office/drawing/2014/main" id="{9F8B3AB7-9523-34C1-645F-B8C4D2A44E0B}"/>
              </a:ext>
            </a:extLst>
          </p:cNvPr>
          <p:cNvSpPr/>
          <p:nvPr/>
        </p:nvSpPr>
        <p:spPr>
          <a:xfrm>
            <a:off x="6741707" y="1847850"/>
            <a:ext cx="276245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49" name="Shape 17">
            <a:extLst>
              <a:ext uri="{FF2B5EF4-FFF2-40B4-BE49-F238E27FC236}">
                <a16:creationId xmlns:a16="http://schemas.microsoft.com/office/drawing/2014/main" id="{2298B627-B84D-2E7B-AE52-3CECED5E4F0E}"/>
              </a:ext>
            </a:extLst>
          </p:cNvPr>
          <p:cNvSpPr/>
          <p:nvPr/>
        </p:nvSpPr>
        <p:spPr>
          <a:xfrm>
            <a:off x="6895301" y="2016919"/>
            <a:ext cx="2002716" cy="214313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50" name="Text 18">
            <a:extLst>
              <a:ext uri="{FF2B5EF4-FFF2-40B4-BE49-F238E27FC236}">
                <a16:creationId xmlns:a16="http://schemas.microsoft.com/office/drawing/2014/main" id="{C3B1C651-D76C-3D27-08A2-7C8E9CBAFBD7}"/>
              </a:ext>
            </a:extLst>
          </p:cNvPr>
          <p:cNvSpPr/>
          <p:nvPr/>
        </p:nvSpPr>
        <p:spPr>
          <a:xfrm>
            <a:off x="6963564" y="1949450"/>
            <a:ext cx="1934452" cy="374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>
              <a:lnSpc>
                <a:spcPct val="110000"/>
              </a:lnSpc>
            </a:pPr>
            <a:r>
              <a:rPr lang="en-GB" dirty="0">
                <a:solidFill>
                  <a:schemeClr val="bg1"/>
                </a:solidFill>
                <a:latin typeface="DM Sans 14pt" pitchFamily="2" charset="77"/>
              </a:rPr>
              <a:t>{{</a:t>
            </a:r>
            <a:r>
              <a:rPr lang="en-GB" dirty="0" err="1">
                <a:solidFill>
                  <a:schemeClr val="bg1"/>
                </a:solidFill>
                <a:latin typeface="DM Sans 14pt" pitchFamily="2" charset="77"/>
              </a:rPr>
              <a:t>stat_cost_per_view</a:t>
            </a:r>
            <a:r>
              <a:rPr lang="en-GB" dirty="0">
                <a:solidFill>
                  <a:schemeClr val="bg1"/>
                </a:solidFill>
                <a:latin typeface="DM Sans 14pt" pitchFamily="2" charset="77"/>
              </a:rPr>
              <a:t>}}</a:t>
            </a:r>
            <a:endParaRPr lang="en-US" sz="1125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52" name="Text 20">
            <a:extLst>
              <a:ext uri="{FF2B5EF4-FFF2-40B4-BE49-F238E27FC236}">
                <a16:creationId xmlns:a16="http://schemas.microsoft.com/office/drawing/2014/main" id="{63CBE318-EEF2-7156-C72F-2878779B5DD4}"/>
              </a:ext>
            </a:extLst>
          </p:cNvPr>
          <p:cNvSpPr/>
          <p:nvPr/>
        </p:nvSpPr>
        <p:spPr>
          <a:xfrm>
            <a:off x="6895301" y="2324100"/>
            <a:ext cx="2863967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COST PER VIEW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53" name="Shape 10">
            <a:extLst>
              <a:ext uri="{FF2B5EF4-FFF2-40B4-BE49-F238E27FC236}">
                <a16:creationId xmlns:a16="http://schemas.microsoft.com/office/drawing/2014/main" id="{57A6C571-1EC7-020A-154F-EC030A036EA9}"/>
              </a:ext>
            </a:extLst>
          </p:cNvPr>
          <p:cNvSpPr/>
          <p:nvPr/>
        </p:nvSpPr>
        <p:spPr>
          <a:xfrm>
            <a:off x="9698935" y="1847850"/>
            <a:ext cx="2767998" cy="723900"/>
          </a:xfrm>
          <a:prstGeom prst="roundRect">
            <a:avLst/>
          </a:prstGeom>
          <a:solidFill>
            <a:srgbClr val="E5FF6E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54" name="Text 11">
            <a:extLst>
              <a:ext uri="{FF2B5EF4-FFF2-40B4-BE49-F238E27FC236}">
                <a16:creationId xmlns:a16="http://schemas.microsoft.com/office/drawing/2014/main" id="{94D51E3C-6092-E7D7-C249-4FF59454B526}"/>
              </a:ext>
            </a:extLst>
          </p:cNvPr>
          <p:cNvSpPr/>
          <p:nvPr/>
        </p:nvSpPr>
        <p:spPr>
          <a:xfrm>
            <a:off x="9852530" y="1933575"/>
            <a:ext cx="208924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250" b="1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+</a:t>
            </a:r>
            <a:endParaRPr lang="en-US" sz="2250" dirty="0">
              <a:latin typeface="DM Sans 14pt" pitchFamily="2" charset="77"/>
            </a:endParaRPr>
          </a:p>
        </p:txBody>
      </p:sp>
      <p:sp>
        <p:nvSpPr>
          <p:cNvPr id="55" name="Shape 12">
            <a:extLst>
              <a:ext uri="{FF2B5EF4-FFF2-40B4-BE49-F238E27FC236}">
                <a16:creationId xmlns:a16="http://schemas.microsoft.com/office/drawing/2014/main" id="{BBAEC2AE-31B6-408B-3044-63A60B8B67FC}"/>
              </a:ext>
            </a:extLst>
          </p:cNvPr>
          <p:cNvSpPr/>
          <p:nvPr/>
        </p:nvSpPr>
        <p:spPr>
          <a:xfrm>
            <a:off x="10027322" y="2016919"/>
            <a:ext cx="2140978" cy="214313"/>
          </a:xfrm>
          <a:prstGeom prst="roundRect">
            <a:avLst>
              <a:gd name="adj" fmla="val 17778"/>
            </a:avLst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56" name="Text 13">
            <a:extLst>
              <a:ext uri="{FF2B5EF4-FFF2-40B4-BE49-F238E27FC236}">
                <a16:creationId xmlns:a16="http://schemas.microsoft.com/office/drawing/2014/main" id="{178D26F2-32CF-63D1-0AE3-7BAA3734AB74}"/>
              </a:ext>
            </a:extLst>
          </p:cNvPr>
          <p:cNvSpPr/>
          <p:nvPr/>
        </p:nvSpPr>
        <p:spPr>
          <a:xfrm>
            <a:off x="10095586" y="1949450"/>
            <a:ext cx="2072714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>
              <a:lnSpc>
                <a:spcPct val="110000"/>
              </a:lnSpc>
            </a:pPr>
            <a:r>
              <a:rPr lang="en-GB" dirty="0">
                <a:latin typeface="DM Sans 14pt" pitchFamily="2" charset="77"/>
              </a:rPr>
              <a:t>{{</a:t>
            </a:r>
            <a:r>
              <a:rPr lang="en-GB" dirty="0" err="1">
                <a:latin typeface="DM Sans 14pt" pitchFamily="2" charset="77"/>
              </a:rPr>
              <a:t>stat_cost_per_apply</a:t>
            </a:r>
            <a:r>
              <a:rPr lang="en-GB" dirty="0">
                <a:latin typeface="DM Sans 14pt" pitchFamily="2" charset="77"/>
              </a:rPr>
              <a:t>}}</a:t>
            </a:r>
            <a:endParaRPr lang="en-US" sz="1125" dirty="0">
              <a:latin typeface="DM Sans 14pt" pitchFamily="2" charset="77"/>
            </a:endParaRPr>
          </a:p>
        </p:txBody>
      </p:sp>
      <p:sp>
        <p:nvSpPr>
          <p:cNvPr id="58" name="Text 15">
            <a:extLst>
              <a:ext uri="{FF2B5EF4-FFF2-40B4-BE49-F238E27FC236}">
                <a16:creationId xmlns:a16="http://schemas.microsoft.com/office/drawing/2014/main" id="{9775CBD7-A12C-E553-E3CF-DE9BADCFFB83}"/>
              </a:ext>
            </a:extLst>
          </p:cNvPr>
          <p:cNvSpPr/>
          <p:nvPr/>
        </p:nvSpPr>
        <p:spPr>
          <a:xfrm>
            <a:off x="3851225" y="2393157"/>
            <a:ext cx="2890482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240F45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COST PER JOB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51C4B41E-6F28-3706-46B1-33C7347B9EE7}"/>
              </a:ext>
            </a:extLst>
          </p:cNvPr>
          <p:cNvSpPr/>
          <p:nvPr/>
        </p:nvSpPr>
        <p:spPr>
          <a:xfrm>
            <a:off x="888847" y="2252662"/>
            <a:ext cx="207531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ADVERTISED THIS PERIOD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03FF3443-5D4F-C6E1-7E90-F0F17F8319F8}"/>
              </a:ext>
            </a:extLst>
          </p:cNvPr>
          <p:cNvSpPr/>
          <p:nvPr/>
        </p:nvSpPr>
        <p:spPr>
          <a:xfrm>
            <a:off x="9754649" y="2406650"/>
            <a:ext cx="2890482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240F45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COST PER APPLY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7" name="Shape 26">
            <a:extLst>
              <a:ext uri="{FF2B5EF4-FFF2-40B4-BE49-F238E27FC236}">
                <a16:creationId xmlns:a16="http://schemas.microsoft.com/office/drawing/2014/main" id="{02ECFA5D-F050-4107-9A4C-51CC49989A6F}"/>
              </a:ext>
            </a:extLst>
          </p:cNvPr>
          <p:cNvSpPr/>
          <p:nvPr/>
        </p:nvSpPr>
        <p:spPr>
          <a:xfrm>
            <a:off x="3789002" y="3243264"/>
            <a:ext cx="8581674" cy="5995986"/>
          </a:xfrm>
          <a:prstGeom prst="roundRect">
            <a:avLst>
              <a:gd name="adj" fmla="val 2275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8" name="Text 27">
            <a:extLst>
              <a:ext uri="{FF2B5EF4-FFF2-40B4-BE49-F238E27FC236}">
                <a16:creationId xmlns:a16="http://schemas.microsoft.com/office/drawing/2014/main" id="{E3916DC2-DB39-47D8-75A9-BD1F5FA1D75B}"/>
              </a:ext>
            </a:extLst>
          </p:cNvPr>
          <p:cNvSpPr/>
          <p:nvPr/>
        </p:nvSpPr>
        <p:spPr>
          <a:xfrm>
            <a:off x="3905446" y="3382171"/>
            <a:ext cx="8349616" cy="5740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sz="1650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chart:cost_per_app_by_occupation</a:t>
            </a:r>
            <a:r>
              <a:rPr lang="en-US" sz="1650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9" name="Text 28">
            <a:extLst>
              <a:ext uri="{FF2B5EF4-FFF2-40B4-BE49-F238E27FC236}">
                <a16:creationId xmlns:a16="http://schemas.microsoft.com/office/drawing/2014/main" id="{00E9CB72-1B10-A610-AE07-711C77F3054B}"/>
              </a:ext>
            </a:extLst>
          </p:cNvPr>
          <p:cNvSpPr/>
          <p:nvPr/>
        </p:nvSpPr>
        <p:spPr>
          <a:xfrm>
            <a:off x="6590859" y="6161088"/>
            <a:ext cx="2588521" cy="525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Cost per view · Cost per apply · by job type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10" name="Text 27">
            <a:extLst>
              <a:ext uri="{FF2B5EF4-FFF2-40B4-BE49-F238E27FC236}">
                <a16:creationId xmlns:a16="http://schemas.microsoft.com/office/drawing/2014/main" id="{C5697E3F-850F-2F5E-151D-312EC56A7E9F}"/>
              </a:ext>
            </a:extLst>
          </p:cNvPr>
          <p:cNvSpPr/>
          <p:nvPr/>
        </p:nvSpPr>
        <p:spPr>
          <a:xfrm>
            <a:off x="12995755" y="4782151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12" name="Shape 28">
            <a:extLst>
              <a:ext uri="{FF2B5EF4-FFF2-40B4-BE49-F238E27FC236}">
                <a16:creationId xmlns:a16="http://schemas.microsoft.com/office/drawing/2014/main" id="{83F6394D-8B8D-2F71-BE18-2B217EA0B79E}"/>
              </a:ext>
            </a:extLst>
          </p:cNvPr>
          <p:cNvSpPr/>
          <p:nvPr/>
        </p:nvSpPr>
        <p:spPr>
          <a:xfrm>
            <a:off x="12995755" y="5271016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commentary_roi_intro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5" name="Shape 30">
            <a:extLst>
              <a:ext uri="{FF2B5EF4-FFF2-40B4-BE49-F238E27FC236}">
                <a16:creationId xmlns:a16="http://schemas.microsoft.com/office/drawing/2014/main" id="{E4C5A338-6F10-3BF6-0BBD-F2AF144F8E1C}"/>
              </a:ext>
            </a:extLst>
          </p:cNvPr>
          <p:cNvSpPr/>
          <p:nvPr/>
        </p:nvSpPr>
        <p:spPr>
          <a:xfrm>
            <a:off x="12995755" y="6662171"/>
            <a:ext cx="4707474" cy="11748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{{commentary_roi_point_1}}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8" name="Shape 32">
            <a:extLst>
              <a:ext uri="{FF2B5EF4-FFF2-40B4-BE49-F238E27FC236}">
                <a16:creationId xmlns:a16="http://schemas.microsoft.com/office/drawing/2014/main" id="{BB3BE6E6-00CA-127E-5168-8756B094DDF2}"/>
              </a:ext>
            </a:extLst>
          </p:cNvPr>
          <p:cNvSpPr/>
          <p:nvPr/>
        </p:nvSpPr>
        <p:spPr>
          <a:xfrm>
            <a:off x="12995755" y="8053326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{{commentary_roi_point_2}}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21" name="Shape 28">
            <a:extLst>
              <a:ext uri="{FF2B5EF4-FFF2-40B4-BE49-F238E27FC236}">
                <a16:creationId xmlns:a16="http://schemas.microsoft.com/office/drawing/2014/main" id="{6D0424A9-E958-5944-C203-BF2D77DEB55E}"/>
              </a:ext>
            </a:extLst>
          </p:cNvPr>
          <p:cNvSpPr/>
          <p:nvPr/>
        </p:nvSpPr>
        <p:spPr>
          <a:xfrm>
            <a:off x="12995755" y="189071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chart_explainer_spend_vs_ratecard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</a:p>
        </p:txBody>
      </p:sp>
      <p:sp>
        <p:nvSpPr>
          <p:cNvPr id="65" name="Shape 28">
            <a:extLst>
              <a:ext uri="{FF2B5EF4-FFF2-40B4-BE49-F238E27FC236}">
                <a16:creationId xmlns:a16="http://schemas.microsoft.com/office/drawing/2014/main" id="{F71A69BB-30EF-C953-A8C6-CC84B32402CE}"/>
              </a:ext>
            </a:extLst>
          </p:cNvPr>
          <p:cNvSpPr/>
          <p:nvPr/>
        </p:nvSpPr>
        <p:spPr>
          <a:xfrm>
            <a:off x="12957602" y="333643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chart_explainer_cost_per_app_by_occupation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51A8DE3-F679-88CA-1912-74D209B5D55F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70" name="Text 3">
              <a:extLst>
                <a:ext uri="{FF2B5EF4-FFF2-40B4-BE49-F238E27FC236}">
                  <a16:creationId xmlns:a16="http://schemas.microsoft.com/office/drawing/2014/main" id="{A5DE5FD6-3A8E-E663-3EA5-D6DE5AEB793B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r"/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04 · ADVERTISING ROI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71" name="Text 21">
              <a:extLst>
                <a:ext uri="{FF2B5EF4-FFF2-40B4-BE49-F238E27FC236}">
                  <a16:creationId xmlns:a16="http://schemas.microsoft.com/office/drawing/2014/main" id="{C1A58630-5592-79B1-CDE4-AE68E9BF3409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>
                <a:lnSpc>
                  <a:spcPct val="140000"/>
                </a:lnSpc>
              </a:pPr>
              <a:r>
                <a:rPr lang="en-US" sz="120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The value your subscription delivered, compared with the equivalent rate card cost of posting each role individually.</a:t>
              </a:r>
              <a:endParaRPr lang="en-US" sz="1200" dirty="0">
                <a:latin typeface="DM Sans 14pt" pitchFamily="2" charset="77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9460629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Which channels worked hardest.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2000" y="1809750"/>
            <a:ext cx="11756529" cy="7524750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066800" y="2057401"/>
            <a:ext cx="1981051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75" kern="0" spc="244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CHART PLACEHOLDER</a:t>
            </a:r>
            <a:endParaRPr lang="en-US" sz="975" dirty="0">
              <a:latin typeface="DM Sans 14pt" pitchFamily="2" charset="7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9805839" y="2014538"/>
            <a:ext cx="2522190" cy="228600"/>
          </a:xfrm>
          <a:prstGeom prst="roundRect">
            <a:avLst>
              <a:gd name="adj" fmla="val 16667"/>
            </a:avLst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920139" y="2071688"/>
            <a:ext cx="2369790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825" kern="0" spc="124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GROUPED BAR · BY MEDIA SOURCE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72359" y="2333626"/>
            <a:ext cx="11571889" cy="6905623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977462" y="2486027"/>
            <a:ext cx="11350567" cy="662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{{chart:media_performance}}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607295" y="6367463"/>
            <a:ext cx="406578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Views and apply clicks per vacancy, per source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06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7" name="Text 27">
            <a:extLst>
              <a:ext uri="{FF2B5EF4-FFF2-40B4-BE49-F238E27FC236}">
                <a16:creationId xmlns:a16="http://schemas.microsoft.com/office/drawing/2014/main" id="{23CA7696-0FAD-7A69-113D-3015E31E27A8}"/>
              </a:ext>
            </a:extLst>
          </p:cNvPr>
          <p:cNvSpPr/>
          <p:nvPr/>
        </p:nvSpPr>
        <p:spPr>
          <a:xfrm>
            <a:off x="12995755" y="3391422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9" name="Shape 28">
            <a:extLst>
              <a:ext uri="{FF2B5EF4-FFF2-40B4-BE49-F238E27FC236}">
                <a16:creationId xmlns:a16="http://schemas.microsoft.com/office/drawing/2014/main" id="{920950EF-86C0-4C53-171E-03E2D25359FB}"/>
              </a:ext>
            </a:extLst>
          </p:cNvPr>
          <p:cNvSpPr/>
          <p:nvPr/>
        </p:nvSpPr>
        <p:spPr>
          <a:xfrm>
            <a:off x="12995755" y="3880287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commentary_media_intro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2" name="Shape 30">
            <a:extLst>
              <a:ext uri="{FF2B5EF4-FFF2-40B4-BE49-F238E27FC236}">
                <a16:creationId xmlns:a16="http://schemas.microsoft.com/office/drawing/2014/main" id="{3E1BE4B2-6481-8DB3-3CA9-75F35C91DA9C}"/>
              </a:ext>
            </a:extLst>
          </p:cNvPr>
          <p:cNvSpPr/>
          <p:nvPr/>
        </p:nvSpPr>
        <p:spPr>
          <a:xfrm>
            <a:off x="12995755" y="5271442"/>
            <a:ext cx="4707474" cy="11748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{{commentary_media_point_1}}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5" name="Shape 32">
            <a:extLst>
              <a:ext uri="{FF2B5EF4-FFF2-40B4-BE49-F238E27FC236}">
                <a16:creationId xmlns:a16="http://schemas.microsoft.com/office/drawing/2014/main" id="{D980B683-AC2E-6F6D-47F3-939BDCACDA6F}"/>
              </a:ext>
            </a:extLst>
          </p:cNvPr>
          <p:cNvSpPr/>
          <p:nvPr/>
        </p:nvSpPr>
        <p:spPr>
          <a:xfrm>
            <a:off x="12995755" y="6662597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{{commentary_media_point_2}}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8" name="Shape 28">
            <a:extLst>
              <a:ext uri="{FF2B5EF4-FFF2-40B4-BE49-F238E27FC236}">
                <a16:creationId xmlns:a16="http://schemas.microsoft.com/office/drawing/2014/main" id="{3461690E-5EBE-6686-6107-63D8CFF5053E}"/>
              </a:ext>
            </a:extLst>
          </p:cNvPr>
          <p:cNvSpPr/>
          <p:nvPr/>
        </p:nvSpPr>
        <p:spPr>
          <a:xfrm>
            <a:off x="12995755" y="189071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chart_explainer_media_performance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</a:p>
        </p:txBody>
      </p:sp>
      <p:sp>
        <p:nvSpPr>
          <p:cNvPr id="40" name="Shape 32">
            <a:extLst>
              <a:ext uri="{FF2B5EF4-FFF2-40B4-BE49-F238E27FC236}">
                <a16:creationId xmlns:a16="http://schemas.microsoft.com/office/drawing/2014/main" id="{7A86A295-B34A-9FDE-CDD2-2CB9E93E6884}"/>
              </a:ext>
            </a:extLst>
          </p:cNvPr>
          <p:cNvSpPr/>
          <p:nvPr/>
        </p:nvSpPr>
        <p:spPr>
          <a:xfrm>
            <a:off x="12995755" y="8053326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{{commentary_media_point_3}}</a:t>
            </a:r>
            <a:endParaRPr lang="en-US" sz="1400" dirty="0">
              <a:latin typeface="DM Sans 14pt" pitchFamily="2" charset="77"/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5BA74F1-CA6A-02D4-93D5-CC997FFAB1CF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46" name="Text 3">
              <a:extLst>
                <a:ext uri="{FF2B5EF4-FFF2-40B4-BE49-F238E27FC236}">
                  <a16:creationId xmlns:a16="http://schemas.microsoft.com/office/drawing/2014/main" id="{176F46CA-EFBD-4EF3-CA69-1930614DD215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r"/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05 · MEDIA PERFORMANCE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47" name="Text 21">
              <a:extLst>
                <a:ext uri="{FF2B5EF4-FFF2-40B4-BE49-F238E27FC236}">
                  <a16:creationId xmlns:a16="http://schemas.microsoft.com/office/drawing/2014/main" id="{AEE36239-70B5-2540-42A3-5FD6BF17DE83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20000"/>
            </a:bodyPr>
            <a:lstStyle/>
            <a:p>
              <a:pPr>
                <a:lnSpc>
                  <a:spcPct val="140000"/>
                </a:lnSpc>
              </a:pP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Average views and apply clicks per vacancy, split by media source — your </a:t>
              </a:r>
              <a:r>
                <a:rPr lang="en-US" sz="1350" dirty="0" err="1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Jobsgopublic</a:t>
              </a: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 subscription, targeted emails, PPC, and any enhancements.</a:t>
              </a:r>
              <a:endParaRPr lang="en-US" sz="1350" dirty="0">
                <a:latin typeface="DM Sans 14pt" pitchFamily="2" charset="77"/>
              </a:endParaRP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70A2B72-8B13-8876-5B88-FDA778E4DC84}"/>
              </a:ext>
            </a:extLst>
          </p:cNvPr>
          <p:cNvSpPr txBox="1"/>
          <p:nvPr/>
        </p:nvSpPr>
        <p:spPr>
          <a:xfrm>
            <a:off x="4607295" y="-2348786"/>
            <a:ext cx="914400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50" b="0" i="0" dirty="0">
                <a:solidFill>
                  <a:srgbClr val="643791"/>
                </a:solidFill>
                <a:effectLst/>
                <a:latin typeface="DM Sans 14pt" pitchFamily="2" charset="77"/>
              </a:rPr>
              <a:t>{{</a:t>
            </a:r>
            <a:r>
              <a:rPr lang="en-GB" sz="1650" b="0" i="0" dirty="0" err="1">
                <a:solidFill>
                  <a:srgbClr val="643791"/>
                </a:solidFill>
                <a:effectLst/>
                <a:latin typeface="DM Sans 14pt" pitchFamily="2" charset="77"/>
              </a:rPr>
              <a:t>chart_explainer_media_performance</a:t>
            </a:r>
            <a:r>
              <a:rPr lang="en-GB" sz="1650" b="0" i="0" dirty="0">
                <a:solidFill>
                  <a:srgbClr val="643791"/>
                </a:solidFill>
                <a:effectLst/>
                <a:latin typeface="DM Sans 14pt" pitchFamily="2" charset="77"/>
              </a:rPr>
              <a:t>}}</a:t>
            </a:r>
            <a:endParaRPr lang="en-GB" sz="1650" dirty="0">
              <a:solidFill>
                <a:srgbClr val="643791"/>
              </a:solidFill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4379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1143000"/>
            <a:ext cx="1648206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kern="0" spc="360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GET IN TOUCH</a:t>
            </a:r>
            <a:endParaRPr lang="en-US" sz="120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43000" y="1695450"/>
            <a:ext cx="13735050" cy="3124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3500" b="1" kern="0" spc="-540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Let's talk </a:t>
            </a:r>
            <a:r>
              <a:rPr lang="en-US" sz="13500" b="1" kern="0" spc="-540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what's next.</a:t>
            </a:r>
            <a:endParaRPr lang="en-US" sz="13500" dirty="0">
              <a:latin typeface="DM Sans 14pt" pitchFamily="2" charset="7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143000" y="7117110"/>
            <a:ext cx="14401800" cy="2026890"/>
          </a:xfrm>
          <a:prstGeom prst="roundRect">
            <a:avLst>
              <a:gd name="adj" fmla="val 939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1676400" y="7574310"/>
            <a:ext cx="663206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75" kern="0" spc="293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YOUR ACCOUNT TEAM</a:t>
            </a:r>
            <a:endParaRPr lang="en-US" sz="975" dirty="0">
              <a:latin typeface="DM Sans 14pt" pitchFamily="2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676400" y="7831485"/>
            <a:ext cx="6125497" cy="540990"/>
          </a:xfrm>
          <a:prstGeom prst="roundRect">
            <a:avLst>
              <a:gd name="adj" fmla="val 7043"/>
            </a:avLst>
          </a:prstGeom>
          <a:solidFill>
            <a:srgbClr val="643791">
              <a:alpha val="8000"/>
            </a:srgbClr>
          </a:solidFill>
          <a:ln/>
        </p:spPr>
        <p:txBody>
          <a:bodyPr anchor="ctr"/>
          <a:lstStyle/>
          <a:p>
            <a:r>
              <a:rPr lang="en-US" kern="0" spc="-72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kern="0" spc="-72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contact_name</a:t>
            </a:r>
            <a:r>
              <a:rPr lang="en-US" kern="0" spc="-72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676399" y="8429624"/>
            <a:ext cx="4399936" cy="419407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contact_title</a:t>
            </a:r>
            <a:r>
              <a:rPr lang="en-US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572500" y="7641878"/>
            <a:ext cx="64770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00" kern="0" spc="225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EMAIL</a:t>
            </a:r>
            <a:endParaRPr lang="en-US" sz="900" dirty="0">
              <a:latin typeface="DM Sans 14pt" pitchFamily="2" charset="7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9277350" y="7574309"/>
            <a:ext cx="4276418" cy="313879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contact_email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  <a:p>
            <a:endParaRPr lang="en-GB" sz="1400" dirty="0">
              <a:latin typeface="DM Sans 14pt" pitchFamily="2" charset="7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353550" y="7593360"/>
            <a:ext cx="2213670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1650" dirty="0">
              <a:latin typeface="DM Sans 14pt" pitchFamily="2" charset="7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572500" y="8043714"/>
            <a:ext cx="64770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00" kern="0" spc="225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PHONE</a:t>
            </a:r>
            <a:endParaRPr lang="en-US" sz="900" dirty="0">
              <a:latin typeface="DM Sans 14pt" pitchFamily="2" charset="7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277349" y="7976146"/>
            <a:ext cx="4276417" cy="313878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contact_phone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572500" y="8435132"/>
            <a:ext cx="64770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00" kern="0" spc="225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WEB</a:t>
            </a:r>
            <a:endParaRPr lang="en-US" sz="900" dirty="0">
              <a:latin typeface="DM Sans 14pt" pitchFamily="2" charset="7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277350" y="8377982"/>
            <a:ext cx="4276416" cy="3138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jobsgopublic.com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09600" y="9734550"/>
            <a:ext cx="28819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kern="0" spc="360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 PLACES. GO PUBLIC.</a:t>
            </a:r>
            <a:endParaRPr lang="en-US" sz="1200" dirty="0">
              <a:latin typeface="DM Sans 14pt" pitchFamily="2" charset="7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7233255" y="9744075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FFFFFF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07 / 07</a:t>
            </a:r>
            <a:endParaRPr lang="en-US" sz="1050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838</Words>
  <Application>Microsoft Macintosh PowerPoint</Application>
  <PresentationFormat>Custom</PresentationFormat>
  <Paragraphs>139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DM Sans 14pt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Thomas Jordan</cp:lastModifiedBy>
  <cp:revision>15</cp:revision>
  <dcterms:created xsi:type="dcterms:W3CDTF">2026-04-25T02:21:32Z</dcterms:created>
  <dcterms:modified xsi:type="dcterms:W3CDTF">2026-04-30T22:41:07Z</dcterms:modified>
</cp:coreProperties>
</file>