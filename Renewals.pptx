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0F2"/>
    <a:srgbClr val="E6FF6E"/>
    <a:srgbClr val="D4EB66"/>
    <a:srgbClr val="F1F3E2"/>
    <a:srgbClr val="643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36"/>
    <p:restoredTop sz="94610"/>
  </p:normalViewPr>
  <p:slideViewPr>
    <p:cSldViewPr snapToGrid="0" snapToObjects="1">
      <p:cViewPr>
        <p:scale>
          <a:sx n="52" d="100"/>
          <a:sy n="52" d="100"/>
        </p:scale>
        <p:origin x="2816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4130129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72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client_name</a:t>
            </a:r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875222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06093" y="885252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233255" y="974794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How your roles performed vs. benchmark.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90712"/>
            <a:ext cx="8910097" cy="7443788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7249" y="2319904"/>
            <a:ext cx="8704459" cy="6919345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chart:benchmark_scatter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commentary_benchmark_intro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02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Shape 28">
            <a:extLst>
              <a:ext uri="{FF2B5EF4-FFF2-40B4-BE49-F238E27FC236}">
                <a16:creationId xmlns:a16="http://schemas.microsoft.com/office/drawing/2014/main" id="{6BF6FE9E-6B60-55B6-FFB2-3A3997294303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chart_explainer_benchmark_scatter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49E04A68-847E-82E3-4038-6247474AA428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4277861-6ED0-04AA-BFD6-B3A1BD64266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6F7C33C0-2054-2D5C-F29F-CD13941B3BB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r">
                <a:buNone/>
              </a:pPr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01 · BENCHMARKING JOBS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58" name="Text 21">
              <a:extLst>
                <a:ext uri="{FF2B5EF4-FFF2-40B4-BE49-F238E27FC236}">
                  <a16:creationId xmlns:a16="http://schemas.microsoft.com/office/drawing/2014/main" id="{F285D6AD-CCAA-2178-0719-E68B4ED056A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Each dot is one of your vacancies, positioned by views and apply clicks relative to our market benchmark. The top-right quadrant is exceeding benchmark on both.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8" name="Shape 6"/>
          <p:cNvSpPr/>
          <p:nvPr/>
        </p:nvSpPr>
        <p:spPr>
          <a:xfrm>
            <a:off x="9986861" y="1890711"/>
            <a:ext cx="2710403" cy="2354060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ROLES BENCHMARKED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151651" y="2089846"/>
            <a:ext cx="2380822" cy="1765657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96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9600" b="1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96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9600" b="1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86860" y="3862243"/>
            <a:ext cx="2710403" cy="375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ctr">
              <a:buNone/>
            </a:pPr>
            <a:endParaRPr lang="en-US" sz="825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986861" y="6980442"/>
            <a:ext cx="2710403" cy="2354056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158922" y="7179577"/>
            <a:ext cx="2379600" cy="1768026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0" rIns="0" anchor="ctr">
            <a:normAutofit fontScale="92500" lnSpcReduction="20000"/>
          </a:bodyPr>
          <a:lstStyle/>
          <a:p>
            <a:pPr algn="ctr"/>
            <a:r>
              <a:rPr lang="en-US" sz="4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4000" b="1" kern="0" spc="-67" dirty="0" err="1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stat_top_category</a:t>
            </a:r>
            <a:r>
              <a:rPr lang="en-US" sz="4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12" name="Shape 10"/>
          <p:cNvSpPr/>
          <p:nvPr/>
        </p:nvSpPr>
        <p:spPr>
          <a:xfrm>
            <a:off x="9986861" y="4437127"/>
            <a:ext cx="2710403" cy="2354057"/>
          </a:xfrm>
          <a:prstGeom prst="roundRect">
            <a:avLst/>
          </a:prstGeom>
          <a:solidFill>
            <a:srgbClr val="E5FF6E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IN THE TOP-RIGHT QUADRANT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5" name="Shape 10">
            <a:extLst>
              <a:ext uri="{FF2B5EF4-FFF2-40B4-BE49-F238E27FC236}">
                <a16:creationId xmlns:a16="http://schemas.microsoft.com/office/drawing/2014/main" id="{621C128D-F2A7-22A1-C0E3-B6F2F281ACB4}"/>
              </a:ext>
            </a:extLst>
          </p:cNvPr>
          <p:cNvSpPr/>
          <p:nvPr/>
        </p:nvSpPr>
        <p:spPr>
          <a:xfrm>
            <a:off x="10144126" y="4626384"/>
            <a:ext cx="2379600" cy="1768026"/>
          </a:xfrm>
          <a:prstGeom prst="roundRect">
            <a:avLst/>
          </a:prstGeom>
          <a:solidFill>
            <a:srgbClr val="F1F3E2"/>
          </a:solidFill>
          <a:ln/>
        </p:spPr>
        <p:txBody>
          <a:bodyPr anchor="ctr"/>
          <a:lstStyle/>
          <a:p>
            <a:pPr algn="ctr"/>
            <a:r>
              <a:rPr lang="en-US" sz="960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9600" b="1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stat_top_quadrant_pct</a:t>
            </a:r>
            <a:r>
              <a:rPr lang="en-US" sz="960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9600" b="1" dirty="0">
              <a:latin typeface="DM Sans 14pt" pitchFamily="2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A9494F-52A5-D760-AE5B-C1AAE512CD77}"/>
              </a:ext>
            </a:extLst>
          </p:cNvPr>
          <p:cNvSpPr/>
          <p:nvPr/>
        </p:nvSpPr>
        <p:spPr>
          <a:xfrm>
            <a:off x="888847" y="1964831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average vs. the market.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756529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8847" y="3233450"/>
            <a:ext cx="11500657" cy="600580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9525">
            <a:noFill/>
            <a:prstDash val="solid"/>
          </a:ln>
        </p:spPr>
        <p:txBody>
          <a:bodyPr lIns="0" tIns="0" rIns="0" bIns="0"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chart:benchmark_average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03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1159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  <a:p>
            <a:endParaRPr lang="en-GB" sz="360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6A0DF149-128C-9B78-2631-397C50980B39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AD11CE6B-1F35-10CA-93D1-DC7E7FEBDD35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commentary_average_intro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6" name="Shape 30">
            <a:extLst>
              <a:ext uri="{FF2B5EF4-FFF2-40B4-BE49-F238E27FC236}">
                <a16:creationId xmlns:a16="http://schemas.microsoft.com/office/drawing/2014/main" id="{BC486ACB-7DD7-21F6-B0FC-03635C87339A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FDEF387C-5013-25D7-982E-02BE79CD5688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52" name="Shape 28">
            <a:extLst>
              <a:ext uri="{FF2B5EF4-FFF2-40B4-BE49-F238E27FC236}">
                <a16:creationId xmlns:a16="http://schemas.microsoft.com/office/drawing/2014/main" id="{6E1337BE-457A-B636-2A43-3B1372F7401D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chart_explainer_benchmark_average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4781B945-2946-0799-CAA7-A6CBCB58821A}"/>
              </a:ext>
            </a:extLst>
          </p:cNvPr>
          <p:cNvSpPr/>
          <p:nvPr/>
        </p:nvSpPr>
        <p:spPr>
          <a:xfrm>
            <a:off x="6546937" y="-2453221"/>
            <a:ext cx="4661496" cy="1182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650" dirty="0">
                <a:solidFill>
                  <a:srgbClr val="643791"/>
                </a:solidFill>
                <a:latin typeface="DM Sans 14pt" pitchFamily="2" charset="77"/>
              </a:rPr>
              <a:t>{{chart_explainer_benchmark_scatter}}</a:t>
            </a:r>
            <a:endParaRPr lang="en-US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4A8F459-F5C0-90D7-162E-BEA9A56AB013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67" name="Text 3">
              <a:extLst>
                <a:ext uri="{FF2B5EF4-FFF2-40B4-BE49-F238E27FC236}">
                  <a16:creationId xmlns:a16="http://schemas.microsoft.com/office/drawing/2014/main" id="{06DB073C-0DC3-299A-5EB3-6CFA66DF2747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02 · AVERAGE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AA8D2D39-DF50-ADAB-4AB5-294CA052C01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Rolling up all your vacancies into a single average, compared with the benchmark for comparable public sector roles.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71" name="Text 26">
            <a:extLst>
              <a:ext uri="{FF2B5EF4-FFF2-40B4-BE49-F238E27FC236}">
                <a16:creationId xmlns:a16="http://schemas.microsoft.com/office/drawing/2014/main" id="{85F60CBB-25A0-A776-C08E-574558953B87}"/>
              </a:ext>
            </a:extLst>
          </p:cNvPr>
          <p:cNvSpPr/>
          <p:nvPr/>
        </p:nvSpPr>
        <p:spPr>
          <a:xfrm>
            <a:off x="857249" y="2934182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endParaRPr lang="en-US" sz="1100" dirty="0">
              <a:latin typeface="DM Sans 14pt" pitchFamily="2" charset="77"/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C44538B-8BCE-A405-F239-6C4E08DB3913}"/>
              </a:ext>
            </a:extLst>
          </p:cNvPr>
          <p:cNvSpPr/>
          <p:nvPr/>
        </p:nvSpPr>
        <p:spPr>
          <a:xfrm>
            <a:off x="3778940" y="1847850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0EBED078-0815-5F85-26FB-DB9ABFCCCCB7}"/>
              </a:ext>
            </a:extLst>
          </p:cNvPr>
          <p:cNvSpPr/>
          <p:nvPr/>
        </p:nvSpPr>
        <p:spPr>
          <a:xfrm>
            <a:off x="382853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D1EB76D1-D1DC-624B-0A48-A56A3A39CD50}"/>
              </a:ext>
            </a:extLst>
          </p:cNvPr>
          <p:cNvSpPr/>
          <p:nvPr/>
        </p:nvSpPr>
        <p:spPr>
          <a:xfrm>
            <a:off x="6736167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1F3CEC1A-B76C-2510-ACD2-F9BB079DEBEA}"/>
              </a:ext>
            </a:extLst>
          </p:cNvPr>
          <p:cNvSpPr/>
          <p:nvPr/>
        </p:nvSpPr>
        <p:spPr>
          <a:xfrm>
            <a:off x="6785759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  <a:p>
            <a:endParaRPr lang="en-GB" sz="3600" dirty="0">
              <a:latin typeface="DM Sans 14pt" pitchFamily="2" charset="77"/>
            </a:endParaRP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57A19399-4232-DBD4-372D-5800DB9229C0}"/>
              </a:ext>
            </a:extLst>
          </p:cNvPr>
          <p:cNvSpPr/>
          <p:nvPr/>
        </p:nvSpPr>
        <p:spPr>
          <a:xfrm>
            <a:off x="9750532" y="1849951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cs typeface="Arial" pitchFamily="34" charset="-120"/>
              </a:rPr>
              <a:t>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CB93A45-F9B5-B969-F066-7828CDAC37F3}"/>
              </a:ext>
            </a:extLst>
          </p:cNvPr>
          <p:cNvSpPr/>
          <p:nvPr/>
        </p:nvSpPr>
        <p:spPr>
          <a:xfrm>
            <a:off x="9800124" y="1908739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sz="36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97EA86C-CA48-161C-4318-F999C296E479}"/>
              </a:ext>
            </a:extLst>
          </p:cNvPr>
          <p:cNvSpPr/>
          <p:nvPr/>
        </p:nvSpPr>
        <p:spPr>
          <a:xfrm>
            <a:off x="888847" y="2876723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Where your applies came from.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169545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1338" y="2111777"/>
            <a:ext cx="11592910" cy="7127473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chart:postings_by_type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04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3FF78C94-A50F-976C-A980-8C3CAB3F0D3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CD38405B-7A80-D9F5-43F9-EF7730151C46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commentary_postings_intro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6B729F7-3A69-5881-97D9-C59766E932D7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62C2C6E1-4CAF-1AA6-2366-B71F536E616E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B062927B-9F35-2BF4-1AC4-64F9583E72B9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chart_explainer_postings_by_type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D313A4E-6410-2708-0A46-7A596DFFE2C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62BE7D87-7869-8168-6968-EDBE76A419E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03 · JOB POSTINGS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649E6B38-9A71-39CC-9327-91FE0E05FC5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Postings broken down by job type. A role can appear in more than one category, so totals may exceed unique jobs posted. Low-volume categories are excluded.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C07A67A-A209-CB62-2E13-644DBB245FFF}"/>
              </a:ext>
            </a:extLst>
          </p:cNvPr>
          <p:cNvSpPr/>
          <p:nvPr/>
        </p:nvSpPr>
        <p:spPr>
          <a:xfrm>
            <a:off x="851338" y="1754496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712545" y="2799557"/>
            <a:ext cx="8754388" cy="6534943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Return on your subscription.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2767997" cy="6534150"/>
          </a:xfrm>
          <a:prstGeom prst="roundRect">
            <a:avLst>
              <a:gd name="adj" fmla="val 5085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5441" y="3215883"/>
            <a:ext cx="2607164" cy="6023366"/>
          </a:xfrm>
          <a:prstGeom prst="roundRect">
            <a:avLst>
              <a:gd name="adj" fmla="val 648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05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3789002" y="3243264"/>
            <a:ext cx="8581674" cy="5995986"/>
          </a:xfrm>
          <a:prstGeom prst="roundRect">
            <a:avLst>
              <a:gd name="adj" fmla="val 2275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pPr algn="ctr"/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5697E3F-850F-2F5E-151D-312EC56A7E9F}"/>
              </a:ext>
            </a:extLst>
          </p:cNvPr>
          <p:cNvSpPr/>
          <p:nvPr/>
        </p:nvSpPr>
        <p:spPr>
          <a:xfrm>
            <a:off x="12995755" y="4782151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2" name="Shape 28">
            <a:extLst>
              <a:ext uri="{FF2B5EF4-FFF2-40B4-BE49-F238E27FC236}">
                <a16:creationId xmlns:a16="http://schemas.microsoft.com/office/drawing/2014/main" id="{83F6394D-8B8D-2F71-BE18-2B217EA0B79E}"/>
              </a:ext>
            </a:extLst>
          </p:cNvPr>
          <p:cNvSpPr/>
          <p:nvPr/>
        </p:nvSpPr>
        <p:spPr>
          <a:xfrm>
            <a:off x="12995755" y="5271016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commentary_roi_intro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E4C5A338-6F10-3BF6-0BBD-F2AF144F8E1C}"/>
              </a:ext>
            </a:extLst>
          </p:cNvPr>
          <p:cNvSpPr/>
          <p:nvPr/>
        </p:nvSpPr>
        <p:spPr>
          <a:xfrm>
            <a:off x="12995755" y="6662171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32">
            <a:extLst>
              <a:ext uri="{FF2B5EF4-FFF2-40B4-BE49-F238E27FC236}">
                <a16:creationId xmlns:a16="http://schemas.microsoft.com/office/drawing/2014/main" id="{BB3BE6E6-00CA-127E-5168-8756B094DDF2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6D0424A9-E958-5944-C203-BF2D77DEB55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chart_explainer_spend_vs_ratecard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F71A69BB-30EF-C953-A8C6-CC84B32402CE}"/>
              </a:ext>
            </a:extLst>
          </p:cNvPr>
          <p:cNvSpPr/>
          <p:nvPr/>
        </p:nvSpPr>
        <p:spPr>
          <a:xfrm>
            <a:off x="12957602" y="333643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chart_explainer_cost_per_app_by_occupation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51A8DE3-F679-88CA-1912-74D209B5D55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0" name="Text 3">
              <a:extLst>
                <a:ext uri="{FF2B5EF4-FFF2-40B4-BE49-F238E27FC236}">
                  <a16:creationId xmlns:a16="http://schemas.microsoft.com/office/drawing/2014/main" id="{A5DE5FD6-3A8E-E663-3EA5-D6DE5AEB793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04 · ADVERTISING ROI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C1A58630-5592-79B1-CDE4-AE68E9BF3409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40000"/>
                </a:lnSpc>
              </a:pPr>
              <a:r>
                <a:rPr lang="en-US" sz="120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The value your subscription delivered, compared with the equivalent rate card cost of posting each role individually.</a:t>
              </a:r>
              <a:endParaRPr lang="en-US" sz="1200" dirty="0">
                <a:latin typeface="DM Sans 14pt" pitchFamily="2" charset="77"/>
              </a:endParaRPr>
            </a:p>
          </p:txBody>
        </p:sp>
      </p:grpSp>
      <p:sp>
        <p:nvSpPr>
          <p:cNvPr id="31" name="Shape 6">
            <a:extLst>
              <a:ext uri="{FF2B5EF4-FFF2-40B4-BE49-F238E27FC236}">
                <a16:creationId xmlns:a16="http://schemas.microsoft.com/office/drawing/2014/main" id="{09A0168B-F380-80A7-39A5-36B8F464A5FE}"/>
              </a:ext>
            </a:extLst>
          </p:cNvPr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ADVERTISED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THIS PERIOD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F6C7FAF3-554C-2106-11D3-A3E13AF10E91}"/>
              </a:ext>
            </a:extLst>
          </p:cNvPr>
          <p:cNvSpPr/>
          <p:nvPr/>
        </p:nvSpPr>
        <p:spPr>
          <a:xfrm>
            <a:off x="81159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6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36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94E35CDC-E6D9-1C8A-2FF0-8C32B865FB4F}"/>
              </a:ext>
            </a:extLst>
          </p:cNvPr>
          <p:cNvSpPr/>
          <p:nvPr/>
        </p:nvSpPr>
        <p:spPr>
          <a:xfrm>
            <a:off x="3778940" y="1847850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JOB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87887C06-69D9-CF7F-C0DE-8E57574B2DF3}"/>
              </a:ext>
            </a:extLst>
          </p:cNvPr>
          <p:cNvSpPr/>
          <p:nvPr/>
        </p:nvSpPr>
        <p:spPr>
          <a:xfrm>
            <a:off x="382853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sz="3600" dirty="0">
                <a:latin typeface="DM Sans 14pt" pitchFamily="2" charset="77"/>
              </a:rPr>
              <a:t>{{</a:t>
            </a:r>
            <a:r>
              <a:rPr lang="en-GB" sz="3600" dirty="0" err="1">
                <a:latin typeface="DM Sans 14pt" pitchFamily="2" charset="77"/>
              </a:rPr>
              <a:t>stat_cost_per_job</a:t>
            </a:r>
            <a:r>
              <a:rPr lang="en-GB" sz="3600" dirty="0">
                <a:latin typeface="DM Sans 14pt" pitchFamily="2" charset="77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A5E31498-FA6D-09E3-AA19-F3987DD6FE78}"/>
              </a:ext>
            </a:extLst>
          </p:cNvPr>
          <p:cNvSpPr/>
          <p:nvPr/>
        </p:nvSpPr>
        <p:spPr>
          <a:xfrm>
            <a:off x="6736167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05796D16-C6C7-9826-FA3C-FAF8DCC80115}"/>
              </a:ext>
            </a:extLst>
          </p:cNvPr>
          <p:cNvSpPr/>
          <p:nvPr/>
        </p:nvSpPr>
        <p:spPr>
          <a:xfrm>
            <a:off x="6785759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GB" sz="3600" dirty="0">
                <a:solidFill>
                  <a:schemeClr val="bg1"/>
                </a:solidFill>
                <a:latin typeface="DM Sans 14pt" pitchFamily="2" charset="77"/>
              </a:rPr>
              <a:t>{{</a:t>
            </a:r>
            <a:r>
              <a:rPr lang="en-GB" sz="3600" dirty="0" err="1">
                <a:solidFill>
                  <a:schemeClr val="bg1"/>
                </a:solidFill>
                <a:latin typeface="DM Sans 14pt" pitchFamily="2" charset="77"/>
              </a:rPr>
              <a:t>stat_cost_per_view</a:t>
            </a:r>
            <a:r>
              <a:rPr lang="en-GB" sz="3600" dirty="0">
                <a:solidFill>
                  <a:schemeClr val="bg1"/>
                </a:solidFill>
                <a:latin typeface="DM Sans 14pt" pitchFamily="2" charset="77"/>
              </a:rPr>
              <a:t>}}</a:t>
            </a:r>
            <a:endParaRPr lang="en-US" sz="36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8276EBA-110F-3411-194D-C9E8C43AE6CA}"/>
              </a:ext>
            </a:extLst>
          </p:cNvPr>
          <p:cNvSpPr/>
          <p:nvPr/>
        </p:nvSpPr>
        <p:spPr>
          <a:xfrm>
            <a:off x="9750532" y="1849951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APPLY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04BD443A-E607-4C46-2EF0-83A49510C3CC}"/>
              </a:ext>
            </a:extLst>
          </p:cNvPr>
          <p:cNvSpPr/>
          <p:nvPr/>
        </p:nvSpPr>
        <p:spPr>
          <a:xfrm>
            <a:off x="9800124" y="1908739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sz="3600" dirty="0">
                <a:latin typeface="DM Sans 14pt" pitchFamily="2" charset="77"/>
              </a:rPr>
              <a:t>{{</a:t>
            </a:r>
            <a:r>
              <a:rPr lang="en-GB" sz="3600" dirty="0" err="1">
                <a:latin typeface="DM Sans 14pt" pitchFamily="2" charset="77"/>
              </a:rPr>
              <a:t>stat_cost_per_apply</a:t>
            </a:r>
            <a:r>
              <a:rPr lang="en-GB" sz="3600" dirty="0">
                <a:latin typeface="DM Sans 14pt" pitchFamily="2" charset="77"/>
              </a:rPr>
              <a:t>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67" name="Text 25">
            <a:extLst>
              <a:ext uri="{FF2B5EF4-FFF2-40B4-BE49-F238E27FC236}">
                <a16:creationId xmlns:a16="http://schemas.microsoft.com/office/drawing/2014/main" id="{1AA2F224-0D2A-A56F-924F-6668AFA3EC30}"/>
              </a:ext>
            </a:extLst>
          </p:cNvPr>
          <p:cNvSpPr/>
          <p:nvPr/>
        </p:nvSpPr>
        <p:spPr>
          <a:xfrm>
            <a:off x="7854759" y="3004118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E2CB06-5747-3C23-E251-3CD858542AE9}"/>
              </a:ext>
            </a:extLst>
          </p:cNvPr>
          <p:cNvSpPr/>
          <p:nvPr/>
        </p:nvSpPr>
        <p:spPr>
          <a:xfrm>
            <a:off x="819150" y="2856387"/>
            <a:ext cx="2607165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A689E9D-4C68-487F-F198-BD395CA50078}"/>
              </a:ext>
            </a:extLst>
          </p:cNvPr>
          <p:cNvSpPr/>
          <p:nvPr/>
        </p:nvSpPr>
        <p:spPr>
          <a:xfrm>
            <a:off x="3789002" y="2854399"/>
            <a:ext cx="8581674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Which channels worked hardest.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06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23CA7696-0FAD-7A69-113D-3015E31E27A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920950EF-86C0-4C53-171E-03E2D25359FB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commentary_media_intro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E1BE4B2-6481-8DB3-3CA9-75F35C91DA9C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D980B683-AC2E-6F6D-47F3-939BDCACDA6F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3461690E-5EBE-6686-6107-63D8CFF5053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chart_explainer_media_performance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40" name="Shape 32">
            <a:extLst>
              <a:ext uri="{FF2B5EF4-FFF2-40B4-BE49-F238E27FC236}">
                <a16:creationId xmlns:a16="http://schemas.microsoft.com/office/drawing/2014/main" id="{7A86A295-B34A-9FDE-CDD2-2CB9E93E6884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BA74F1-CA6A-02D4-93D5-CC997FFAB1C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176F46CA-EFBD-4EF3-CA69-1930614DD21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05 · MEDIA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AEE36239-70B5-2540-42A3-5FD6BF17DE8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Average views and apply clicks per vacancy, split by media source — your </a:t>
              </a:r>
              <a:r>
                <a:rPr lang="en-US" sz="1350" dirty="0" err="1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Jobsgopublic</a:t>
              </a: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 subscription, targeted emails, PPC, and any enhancements.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10" name="Text 25">
            <a:extLst>
              <a:ext uri="{FF2B5EF4-FFF2-40B4-BE49-F238E27FC236}">
                <a16:creationId xmlns:a16="http://schemas.microsoft.com/office/drawing/2014/main" id="{6A8E8859-631F-EEF0-0FE0-BED6654904E5}"/>
              </a:ext>
            </a:extLst>
          </p:cNvPr>
          <p:cNvSpPr/>
          <p:nvPr/>
        </p:nvSpPr>
        <p:spPr>
          <a:xfrm>
            <a:off x="4893357" y="4881636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C7D18365-0678-F3D8-B4C4-9BC05823CF69}"/>
              </a:ext>
            </a:extLst>
          </p:cNvPr>
          <p:cNvSpPr/>
          <p:nvPr/>
        </p:nvSpPr>
        <p:spPr>
          <a:xfrm>
            <a:off x="762000" y="178618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4" name="Shape 23">
            <a:extLst>
              <a:ext uri="{FF2B5EF4-FFF2-40B4-BE49-F238E27FC236}">
                <a16:creationId xmlns:a16="http://schemas.microsoft.com/office/drawing/2014/main" id="{E7FBA325-E675-B8ED-62A7-0B1DE99C7D20}"/>
              </a:ext>
            </a:extLst>
          </p:cNvPr>
          <p:cNvSpPr/>
          <p:nvPr/>
        </p:nvSpPr>
        <p:spPr>
          <a:xfrm>
            <a:off x="851338" y="2202507"/>
            <a:ext cx="11592910" cy="7127473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chart:media_performance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5A2DA5-EFA0-6960-EF7E-91A9B04AFC71}"/>
              </a:ext>
            </a:extLst>
          </p:cNvPr>
          <p:cNvSpPr/>
          <p:nvPr/>
        </p:nvSpPr>
        <p:spPr>
          <a:xfrm>
            <a:off x="851338" y="1845226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what's next.</a:t>
            </a:r>
            <a:endParaRPr lang="en-US" sz="13500" dirty="0">
              <a:latin typeface="DM Sans 14pt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7117110"/>
            <a:ext cx="12797287" cy="2026890"/>
          </a:xfrm>
          <a:prstGeom prst="roundRect">
            <a:avLst>
              <a:gd name="adj" fmla="val 9399"/>
            </a:avLst>
          </a:prstGeom>
          <a:solidFill>
            <a:srgbClr val="E8E0F2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76400" y="7574310"/>
            <a:ext cx="6632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676400" y="7831485"/>
            <a:ext cx="6125497" cy="540990"/>
          </a:xfrm>
          <a:prstGeom prst="roundRect">
            <a:avLst>
              <a:gd name="adj" fmla="val 7043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72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contact_name</a:t>
            </a:r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76398" y="8429623"/>
            <a:ext cx="6125497" cy="5400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contact_title</a:t>
            </a:r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523975" y="8016750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77350" y="7832475"/>
            <a:ext cx="4276418" cy="54000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contact_email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353550" y="7593360"/>
            <a:ext cx="2213670" cy="5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23975" y="8613898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77349" y="8429623"/>
            <a:ext cx="4276417" cy="54000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contact_phone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7233255" y="974407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07 / 07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804</Words>
  <Application>Microsoft Macintosh PowerPoint</Application>
  <PresentationFormat>Custom</PresentationFormat>
  <Paragraphs>139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DM Sans 14pt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19</cp:revision>
  <dcterms:created xsi:type="dcterms:W3CDTF">2026-04-25T02:21:32Z</dcterms:created>
  <dcterms:modified xsi:type="dcterms:W3CDTF">2026-05-02T05:25:23Z</dcterms:modified>
</cp:coreProperties>
</file>