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08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192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429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0"/>
            <a:ext cx="3429000" cy="3619500"/>
          </a:xfrm>
          <a:prstGeom prst="rect">
            <a:avLst/>
          </a:prstGeom>
          <a:solidFill>
            <a:srgbClr val="9C67D3">
              <a:alpha val="6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4859000" y="0"/>
            <a:ext cx="3429000" cy="4572000"/>
          </a:xfrm>
          <a:prstGeom prst="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43000" y="1143000"/>
            <a:ext cx="164820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kern="0" spc="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REPORT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43000" y="1543050"/>
            <a:ext cx="1117981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6500" dirty="0"/>
          </a:p>
        </p:txBody>
      </p:sp>
      <p:sp>
        <p:nvSpPr>
          <p:cNvPr id="9" name="Text 7"/>
          <p:cNvSpPr/>
          <p:nvPr/>
        </p:nvSpPr>
        <p:spPr>
          <a:xfrm>
            <a:off x="1143000" y="3848100"/>
            <a:ext cx="16482060" cy="1924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6500" b="1" kern="0" spc="-6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</a:t>
            </a:r>
            <a:endParaRPr lang="en-US" sz="16500" dirty="0"/>
          </a:p>
        </p:txBody>
      </p:sp>
      <p:sp>
        <p:nvSpPr>
          <p:cNvPr id="10" name="Text 8"/>
          <p:cNvSpPr/>
          <p:nvPr/>
        </p:nvSpPr>
        <p:spPr>
          <a:xfrm>
            <a:off x="1143000" y="8239125"/>
            <a:ext cx="425403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315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143000" y="8582025"/>
            <a:ext cx="4130129" cy="540990"/>
          </a:xfrm>
          <a:prstGeom prst="roundRect">
            <a:avLst>
              <a:gd name="adj" fmla="val 7043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219200" y="8601075"/>
            <a:ext cx="4101633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kern="0" spc="-7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{{client_name}}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4875222" y="8543925"/>
            <a:ext cx="23459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1350" kern="0" spc="27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PERIOD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517838" y="8820150"/>
            <a:ext cx="662716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950" kern="0" spc="293" dirty="0"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{{PERIOD_START}} </a:t>
            </a:r>
            <a:r>
              <a:rPr lang="en-US" sz="1950" b="1" kern="0" spc="293" dirty="0"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r>
              <a:rPr lang="en-US" sz="1950" kern="0" spc="293" dirty="0"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{{PERIOD_END}}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609600" y="9742289"/>
            <a:ext cx="1704677" cy="163711"/>
          </a:xfrm>
          <a:prstGeom prst="roundRect">
            <a:avLst>
              <a:gd name="adj" fmla="val 2327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85800" y="9761339"/>
            <a:ext cx="1628477" cy="163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kern="0" spc="4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233255" y="974794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1203825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roles performed vs. benchmark.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10089846" y="1890712"/>
            <a:ext cx="2710403" cy="1946065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261296" y="2055334"/>
            <a:ext cx="2300827" cy="1459641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 sz="3000" dirty="0"/>
          </a:p>
        </p:txBody>
      </p:sp>
      <p:sp>
        <p:nvSpPr>
          <p:cNvPr id="10" name="Text 8"/>
          <p:cNvSpPr/>
          <p:nvPr/>
        </p:nvSpPr>
        <p:spPr>
          <a:xfrm>
            <a:off x="10337496" y="2090609"/>
            <a:ext cx="2073563" cy="13342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{{stat_total_jobs}}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635866" y="3520548"/>
            <a:ext cx="1618357" cy="304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BENCHMARKED</a:t>
            </a:r>
            <a:endParaRPr lang="en-US" sz="825" dirty="0"/>
          </a:p>
        </p:txBody>
      </p:sp>
      <p:sp>
        <p:nvSpPr>
          <p:cNvPr id="12" name="Shape 10"/>
          <p:cNvSpPr/>
          <p:nvPr/>
        </p:nvSpPr>
        <p:spPr>
          <a:xfrm>
            <a:off x="10089846" y="3991843"/>
            <a:ext cx="2710403" cy="1946063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61296" y="4200561"/>
            <a:ext cx="2300827" cy="1362039"/>
          </a:xfrm>
          <a:prstGeom prst="roundRect">
            <a:avLst>
              <a:gd name="adj" fmla="val 17778"/>
            </a:avLst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endParaRPr lang="en-GB" sz="3000" kern="0" spc="-67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337496" y="4235836"/>
            <a:ext cx="2163422" cy="1326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{{stat_top_quadrant_pct}}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2380757" y="4097672"/>
            <a:ext cx="325487" cy="505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327970" y="5658331"/>
            <a:ext cx="2234153" cy="285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TOP-RIGHT QUADRANT</a:t>
            </a:r>
            <a:endParaRPr lang="en-US" sz="825" dirty="0"/>
          </a:p>
        </p:txBody>
      </p:sp>
      <p:sp>
        <p:nvSpPr>
          <p:cNvPr id="17" name="Shape 15"/>
          <p:cNvSpPr/>
          <p:nvPr/>
        </p:nvSpPr>
        <p:spPr>
          <a:xfrm>
            <a:off x="10089846" y="6093038"/>
            <a:ext cx="2710403" cy="1946062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261295" y="6257660"/>
            <a:ext cx="2300827" cy="1323727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0337496" y="6292935"/>
            <a:ext cx="2163422" cy="12884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0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{{stat_top_category}}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89173" y="7711512"/>
            <a:ext cx="2111745" cy="3116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 JOB CATEGORY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10089846" y="8169225"/>
            <a:ext cx="2710404" cy="116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dot is one of your vacancies, positioned by views and apply clicks relative to our market benchmark. The top-right quadrant is exceeding benchmark on both.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62000" y="1890712"/>
            <a:ext cx="8910097" cy="7443788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857250" y="2047875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7864877" y="2019300"/>
            <a:ext cx="1673870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979177" y="2076450"/>
            <a:ext cx="152147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 · QUADRANT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857249" y="2319904"/>
            <a:ext cx="8704459" cy="6919345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066800" y="2457940"/>
            <a:ext cx="8390367" cy="663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{{chart:benchmark_scatter}}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3318694" y="2020637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 vs. apply clicks, % above/below benchmark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3090029" y="1890712"/>
            <a:ext cx="484375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368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3090029" y="2230760"/>
            <a:ext cx="4496284" cy="227180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3166229" y="2249810"/>
            <a:ext cx="4456560" cy="22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{{commentary_benchmark_intro}}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3356729" y="2753593"/>
            <a:ext cx="4365324" cy="2095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3432928" y="2772643"/>
            <a:ext cx="432167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{{commentary_benchmark_point_1}}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3356729" y="3248893"/>
            <a:ext cx="4365324" cy="2095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3432928" y="3267943"/>
            <a:ext cx="432167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{{commentary_benchmark_point_2}}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3356729" y="3744193"/>
            <a:ext cx="4365324" cy="2095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3432928" y="3763243"/>
            <a:ext cx="432167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{{commentary_benchmark_point_3}}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105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6F7C33C0-2054-2D5C-F29F-CD13941B3BB5}"/>
              </a:ext>
            </a:extLst>
          </p:cNvPr>
          <p:cNvSpPr/>
          <p:nvPr/>
        </p:nvSpPr>
        <p:spPr>
          <a:xfrm>
            <a:off x="14525753" y="575052"/>
            <a:ext cx="325854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42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BENCHMARKING JOBS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4148346" y="571500"/>
            <a:ext cx="363595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42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AVERAGE PERFORMANCE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04446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average vs. the market.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2389504" y="-1185714"/>
            <a:ext cx="4843751" cy="5179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up all your vacancies into a single average, compared with the benchmark for comparable public sector roles.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11756529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009650" y="3090863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612487" y="3048000"/>
            <a:ext cx="1658392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10726787" y="3105150"/>
            <a:ext cx="150599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· VS BENCHMARK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888847" y="3314700"/>
            <a:ext cx="11500657" cy="5924549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83855" y="3448050"/>
            <a:ext cx="11287023" cy="5674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{{chart:benchmark_average}}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607294" y="3102770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 per vacancy · Apply clicks per vacancy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2823329" y="2838450"/>
            <a:ext cx="484375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368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823329" y="3295650"/>
            <a:ext cx="3672929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2899529" y="3314700"/>
            <a:ext cx="3630717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{{commentary_average_intro}}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3090029" y="3818483"/>
            <a:ext cx="35814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3166229" y="3837533"/>
            <a:ext cx="353644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{{commentary_average_point_1}}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3090029" y="4313783"/>
            <a:ext cx="35814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3166229" y="4332833"/>
            <a:ext cx="353644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{{commentary_average_point_2}}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88846" y="1890712"/>
            <a:ext cx="2469476" cy="490538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83855" y="1890712"/>
            <a:ext cx="2347381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stat_benchmark_average_views</a:t>
            </a:r>
            <a:r>
              <a:rPr lang="en-US" sz="14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51854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080238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885467" y="1974057"/>
            <a:ext cx="2369881" cy="3500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stat_your_jobs_average_views</a:t>
            </a:r>
            <a:r>
              <a:rPr lang="en-US" sz="1400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55349" y="1933575"/>
            <a:ext cx="29158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6741707" y="1847850"/>
            <a:ext cx="276245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895301" y="2016919"/>
            <a:ext cx="2002716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63563" y="1890712"/>
            <a:ext cx="2426421" cy="4119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stat_benchmark_average_applies</a:t>
            </a:r>
            <a:r>
              <a:rPr lang="en-US" sz="14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95301" y="2324100"/>
            <a:ext cx="286396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AVERAGE APPLYS</a:t>
            </a:r>
            <a:endParaRPr lang="en-US" sz="825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9AFE0004-10EC-66DD-A433-5D4508C4D667}"/>
              </a:ext>
            </a:extLst>
          </p:cNvPr>
          <p:cNvSpPr/>
          <p:nvPr/>
        </p:nvSpPr>
        <p:spPr>
          <a:xfrm>
            <a:off x="9698935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D797879B-C0B2-E195-8621-8907B9D82F1F}"/>
              </a:ext>
            </a:extLst>
          </p:cNvPr>
          <p:cNvSpPr/>
          <p:nvPr/>
        </p:nvSpPr>
        <p:spPr>
          <a:xfrm>
            <a:off x="9784266" y="2016919"/>
            <a:ext cx="2384034" cy="223838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 sz="1400" dirty="0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449B7F61-8DB7-9C1A-5603-4B3D66B1A57C}"/>
              </a:ext>
            </a:extLst>
          </p:cNvPr>
          <p:cNvSpPr/>
          <p:nvPr/>
        </p:nvSpPr>
        <p:spPr>
          <a:xfrm>
            <a:off x="9759268" y="2045494"/>
            <a:ext cx="2409032" cy="1833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</a:t>
            </a:r>
            <a:r>
              <a:rPr lang="en-US" sz="1400" kern="0" spc="-67" dirty="0" err="1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stat_your_jobs_average_applies</a:t>
            </a:r>
            <a:r>
              <a:rPr lang="en-US" sz="1400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  <a:endParaRPr lang="en-US" sz="1400" dirty="0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814AD5B6-1982-6091-1726-B65BA561066F}"/>
              </a:ext>
            </a:extLst>
          </p:cNvPr>
          <p:cNvSpPr/>
          <p:nvPr/>
        </p:nvSpPr>
        <p:spPr>
          <a:xfrm>
            <a:off x="9784266" y="2324100"/>
            <a:ext cx="349993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JOBS – AVERAGE APPLYS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3851225" y="2393157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JOBS – AVERAGE VIEWS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863848" y="2366636"/>
            <a:ext cx="2467388" cy="226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AVERAGE VIEWS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5340310" y="571500"/>
            <a:ext cx="241429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42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JOB POSTINGS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03539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applies came from.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2823329" y="1847850"/>
            <a:ext cx="4843751" cy="7578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broken down by job type. A role can appear in more than one category, so totals may exceed unique jobs posted. Low-volume categories are excluded.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2000" y="1695451"/>
            <a:ext cx="11756529" cy="7639050"/>
          </a:xfrm>
          <a:prstGeom prst="roundRect">
            <a:avLst>
              <a:gd name="adj" fmla="val 2331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66800" y="1926039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10210056" y="1883177"/>
            <a:ext cx="2117973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0324356" y="1940327"/>
            <a:ext cx="196557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STACKED BAR · BY JOB TYPE</a:t>
            </a:r>
            <a:endParaRPr lang="en-US" sz="825" dirty="0"/>
          </a:p>
        </p:txBody>
      </p:sp>
      <p:sp>
        <p:nvSpPr>
          <p:cNvPr id="25" name="Shape 23"/>
          <p:cNvSpPr/>
          <p:nvPr/>
        </p:nvSpPr>
        <p:spPr>
          <a:xfrm>
            <a:off x="851338" y="2299503"/>
            <a:ext cx="11592910" cy="6939747"/>
          </a:xfrm>
          <a:prstGeom prst="roundRect">
            <a:avLst>
              <a:gd name="adj" fmla="val 3334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87973" y="2337602"/>
            <a:ext cx="11301956" cy="675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{{chart:postings_by_type}}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893357" y="1902227"/>
            <a:ext cx="393196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Postings · views · apply clicks per category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823329" y="2834283"/>
            <a:ext cx="484375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368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2823329" y="3291483"/>
            <a:ext cx="3798689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2899529" y="3310533"/>
            <a:ext cx="376025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{{commentary_postings_intro}}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3090029" y="3814316"/>
            <a:ext cx="36957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13166229" y="3833366"/>
            <a:ext cx="365417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{{commentary_postings_point_1}}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13090029" y="4309616"/>
            <a:ext cx="36957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3166229" y="4328666"/>
            <a:ext cx="365417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{{commentary_postings_point_2}}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22">
            <a:extLst>
              <a:ext uri="{FF2B5EF4-FFF2-40B4-BE49-F238E27FC236}">
                <a16:creationId xmlns:a16="http://schemas.microsoft.com/office/drawing/2014/main" id="{1FA0AF3D-C6C8-7A95-0AC0-E7674622E367}"/>
              </a:ext>
            </a:extLst>
          </p:cNvPr>
          <p:cNvSpPr/>
          <p:nvPr/>
        </p:nvSpPr>
        <p:spPr>
          <a:xfrm>
            <a:off x="3712545" y="2799557"/>
            <a:ext cx="8754388" cy="6534943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4971365" y="571500"/>
            <a:ext cx="278824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42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ADVERTISING ROI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816653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on your subscription.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2823329" y="1969889"/>
            <a:ext cx="4843751" cy="5179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your subscription delivered, compared with the equivalent rate card cost of posting each role individually.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62000" y="2800350"/>
            <a:ext cx="2767997" cy="65341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88847" y="2900362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3820110" y="2976564"/>
            <a:ext cx="2699742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967718" y="3014664"/>
            <a:ext cx="255213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· COST PER APPLY BY CATEGORY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825441" y="3081338"/>
            <a:ext cx="2607164" cy="6157912"/>
          </a:xfrm>
          <a:prstGeom prst="roundRect">
            <a:avLst>
              <a:gd name="adj" fmla="val 6482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15591" y="3205164"/>
            <a:ext cx="2440558" cy="59178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sz="1650" kern="0" spc="30" dirty="0" err="1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chart:spend_vs_ratecard</a:t>
            </a: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03042" y="6161088"/>
            <a:ext cx="2588521" cy="525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Spent vs rate card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2823329" y="2838450"/>
            <a:ext cx="484375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368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823329" y="3295650"/>
            <a:ext cx="3170039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2899529" y="3314700"/>
            <a:ext cx="311274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{{commentary_roi_intro}}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3090029" y="3818483"/>
            <a:ext cx="31242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3166229" y="3837533"/>
            <a:ext cx="3065526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{{commentary_roi_point_1}}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3090029" y="4313783"/>
            <a:ext cx="31242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3166229" y="4332833"/>
            <a:ext cx="3065526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{{commentary_roi_point_2}}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105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CC3A9E5C-B88E-E185-8372-EE03F5A2B5D7}"/>
              </a:ext>
            </a:extLst>
          </p:cNvPr>
          <p:cNvSpPr/>
          <p:nvPr/>
        </p:nvSpPr>
        <p:spPr>
          <a:xfrm>
            <a:off x="762000" y="1847850"/>
            <a:ext cx="276799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2836D9AC-24FD-DBDE-86B8-01457B5CE080}"/>
              </a:ext>
            </a:extLst>
          </p:cNvPr>
          <p:cNvSpPr/>
          <p:nvPr/>
        </p:nvSpPr>
        <p:spPr>
          <a:xfrm>
            <a:off x="915592" y="1981200"/>
            <a:ext cx="1449807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8AFAD58A-4779-D711-EF93-CF70613B8328}"/>
              </a:ext>
            </a:extLst>
          </p:cNvPr>
          <p:cNvSpPr/>
          <p:nvPr/>
        </p:nvSpPr>
        <p:spPr>
          <a:xfrm>
            <a:off x="915591" y="1904918"/>
            <a:ext cx="188604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kern="0" spc="-6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{{stat_total_jobs}}</a:t>
            </a:r>
            <a:endParaRPr lang="en-US" sz="1400" dirty="0"/>
          </a:p>
        </p:txBody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9192B9F2-E9FB-1E01-247F-21B731030822}"/>
              </a:ext>
            </a:extLst>
          </p:cNvPr>
          <p:cNvSpPr/>
          <p:nvPr/>
        </p:nvSpPr>
        <p:spPr>
          <a:xfrm>
            <a:off x="3751854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30CA462F-47A2-539D-4291-F1CD13DCC540}"/>
              </a:ext>
            </a:extLst>
          </p:cNvPr>
          <p:cNvSpPr/>
          <p:nvPr/>
        </p:nvSpPr>
        <p:spPr>
          <a:xfrm>
            <a:off x="3905446" y="1933575"/>
            <a:ext cx="2089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50" dirty="0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E8EC669E-B281-D005-F716-5E6DA02F3AF4}"/>
              </a:ext>
            </a:extLst>
          </p:cNvPr>
          <p:cNvSpPr/>
          <p:nvPr/>
        </p:nvSpPr>
        <p:spPr>
          <a:xfrm>
            <a:off x="4080238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2F73C7D4-3186-84A0-40C8-8F61C92D93B1}"/>
              </a:ext>
            </a:extLst>
          </p:cNvPr>
          <p:cNvSpPr/>
          <p:nvPr/>
        </p:nvSpPr>
        <p:spPr>
          <a:xfrm>
            <a:off x="4148502" y="1949450"/>
            <a:ext cx="207271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GB" dirty="0"/>
              <a:t>{{</a:t>
            </a:r>
            <a:r>
              <a:rPr lang="en-GB" dirty="0" err="1"/>
              <a:t>stat_cost_per_job</a:t>
            </a:r>
            <a:r>
              <a:rPr lang="en-GB" dirty="0"/>
              <a:t>}}</a:t>
            </a:r>
            <a:endParaRPr lang="en-US" sz="1125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9F8B3AB7-9523-34C1-645F-B8C4D2A44E0B}"/>
              </a:ext>
            </a:extLst>
          </p:cNvPr>
          <p:cNvSpPr/>
          <p:nvPr/>
        </p:nvSpPr>
        <p:spPr>
          <a:xfrm>
            <a:off x="6741707" y="1847850"/>
            <a:ext cx="2762457" cy="723900"/>
          </a:xfrm>
          <a:prstGeom prst="round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2298B627-B84D-2E7B-AE52-3CECED5E4F0E}"/>
              </a:ext>
            </a:extLst>
          </p:cNvPr>
          <p:cNvSpPr/>
          <p:nvPr/>
        </p:nvSpPr>
        <p:spPr>
          <a:xfrm>
            <a:off x="6895301" y="2016919"/>
            <a:ext cx="2002716" cy="214313"/>
          </a:xfrm>
          <a:prstGeom prst="roundRect">
            <a:avLst>
              <a:gd name="adj" fmla="val 17778"/>
            </a:avLst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C3B1C651-D76C-3D27-08A2-7C8E9CBAFBD7}"/>
              </a:ext>
            </a:extLst>
          </p:cNvPr>
          <p:cNvSpPr/>
          <p:nvPr/>
        </p:nvSpPr>
        <p:spPr>
          <a:xfrm>
            <a:off x="6963564" y="1949450"/>
            <a:ext cx="1934452" cy="374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GB" dirty="0">
                <a:solidFill>
                  <a:schemeClr val="bg1"/>
                </a:solidFill>
              </a:rPr>
              <a:t>{{</a:t>
            </a:r>
            <a:r>
              <a:rPr lang="en-GB" dirty="0" err="1">
                <a:solidFill>
                  <a:schemeClr val="bg1"/>
                </a:solidFill>
              </a:rPr>
              <a:t>stat_cost_per_view</a:t>
            </a:r>
            <a:r>
              <a:rPr lang="en-GB" dirty="0">
                <a:solidFill>
                  <a:schemeClr val="bg1"/>
                </a:solidFill>
              </a:rPr>
              <a:t>}}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63CBE318-EEF2-7156-C72F-2878779B5DD4}"/>
              </a:ext>
            </a:extLst>
          </p:cNvPr>
          <p:cNvSpPr/>
          <p:nvPr/>
        </p:nvSpPr>
        <p:spPr>
          <a:xfrm>
            <a:off x="6895301" y="2324100"/>
            <a:ext cx="286396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VIEW</a:t>
            </a:r>
            <a:endParaRPr lang="en-US" sz="825" dirty="0"/>
          </a:p>
        </p:txBody>
      </p:sp>
      <p:sp>
        <p:nvSpPr>
          <p:cNvPr id="53" name="Shape 10">
            <a:extLst>
              <a:ext uri="{FF2B5EF4-FFF2-40B4-BE49-F238E27FC236}">
                <a16:creationId xmlns:a16="http://schemas.microsoft.com/office/drawing/2014/main" id="{57A6C571-1EC7-020A-154F-EC030A036EA9}"/>
              </a:ext>
            </a:extLst>
          </p:cNvPr>
          <p:cNvSpPr/>
          <p:nvPr/>
        </p:nvSpPr>
        <p:spPr>
          <a:xfrm>
            <a:off x="9698935" y="1847850"/>
            <a:ext cx="2767998" cy="723900"/>
          </a:xfrm>
          <a:prstGeom prst="roundRect">
            <a:avLst/>
          </a:prstGeom>
          <a:solidFill>
            <a:srgbClr val="E5FF6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4" name="Text 11">
            <a:extLst>
              <a:ext uri="{FF2B5EF4-FFF2-40B4-BE49-F238E27FC236}">
                <a16:creationId xmlns:a16="http://schemas.microsoft.com/office/drawing/2014/main" id="{94D51E3C-6092-E7D7-C249-4FF59454B526}"/>
              </a:ext>
            </a:extLst>
          </p:cNvPr>
          <p:cNvSpPr/>
          <p:nvPr/>
        </p:nvSpPr>
        <p:spPr>
          <a:xfrm>
            <a:off x="9852530" y="1933575"/>
            <a:ext cx="2089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" b="1" kern="0" spc="-67" dirty="0">
                <a:solidFill>
                  <a:srgbClr val="240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50" dirty="0"/>
          </a:p>
        </p:txBody>
      </p:sp>
      <p:sp>
        <p:nvSpPr>
          <p:cNvPr id="55" name="Shape 12">
            <a:extLst>
              <a:ext uri="{FF2B5EF4-FFF2-40B4-BE49-F238E27FC236}">
                <a16:creationId xmlns:a16="http://schemas.microsoft.com/office/drawing/2014/main" id="{BBAEC2AE-31B6-408B-3044-63A60B8B67FC}"/>
              </a:ext>
            </a:extLst>
          </p:cNvPr>
          <p:cNvSpPr/>
          <p:nvPr/>
        </p:nvSpPr>
        <p:spPr>
          <a:xfrm>
            <a:off x="10027322" y="2016919"/>
            <a:ext cx="2140978" cy="214313"/>
          </a:xfrm>
          <a:prstGeom prst="roundRect">
            <a:avLst>
              <a:gd name="adj" fmla="val 17778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178D26F2-32CF-63D1-0AE3-7BAA3734AB74}"/>
              </a:ext>
            </a:extLst>
          </p:cNvPr>
          <p:cNvSpPr/>
          <p:nvPr/>
        </p:nvSpPr>
        <p:spPr>
          <a:xfrm>
            <a:off x="10095586" y="1949450"/>
            <a:ext cx="207271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GB" dirty="0"/>
              <a:t>{{</a:t>
            </a:r>
            <a:r>
              <a:rPr lang="en-GB" dirty="0" err="1"/>
              <a:t>stat_cost_per_apply</a:t>
            </a:r>
            <a:r>
              <a:rPr lang="en-GB" dirty="0"/>
              <a:t>}}</a:t>
            </a:r>
            <a:endParaRPr lang="en-US" sz="1125" dirty="0"/>
          </a:p>
        </p:txBody>
      </p:sp>
      <p:sp>
        <p:nvSpPr>
          <p:cNvPr id="58" name="Text 15">
            <a:extLst>
              <a:ext uri="{FF2B5EF4-FFF2-40B4-BE49-F238E27FC236}">
                <a16:creationId xmlns:a16="http://schemas.microsoft.com/office/drawing/2014/main" id="{9775CBD7-A12C-E553-E3CF-DE9BADCFFB83}"/>
              </a:ext>
            </a:extLst>
          </p:cNvPr>
          <p:cNvSpPr/>
          <p:nvPr/>
        </p:nvSpPr>
        <p:spPr>
          <a:xfrm>
            <a:off x="3851225" y="2393157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JOB</a:t>
            </a:r>
            <a:endParaRPr lang="en-US" sz="825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51C4B41E-6F28-3706-46B1-33C7347B9EE7}"/>
              </a:ext>
            </a:extLst>
          </p:cNvPr>
          <p:cNvSpPr/>
          <p:nvPr/>
        </p:nvSpPr>
        <p:spPr>
          <a:xfrm>
            <a:off x="888847" y="2252662"/>
            <a:ext cx="207531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ADVERTISED THIS PERIOD</a:t>
            </a:r>
            <a:endParaRPr lang="en-US" sz="825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03FF3443-5D4F-C6E1-7E90-F0F17F8319F8}"/>
              </a:ext>
            </a:extLst>
          </p:cNvPr>
          <p:cNvSpPr/>
          <p:nvPr/>
        </p:nvSpPr>
        <p:spPr>
          <a:xfrm>
            <a:off x="9754649" y="2406650"/>
            <a:ext cx="289048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82" dirty="0">
                <a:solidFill>
                  <a:srgbClr val="240F45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APPLY</a:t>
            </a:r>
            <a:endParaRPr lang="en-US" sz="825" dirty="0"/>
          </a:p>
        </p:txBody>
      </p:sp>
      <p:sp>
        <p:nvSpPr>
          <p:cNvPr id="7" name="Shape 26">
            <a:extLst>
              <a:ext uri="{FF2B5EF4-FFF2-40B4-BE49-F238E27FC236}">
                <a16:creationId xmlns:a16="http://schemas.microsoft.com/office/drawing/2014/main" id="{02ECFA5D-F050-4107-9A4C-51CC49989A6F}"/>
              </a:ext>
            </a:extLst>
          </p:cNvPr>
          <p:cNvSpPr/>
          <p:nvPr/>
        </p:nvSpPr>
        <p:spPr>
          <a:xfrm>
            <a:off x="3789002" y="3243264"/>
            <a:ext cx="8581674" cy="5995986"/>
          </a:xfrm>
          <a:prstGeom prst="roundRect">
            <a:avLst>
              <a:gd name="adj" fmla="val 2275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E3916DC2-DB39-47D8-75A9-BD1F5FA1D75B}"/>
              </a:ext>
            </a:extLst>
          </p:cNvPr>
          <p:cNvSpPr/>
          <p:nvPr/>
        </p:nvSpPr>
        <p:spPr>
          <a:xfrm>
            <a:off x="3905446" y="3382171"/>
            <a:ext cx="8349616" cy="5740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{{</a:t>
            </a:r>
            <a:r>
              <a:rPr lang="en-US" sz="1650" kern="0" spc="30" dirty="0" err="1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chart:cost_per_app_by_occupation</a:t>
            </a: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}}</a:t>
            </a:r>
            <a:endParaRPr lang="en-US" sz="1650" dirty="0"/>
          </a:p>
        </p:txBody>
      </p:sp>
      <p:sp>
        <p:nvSpPr>
          <p:cNvPr id="9" name="Text 28">
            <a:extLst>
              <a:ext uri="{FF2B5EF4-FFF2-40B4-BE49-F238E27FC236}">
                <a16:creationId xmlns:a16="http://schemas.microsoft.com/office/drawing/2014/main" id="{00E9CB72-1B10-A610-AE07-711C77F3054B}"/>
              </a:ext>
            </a:extLst>
          </p:cNvPr>
          <p:cNvSpPr/>
          <p:nvPr/>
        </p:nvSpPr>
        <p:spPr>
          <a:xfrm>
            <a:off x="6590859" y="6161088"/>
            <a:ext cx="2588521" cy="525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view · Cost per apply · by job type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4497943" y="571500"/>
            <a:ext cx="327587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42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MEDIA PERFORMANCE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2000" y="1047750"/>
            <a:ext cx="9460629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kern="0" spc="-144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channels worked hardest.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12823329" y="1849934"/>
            <a:ext cx="4843751" cy="7578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views and apply clicks per vacancy, split by media source — your Jobsgopublic subscription, targeted emails, PPC, and any enhancements.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62000" y="1809750"/>
            <a:ext cx="11756529" cy="7524750"/>
          </a:xfrm>
          <a:prstGeom prst="roundRect">
            <a:avLst>
              <a:gd name="adj" fmla="val 2332"/>
            </a:avLst>
          </a:prstGeom>
          <a:solidFill>
            <a:srgbClr val="E8E0F2"/>
          </a:solidFill>
          <a:ln w="19050">
            <a:solidFill>
              <a:srgbClr val="64379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66800" y="2057401"/>
            <a:ext cx="198105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44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PLACEHOLDER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9805839" y="2014538"/>
            <a:ext cx="2522190" cy="228600"/>
          </a:xfrm>
          <a:prstGeom prst="roundRect">
            <a:avLst>
              <a:gd name="adj" fmla="val 16667"/>
            </a:avLst>
          </a:prstGeom>
          <a:solidFill>
            <a:srgbClr val="64379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920139" y="2071688"/>
            <a:ext cx="2369790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825" kern="0" spc="124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GROUPED BAR · BY MEDIA SOURCE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872359" y="2333626"/>
            <a:ext cx="11571889" cy="6905623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9525">
            <a:solidFill>
              <a:srgbClr val="000000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77462" y="2486027"/>
            <a:ext cx="11350567" cy="662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kern="0" spc="30" dirty="0">
                <a:solidFill>
                  <a:srgbClr val="240F4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{{chart:media_performance}}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4607295" y="6367463"/>
            <a:ext cx="406578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 and apply clicks per vacancy, per source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2823329" y="2838450"/>
            <a:ext cx="484375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368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COMMENTARY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2823329" y="3295650"/>
            <a:ext cx="3421410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2899529" y="3314700"/>
            <a:ext cx="3371652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{{commentary_media_intro}}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3090029" y="3818483"/>
            <a:ext cx="33528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3166229" y="3837533"/>
            <a:ext cx="330098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{{commentary_media_point_1}}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3090029" y="4313783"/>
            <a:ext cx="33528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3166229" y="4332833"/>
            <a:ext cx="330098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{{commentary_media_point_2}}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3090029" y="4809083"/>
            <a:ext cx="33528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3166229" y="4828133"/>
            <a:ext cx="3300984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{{commentary_media_point_3}}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09600" y="9753600"/>
            <a:ext cx="237351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{{client_name}} · Advertising Report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7233255" y="9753600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111111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437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457200"/>
            <a:ext cx="495300" cy="438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71500" y="47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-27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200150" y="538163"/>
            <a:ext cx="156150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Go Public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143000" y="1143000"/>
            <a:ext cx="164820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1695450"/>
            <a:ext cx="13735050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3500" b="1" kern="0" spc="-5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</a:t>
            </a:r>
            <a:r>
              <a:rPr lang="en-US" sz="13500" b="1" kern="0" spc="-54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next.</a:t>
            </a:r>
            <a:endParaRPr lang="en-US" sz="13500" dirty="0"/>
          </a:p>
        </p:txBody>
      </p:sp>
      <p:sp>
        <p:nvSpPr>
          <p:cNvPr id="7" name="Shape 5"/>
          <p:cNvSpPr/>
          <p:nvPr/>
        </p:nvSpPr>
        <p:spPr>
          <a:xfrm>
            <a:off x="1143000" y="7117110"/>
            <a:ext cx="14401800" cy="2026890"/>
          </a:xfrm>
          <a:prstGeom prst="roundRect">
            <a:avLst>
              <a:gd name="adj" fmla="val 939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676400" y="7574310"/>
            <a:ext cx="663206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75" kern="0" spc="293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975" dirty="0"/>
          </a:p>
        </p:txBody>
      </p:sp>
      <p:sp>
        <p:nvSpPr>
          <p:cNvPr id="9" name="Shape 7"/>
          <p:cNvSpPr/>
          <p:nvPr/>
        </p:nvSpPr>
        <p:spPr>
          <a:xfrm>
            <a:off x="1676400" y="7831485"/>
            <a:ext cx="4395341" cy="540990"/>
          </a:xfrm>
          <a:prstGeom prst="roundRect">
            <a:avLst>
              <a:gd name="adj" fmla="val 7043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752600" y="7850535"/>
            <a:ext cx="4374801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kern="0" spc="-72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{{contact_name}}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676400" y="8429625"/>
            <a:ext cx="2095500" cy="247650"/>
          </a:xfrm>
          <a:prstGeom prst="roundRect">
            <a:avLst>
              <a:gd name="adj" fmla="val 15385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752600" y="8448675"/>
            <a:ext cx="20193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{{contact_title}}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72500" y="7641878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277350" y="7574310"/>
            <a:ext cx="2289870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53550" y="7593360"/>
            <a:ext cx="221367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{{contact_email}}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8572500" y="8043714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277350" y="7976146"/>
            <a:ext cx="2289870" cy="268486"/>
          </a:xfrm>
          <a:prstGeom prst="roundRect">
            <a:avLst>
              <a:gd name="adj" fmla="val 14191"/>
            </a:avLst>
          </a:prstGeom>
          <a:solidFill>
            <a:srgbClr val="643791">
              <a:alpha val="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353550" y="7995196"/>
            <a:ext cx="221367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{{contact_phone}}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572500" y="8435132"/>
            <a:ext cx="6477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kern="0" spc="225" dirty="0">
                <a:solidFill>
                  <a:srgbClr val="643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277350" y="8377982"/>
            <a:ext cx="169530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jobsgopublic.com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09600" y="9734550"/>
            <a:ext cx="28819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kern="0" spc="360" dirty="0">
                <a:solidFill>
                  <a:srgbClr val="E5F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PLACES. GO PUBLIC.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7233255" y="9744075"/>
            <a:ext cx="52134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50" kern="0" spc="42" dirty="0">
                <a:solidFill>
                  <a:srgbClr val="FFFFFF">
                    <a:alpha val="6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770</Words>
  <Application>Microsoft Macintosh PowerPoint</Application>
  <PresentationFormat>Custom</PresentationFormat>
  <Paragraphs>137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monospace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Jordan</cp:lastModifiedBy>
  <cp:revision>10</cp:revision>
  <dcterms:created xsi:type="dcterms:W3CDTF">2026-04-25T02:21:32Z</dcterms:created>
  <dcterms:modified xsi:type="dcterms:W3CDTF">2026-04-25T04:21:30Z</dcterms:modified>
</cp:coreProperties>
</file>