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48"/>
    <p:restoredTop sz="94610"/>
  </p:normalViewPr>
  <p:slideViewPr>
    <p:cSldViewPr snapToGrid="0" snapToObjects="1">
      <p:cViewPr>
        <p:scale>
          <a:sx n="110" d="100"/>
          <a:sy n="110" d="100"/>
        </p:scale>
        <p:origin x="1840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19200" y="8601075"/>
            <a:ext cx="4101633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75222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517838" y="882015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highlight>
                  <a:srgbClr val="FFFFFF"/>
                </a:highlight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highlight>
                  <a:srgbClr val="FFFFFF"/>
                </a:highlight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986861" y="1890712"/>
            <a:ext cx="2710403" cy="1946065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158311" y="2055334"/>
            <a:ext cx="2380822" cy="1459641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532881" y="3520548"/>
            <a:ext cx="1618357" cy="304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825" dirty="0">
              <a:latin typeface="DM Sans 14pt" pitchFamily="2" charset="77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BCF2827-5626-8C6D-774D-F9EC939EE4AC}"/>
              </a:ext>
            </a:extLst>
          </p:cNvPr>
          <p:cNvGrpSpPr/>
          <p:nvPr/>
        </p:nvGrpSpPr>
        <p:grpSpPr>
          <a:xfrm>
            <a:off x="9986861" y="4636790"/>
            <a:ext cx="2710403" cy="1951636"/>
            <a:chOff x="10089846" y="3991843"/>
            <a:chExt cx="2710403" cy="1951636"/>
          </a:xfrm>
        </p:grpSpPr>
        <p:sp>
          <p:nvSpPr>
            <p:cNvPr id="12" name="Shape 10"/>
            <p:cNvSpPr/>
            <p:nvPr/>
          </p:nvSpPr>
          <p:spPr>
            <a:xfrm>
              <a:off x="10089846" y="3991843"/>
              <a:ext cx="2710403" cy="1946063"/>
            </a:xfrm>
            <a:prstGeom prst="roundRect">
              <a:avLst/>
            </a:prstGeom>
            <a:solidFill>
              <a:srgbClr val="E5FF6E"/>
            </a:solidFill>
            <a:ln/>
          </p:spPr>
          <p:txBody>
            <a:bodyPr anchor="ctr"/>
            <a:lstStyle/>
            <a:p>
              <a:pPr algn="ctr"/>
              <a:endParaRPr lang="en-US" dirty="0">
                <a:latin typeface="DM Sans 14pt" pitchFamily="2" charset="7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10261296" y="4200561"/>
              <a:ext cx="2300827" cy="1362039"/>
            </a:xfrm>
            <a:prstGeom prst="roundRect">
              <a:avLst>
                <a:gd name="adj" fmla="val 17778"/>
              </a:avLst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endParaRPr lang="en-GB" sz="3000" kern="0" spc="-67">
                <a:solidFill>
                  <a:srgbClr val="FFFFFF"/>
                </a:solidFill>
                <a:latin typeface="DM Sans 14pt" pitchFamily="2" charset="77"/>
                <a:cs typeface="Arial" pitchFamily="34" charset="-12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0327970" y="5658331"/>
              <a:ext cx="2234153" cy="28514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b">
              <a:normAutofit/>
            </a:bodyPr>
            <a:lstStyle/>
            <a:p>
              <a:pPr marL="0" indent="0" algn="l">
                <a:buNone/>
              </a:pPr>
              <a:r>
                <a:rPr lang="en-US" sz="825" kern="0" spc="182" dirty="0">
                  <a:solidFill>
                    <a:srgbClr val="240F45">
                      <a:alpha val="85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IN THE TOP-RIGHT QUADRANT</a:t>
              </a:r>
              <a:endParaRPr lang="en-US" sz="825" dirty="0">
                <a:latin typeface="DM Sans 14pt" pitchFamily="2" charset="77"/>
              </a:endParaRPr>
            </a:p>
          </p:txBody>
        </p:sp>
      </p:grpSp>
      <p:sp>
        <p:nvSpPr>
          <p:cNvPr id="17" name="Shape 15"/>
          <p:cNvSpPr/>
          <p:nvPr/>
        </p:nvSpPr>
        <p:spPr>
          <a:xfrm>
            <a:off x="9986861" y="7388438"/>
            <a:ext cx="2710403" cy="1946062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158922" y="7553060"/>
            <a:ext cx="2379600" cy="14616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3000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20" name="Text 18"/>
          <p:cNvSpPr/>
          <p:nvPr/>
        </p:nvSpPr>
        <p:spPr>
          <a:xfrm>
            <a:off x="10286188" y="9006912"/>
            <a:ext cx="2111745" cy="3116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7249" y="2020637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A8AF6A-1C11-B3D3-016E-8B056473E7B8}"/>
              </a:ext>
            </a:extLst>
          </p:cNvPr>
          <p:cNvGrpSpPr/>
          <p:nvPr/>
        </p:nvGrpSpPr>
        <p:grpSpPr>
          <a:xfrm>
            <a:off x="12995755" y="3880287"/>
            <a:ext cx="4741200" cy="1281600"/>
            <a:chOff x="13090029" y="4818473"/>
            <a:chExt cx="4532760" cy="246230"/>
          </a:xfrm>
        </p:grpSpPr>
        <p:sp>
          <p:nvSpPr>
            <p:cNvPr id="30" name="Shape 28"/>
            <p:cNvSpPr/>
            <p:nvPr/>
          </p:nvSpPr>
          <p:spPr>
            <a:xfrm>
              <a:off x="13090029" y="4818473"/>
              <a:ext cx="4496284" cy="227180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13166229" y="4837523"/>
              <a:ext cx="4456560" cy="22718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{{commentary_benchmark_intro}}</a:t>
              </a:r>
              <a:endParaRPr lang="en-US" sz="1650" dirty="0">
                <a:latin typeface="DM Sans 14pt" pitchFamily="2" charset="77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CA7AA5C-B876-B179-12DB-BD2856699852}"/>
              </a:ext>
            </a:extLst>
          </p:cNvPr>
          <p:cNvGrpSpPr/>
          <p:nvPr/>
        </p:nvGrpSpPr>
        <p:grpSpPr>
          <a:xfrm>
            <a:off x="12995755" y="5271442"/>
            <a:ext cx="4742571" cy="1281600"/>
            <a:chOff x="13356729" y="5341306"/>
            <a:chExt cx="4397870" cy="228600"/>
          </a:xfrm>
        </p:grpSpPr>
        <p:sp>
          <p:nvSpPr>
            <p:cNvPr id="32" name="Shape 30"/>
            <p:cNvSpPr/>
            <p:nvPr/>
          </p:nvSpPr>
          <p:spPr>
            <a:xfrm>
              <a:off x="13356729" y="5341306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3432928" y="5360356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{{commentary_benchmark_point_1}}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C989DEF-8595-A89E-8F2A-C63EF0684A13}"/>
              </a:ext>
            </a:extLst>
          </p:cNvPr>
          <p:cNvGrpSpPr/>
          <p:nvPr/>
        </p:nvGrpSpPr>
        <p:grpSpPr>
          <a:xfrm>
            <a:off x="12995755" y="6662597"/>
            <a:ext cx="4742571" cy="1281174"/>
            <a:chOff x="13356729" y="7948173"/>
            <a:chExt cx="4397870" cy="228600"/>
          </a:xfrm>
        </p:grpSpPr>
        <p:sp>
          <p:nvSpPr>
            <p:cNvPr id="34" name="Shape 32"/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{{commentary_benchmark_point_2}}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>
              <a:latin typeface="DM Sans 14pt" pitchFamily="2" charset="77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C526401-7597-287A-785C-993BBDBA92B4}"/>
              </a:ext>
            </a:extLst>
          </p:cNvPr>
          <p:cNvGrpSpPr/>
          <p:nvPr/>
        </p:nvGrpSpPr>
        <p:grpSpPr>
          <a:xfrm>
            <a:off x="12995755" y="1890712"/>
            <a:ext cx="4741200" cy="1281600"/>
            <a:chOff x="13090027" y="1890712"/>
            <a:chExt cx="4741200" cy="1281600"/>
          </a:xfrm>
        </p:grpSpPr>
        <p:sp>
          <p:nvSpPr>
            <p:cNvPr id="46" name="Shape 28">
              <a:extLst>
                <a:ext uri="{FF2B5EF4-FFF2-40B4-BE49-F238E27FC236}">
                  <a16:creationId xmlns:a16="http://schemas.microsoft.com/office/drawing/2014/main" id="{6BF6FE9E-6B60-55B6-FFB2-3A3997294303}"/>
                </a:ext>
              </a:extLst>
            </p:cNvPr>
            <p:cNvSpPr/>
            <p:nvPr/>
          </p:nvSpPr>
          <p:spPr>
            <a:xfrm>
              <a:off x="13090027" y="1890712"/>
              <a:ext cx="4703047" cy="1182447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47" name="Text 29">
              <a:extLst>
                <a:ext uri="{FF2B5EF4-FFF2-40B4-BE49-F238E27FC236}">
                  <a16:creationId xmlns:a16="http://schemas.microsoft.com/office/drawing/2014/main" id="{313D0CCB-9CD2-6E9A-2AFB-FC3B14CBD94E}"/>
                </a:ext>
              </a:extLst>
            </p:cNvPr>
            <p:cNvSpPr/>
            <p:nvPr/>
          </p:nvSpPr>
          <p:spPr>
            <a:xfrm>
              <a:off x="13169731" y="1989865"/>
              <a:ext cx="4661496" cy="118244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{{chart_explainer_benchmark_scatter}}</a:t>
              </a:r>
              <a:endParaRPr lang="en-US" sz="1650" dirty="0">
                <a:solidFill>
                  <a:srgbClr val="643791"/>
                </a:solidFill>
                <a:latin typeface="DM Sans 14pt" pitchFamily="2" charset="77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E49E83F-CAAF-A706-10B5-6255C904E75B}"/>
              </a:ext>
            </a:extLst>
          </p:cNvPr>
          <p:cNvGrpSpPr/>
          <p:nvPr/>
        </p:nvGrpSpPr>
        <p:grpSpPr>
          <a:xfrm>
            <a:off x="12995755" y="8053326"/>
            <a:ext cx="4742571" cy="1281174"/>
            <a:chOff x="13356729" y="7948173"/>
            <a:chExt cx="4397870" cy="22860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49E04A68-847E-82E3-4038-6247474AA428}"/>
                </a:ext>
              </a:extLst>
            </p:cNvPr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8E8A4A80-3943-C51D-2C19-45F174D4192A}"/>
                </a:ext>
              </a:extLst>
            </p:cNvPr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{{commentary_benchmark_point_3}}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277861-6ED0-04AA-BFD6-B3A1BD64266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6F7C33C0-2054-2D5C-F29F-CD13941B3BB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r">
                <a:buNone/>
              </a:pPr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01 · BENCHMARKING JOBS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58" name="Text 21">
              <a:extLst>
                <a:ext uri="{FF2B5EF4-FFF2-40B4-BE49-F238E27FC236}">
                  <a16:creationId xmlns:a16="http://schemas.microsoft.com/office/drawing/2014/main" id="{F285D6AD-CCAA-2178-0719-E68B4ED056A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Each dot is one of your vacancies, positioned by views and apply clicks relative to our market benchmark. The top-right quadrant is exceeding benchmark on both.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62" name="Shape 10">
            <a:extLst>
              <a:ext uri="{FF2B5EF4-FFF2-40B4-BE49-F238E27FC236}">
                <a16:creationId xmlns:a16="http://schemas.microsoft.com/office/drawing/2014/main" id="{F9149085-C9BF-B06F-2BD2-89A1D127AA4D}"/>
              </a:ext>
            </a:extLst>
          </p:cNvPr>
          <p:cNvSpPr/>
          <p:nvPr/>
        </p:nvSpPr>
        <p:spPr>
          <a:xfrm>
            <a:off x="10158922" y="4825695"/>
            <a:ext cx="2379600" cy="1461600"/>
          </a:xfrm>
          <a:prstGeom prst="roundRect">
            <a:avLst/>
          </a:prstGeom>
          <a:solidFill>
            <a:srgbClr val="F1F3E2"/>
          </a:solidFill>
          <a:ln/>
        </p:spPr>
        <p:txBody>
          <a:bodyPr anchor="ctr"/>
          <a:lstStyle/>
          <a:p>
            <a:pPr algn="ctr"/>
            <a:r>
              <a:rPr lang="en-US" sz="30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30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8847" y="3233450"/>
            <a:ext cx="11500657" cy="600580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noFill/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chart:benchmark_average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88846" y="1890712"/>
            <a:ext cx="2469476" cy="490538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83855" y="1890712"/>
            <a:ext cx="2347381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85467" y="1974057"/>
            <a:ext cx="2369881" cy="3500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55349" y="1933575"/>
            <a:ext cx="29158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22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63563" y="1890712"/>
            <a:ext cx="2426421" cy="411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AVERAGE APPLYS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9AFE0004-10EC-66DD-A433-5D4508C4D667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D797879B-C0B2-E195-8621-8907B9D82F1F}"/>
              </a:ext>
            </a:extLst>
          </p:cNvPr>
          <p:cNvSpPr/>
          <p:nvPr/>
        </p:nvSpPr>
        <p:spPr>
          <a:xfrm>
            <a:off x="9784266" y="2016919"/>
            <a:ext cx="2384034" cy="223838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 sz="1400" dirty="0">
              <a:latin typeface="DM Sans 14pt" pitchFamily="2" charset="77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449B7F61-8DB7-9C1A-5603-4B3D66B1A57C}"/>
              </a:ext>
            </a:extLst>
          </p:cNvPr>
          <p:cNvSpPr/>
          <p:nvPr/>
        </p:nvSpPr>
        <p:spPr>
          <a:xfrm>
            <a:off x="9759268" y="2045494"/>
            <a:ext cx="2409032" cy="1833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1400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814AD5B6-1982-6091-1726-B65BA561066F}"/>
              </a:ext>
            </a:extLst>
          </p:cNvPr>
          <p:cNvSpPr/>
          <p:nvPr/>
        </p:nvSpPr>
        <p:spPr>
          <a:xfrm>
            <a:off x="9784266" y="2324100"/>
            <a:ext cx="349993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AVERAGE APPLYS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AVERAGE VIEWS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3848" y="2366636"/>
            <a:ext cx="2467388" cy="226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AVERAGE VIEWS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6A0DF149-128C-9B78-2631-397C50980B39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035AAF3-E00E-04BE-28D1-194C5DF4FE5E}"/>
              </a:ext>
            </a:extLst>
          </p:cNvPr>
          <p:cNvGrpSpPr/>
          <p:nvPr/>
        </p:nvGrpSpPr>
        <p:grpSpPr>
          <a:xfrm>
            <a:off x="12995755" y="3880287"/>
            <a:ext cx="4741200" cy="1281600"/>
            <a:chOff x="13090029" y="4818473"/>
            <a:chExt cx="4532760" cy="246230"/>
          </a:xfrm>
        </p:grpSpPr>
        <p:sp>
          <p:nvSpPr>
            <p:cNvPr id="21" name="Shape 28">
              <a:extLst>
                <a:ext uri="{FF2B5EF4-FFF2-40B4-BE49-F238E27FC236}">
                  <a16:creationId xmlns:a16="http://schemas.microsoft.com/office/drawing/2014/main" id="{AD11CE6B-1F35-10CA-93D1-DC7E7FEBDD35}"/>
                </a:ext>
              </a:extLst>
            </p:cNvPr>
            <p:cNvSpPr/>
            <p:nvPr/>
          </p:nvSpPr>
          <p:spPr>
            <a:xfrm>
              <a:off x="13090029" y="4818473"/>
              <a:ext cx="4496284" cy="227180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41" name="Text 29">
              <a:extLst>
                <a:ext uri="{FF2B5EF4-FFF2-40B4-BE49-F238E27FC236}">
                  <a16:creationId xmlns:a16="http://schemas.microsoft.com/office/drawing/2014/main" id="{1571D92E-A5D5-72CC-AF6C-D9475E19AC82}"/>
                </a:ext>
              </a:extLst>
            </p:cNvPr>
            <p:cNvSpPr/>
            <p:nvPr/>
          </p:nvSpPr>
          <p:spPr>
            <a:xfrm>
              <a:off x="13166229" y="4837523"/>
              <a:ext cx="4456560" cy="22718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</a:t>
              </a:r>
              <a:r>
                <a:rPr lang="en-US" sz="1650" dirty="0" err="1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commentary_average_intro</a:t>
              </a: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}}</a:t>
              </a:r>
              <a:endParaRPr lang="en-US" sz="1650" dirty="0">
                <a:latin typeface="DM Sans 14pt" pitchFamily="2" charset="77"/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08F6264-FBAD-54CE-52EB-0A0362E58E2C}"/>
              </a:ext>
            </a:extLst>
          </p:cNvPr>
          <p:cNvGrpSpPr/>
          <p:nvPr/>
        </p:nvGrpSpPr>
        <p:grpSpPr>
          <a:xfrm>
            <a:off x="12995755" y="5271442"/>
            <a:ext cx="4742571" cy="1281600"/>
            <a:chOff x="13356729" y="5341306"/>
            <a:chExt cx="4397870" cy="228600"/>
          </a:xfrm>
        </p:grpSpPr>
        <p:sp>
          <p:nvSpPr>
            <p:cNvPr id="46" name="Shape 30">
              <a:extLst>
                <a:ext uri="{FF2B5EF4-FFF2-40B4-BE49-F238E27FC236}">
                  <a16:creationId xmlns:a16="http://schemas.microsoft.com/office/drawing/2014/main" id="{BC486ACB-7DD7-21F6-B0FC-03635C87339A}"/>
                </a:ext>
              </a:extLst>
            </p:cNvPr>
            <p:cNvSpPr/>
            <p:nvPr/>
          </p:nvSpPr>
          <p:spPr>
            <a:xfrm>
              <a:off x="13356729" y="5341306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47" name="Text 31">
              <a:extLst>
                <a:ext uri="{FF2B5EF4-FFF2-40B4-BE49-F238E27FC236}">
                  <a16:creationId xmlns:a16="http://schemas.microsoft.com/office/drawing/2014/main" id="{0A27667C-AE1A-C941-C77C-D48D2F6A7F1B}"/>
                </a:ext>
              </a:extLst>
            </p:cNvPr>
            <p:cNvSpPr/>
            <p:nvPr/>
          </p:nvSpPr>
          <p:spPr>
            <a:xfrm>
              <a:off x="13432928" y="5360356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{{commentary_average_point_1}}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03F13EB-9A41-8B39-948C-4018EC1E8FD1}"/>
              </a:ext>
            </a:extLst>
          </p:cNvPr>
          <p:cNvGrpSpPr/>
          <p:nvPr/>
        </p:nvGrpSpPr>
        <p:grpSpPr>
          <a:xfrm>
            <a:off x="12995755" y="6662597"/>
            <a:ext cx="4742571" cy="1281174"/>
            <a:chOff x="13356729" y="7948173"/>
            <a:chExt cx="4397870" cy="22860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DEF387C-5013-25D7-982E-02BE79CD5688}"/>
                </a:ext>
              </a:extLst>
            </p:cNvPr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53EF3706-9DC4-A227-B649-4B649FA27816}"/>
                </a:ext>
              </a:extLst>
            </p:cNvPr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{{commentary_average_point_2}}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sp>
        <p:nvSpPr>
          <p:cNvPr id="52" name="Shape 28">
            <a:extLst>
              <a:ext uri="{FF2B5EF4-FFF2-40B4-BE49-F238E27FC236}">
                <a16:creationId xmlns:a16="http://schemas.microsoft.com/office/drawing/2014/main" id="{6E1337BE-457A-B636-2A43-3B1372F7401D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3" name="Text 29">
            <a:extLst>
              <a:ext uri="{FF2B5EF4-FFF2-40B4-BE49-F238E27FC236}">
                <a16:creationId xmlns:a16="http://schemas.microsoft.com/office/drawing/2014/main" id="{C5B7EE4E-BC74-A82F-654D-A92ECF80A6A6}"/>
              </a:ext>
            </a:extLst>
          </p:cNvPr>
          <p:cNvSpPr/>
          <p:nvPr/>
        </p:nvSpPr>
        <p:spPr>
          <a:xfrm>
            <a:off x="13075459" y="1989865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{{</a:t>
            </a:r>
            <a:r>
              <a:rPr lang="en-GB" sz="1650" b="0" i="0" dirty="0" err="1">
                <a:solidFill>
                  <a:srgbClr val="643791"/>
                </a:solidFill>
                <a:effectLst/>
                <a:latin typeface="DM Sans 14pt" pitchFamily="2" charset="77"/>
              </a:rPr>
              <a:t>chart_explainer_benchmark_average</a:t>
            </a:r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4781B945-2946-0799-CAA7-A6CBCB58821A}"/>
              </a:ext>
            </a:extLst>
          </p:cNvPr>
          <p:cNvSpPr/>
          <p:nvPr/>
        </p:nvSpPr>
        <p:spPr>
          <a:xfrm>
            <a:off x="6546937" y="-2453221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dirty="0">
                <a:solidFill>
                  <a:srgbClr val="643791"/>
                </a:solidFill>
                <a:latin typeface="DM Sans 14pt" pitchFamily="2" charset="77"/>
              </a:rPr>
              <a:t>{{chart_explainer_benchmark_scatter}}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4A8F459-F5C0-90D7-162E-BEA9A56AB013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67" name="Text 3">
              <a:extLst>
                <a:ext uri="{FF2B5EF4-FFF2-40B4-BE49-F238E27FC236}">
                  <a16:creationId xmlns:a16="http://schemas.microsoft.com/office/drawing/2014/main" id="{06DB073C-0DC3-299A-5EB3-6CFA66DF2747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02 · AVERAGE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AA8D2D39-DF50-ADAB-4AB5-294CA052C01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Rolling up all your vacancies into a single average, compared with the benchmark for comparable public sector roles.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210056" y="1883177"/>
            <a:ext cx="2117973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0324356" y="1940327"/>
            <a:ext cx="19655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STACKED BAR · BY JOB TYPE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1338" y="2299503"/>
            <a:ext cx="11592910" cy="6939747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7973" y="2337602"/>
            <a:ext cx="11301956" cy="675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{{chart:postings_by_type}}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3FF78C94-A50F-976C-A980-8C3CAB3F0D3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13A345-0054-39A4-0C63-98B25C9A5BD1}"/>
              </a:ext>
            </a:extLst>
          </p:cNvPr>
          <p:cNvGrpSpPr/>
          <p:nvPr/>
        </p:nvGrpSpPr>
        <p:grpSpPr>
          <a:xfrm>
            <a:off x="12995755" y="3880287"/>
            <a:ext cx="4741200" cy="1281600"/>
            <a:chOff x="13090029" y="4818473"/>
            <a:chExt cx="4532760" cy="246230"/>
          </a:xfrm>
        </p:grpSpPr>
        <p:sp>
          <p:nvSpPr>
            <p:cNvPr id="9" name="Shape 28">
              <a:extLst>
                <a:ext uri="{FF2B5EF4-FFF2-40B4-BE49-F238E27FC236}">
                  <a16:creationId xmlns:a16="http://schemas.microsoft.com/office/drawing/2014/main" id="{CD38405B-7A80-D9F5-43F9-EF7730151C46}"/>
                </a:ext>
              </a:extLst>
            </p:cNvPr>
            <p:cNvSpPr/>
            <p:nvPr/>
          </p:nvSpPr>
          <p:spPr>
            <a:xfrm>
              <a:off x="13090029" y="4818473"/>
              <a:ext cx="4496284" cy="227180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0" name="Text 29">
              <a:extLst>
                <a:ext uri="{FF2B5EF4-FFF2-40B4-BE49-F238E27FC236}">
                  <a16:creationId xmlns:a16="http://schemas.microsoft.com/office/drawing/2014/main" id="{B56B315A-F187-F7ED-885B-B8D508C7BE98}"/>
                </a:ext>
              </a:extLst>
            </p:cNvPr>
            <p:cNvSpPr/>
            <p:nvPr/>
          </p:nvSpPr>
          <p:spPr>
            <a:xfrm>
              <a:off x="13166229" y="4837523"/>
              <a:ext cx="4456560" cy="22718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</a:t>
              </a:r>
              <a:r>
                <a:rPr lang="en-US" sz="1650" dirty="0" err="1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commentary_postings_intro</a:t>
              </a: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}}</a:t>
              </a:r>
              <a:endParaRPr lang="en-US" sz="1650" dirty="0">
                <a:latin typeface="DM Sans 14pt" pitchFamily="2" charset="77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CC261BB-E0D7-9DE1-7D20-5A5E1BB2D6D6}"/>
              </a:ext>
            </a:extLst>
          </p:cNvPr>
          <p:cNvGrpSpPr/>
          <p:nvPr/>
        </p:nvGrpSpPr>
        <p:grpSpPr>
          <a:xfrm>
            <a:off x="12995755" y="5271442"/>
            <a:ext cx="4742571" cy="1281600"/>
            <a:chOff x="13356729" y="5341306"/>
            <a:chExt cx="4397870" cy="228600"/>
          </a:xfrm>
        </p:grpSpPr>
        <p:sp>
          <p:nvSpPr>
            <p:cNvPr id="12" name="Shape 30">
              <a:extLst>
                <a:ext uri="{FF2B5EF4-FFF2-40B4-BE49-F238E27FC236}">
                  <a16:creationId xmlns:a16="http://schemas.microsoft.com/office/drawing/2014/main" id="{36B729F7-3A69-5881-97D9-C59766E932D7}"/>
                </a:ext>
              </a:extLst>
            </p:cNvPr>
            <p:cNvSpPr/>
            <p:nvPr/>
          </p:nvSpPr>
          <p:spPr>
            <a:xfrm>
              <a:off x="13356729" y="5341306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3" name="Text 31">
              <a:extLst>
                <a:ext uri="{FF2B5EF4-FFF2-40B4-BE49-F238E27FC236}">
                  <a16:creationId xmlns:a16="http://schemas.microsoft.com/office/drawing/2014/main" id="{9E590A64-0645-AD99-A7B4-FA8D9F387C0D}"/>
                </a:ext>
              </a:extLst>
            </p:cNvPr>
            <p:cNvSpPr/>
            <p:nvPr/>
          </p:nvSpPr>
          <p:spPr>
            <a:xfrm>
              <a:off x="13432928" y="5360356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{{commentary_postings_point_1}}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968A50F-C795-8A7F-35AC-B2F2AC664027}"/>
              </a:ext>
            </a:extLst>
          </p:cNvPr>
          <p:cNvGrpSpPr/>
          <p:nvPr/>
        </p:nvGrpSpPr>
        <p:grpSpPr>
          <a:xfrm>
            <a:off x="12995755" y="6662597"/>
            <a:ext cx="4742571" cy="1281174"/>
            <a:chOff x="13356729" y="7948173"/>
            <a:chExt cx="4397870" cy="228600"/>
          </a:xfrm>
        </p:grpSpPr>
        <p:sp>
          <p:nvSpPr>
            <p:cNvPr id="15" name="Shape 32">
              <a:extLst>
                <a:ext uri="{FF2B5EF4-FFF2-40B4-BE49-F238E27FC236}">
                  <a16:creationId xmlns:a16="http://schemas.microsoft.com/office/drawing/2014/main" id="{62C2C6E1-4CAF-1AA6-2366-B71F536E616E}"/>
                </a:ext>
              </a:extLst>
            </p:cNvPr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6" name="Text 33">
              <a:extLst>
                <a:ext uri="{FF2B5EF4-FFF2-40B4-BE49-F238E27FC236}">
                  <a16:creationId xmlns:a16="http://schemas.microsoft.com/office/drawing/2014/main" id="{71C20AF3-3640-6A1F-60D5-DC7DB56D2307}"/>
                </a:ext>
              </a:extLst>
            </p:cNvPr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{{commentary_postings_point_2}}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1B04E4F-B16F-8C28-63EE-F8117AC549F7}"/>
              </a:ext>
            </a:extLst>
          </p:cNvPr>
          <p:cNvGrpSpPr/>
          <p:nvPr/>
        </p:nvGrpSpPr>
        <p:grpSpPr>
          <a:xfrm>
            <a:off x="12995755" y="1890712"/>
            <a:ext cx="4741200" cy="1281600"/>
            <a:chOff x="13090027" y="1890712"/>
            <a:chExt cx="4741200" cy="1281600"/>
          </a:xfrm>
        </p:grpSpPr>
        <p:sp>
          <p:nvSpPr>
            <p:cNvPr id="18" name="Shape 28">
              <a:extLst>
                <a:ext uri="{FF2B5EF4-FFF2-40B4-BE49-F238E27FC236}">
                  <a16:creationId xmlns:a16="http://schemas.microsoft.com/office/drawing/2014/main" id="{B062927B-9F35-2BF4-1AC4-64F9583E72B9}"/>
                </a:ext>
              </a:extLst>
            </p:cNvPr>
            <p:cNvSpPr/>
            <p:nvPr/>
          </p:nvSpPr>
          <p:spPr>
            <a:xfrm>
              <a:off x="13090027" y="1890712"/>
              <a:ext cx="4703047" cy="1182447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9" name="Text 29">
              <a:extLst>
                <a:ext uri="{FF2B5EF4-FFF2-40B4-BE49-F238E27FC236}">
                  <a16:creationId xmlns:a16="http://schemas.microsoft.com/office/drawing/2014/main" id="{F0A9717D-6108-FE6E-8D5C-6389EABDE4A9}"/>
                </a:ext>
              </a:extLst>
            </p:cNvPr>
            <p:cNvSpPr/>
            <p:nvPr/>
          </p:nvSpPr>
          <p:spPr>
            <a:xfrm>
              <a:off x="13169731" y="1989865"/>
              <a:ext cx="4661496" cy="118244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{{</a:t>
              </a:r>
              <a:r>
                <a:rPr lang="en-GB" sz="1650" dirty="0" err="1">
                  <a:solidFill>
                    <a:srgbClr val="643791"/>
                  </a:solidFill>
                  <a:latin typeface="DM Sans 14pt" pitchFamily="2" charset="77"/>
                </a:rPr>
                <a:t>chart_explainer_postings_by_type</a:t>
              </a:r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}}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313A4E-6410-2708-0A46-7A596DFFE2C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62BE7D87-7869-8168-6968-EDBE76A419E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03 · JOB POSTINGS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649E6B38-9A71-39CC-9327-91FE0E05FC5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Postings broken down by job type. A role can appear in more than one category, so totals may exceed unique jobs posted. Low-volume categories are excluded.</a:t>
              </a:r>
              <a:endParaRPr lang="en-US" sz="1350" dirty="0">
                <a:latin typeface="DM Sans 14pt" pitchFamily="2" charset="77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88847" y="2900362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820110" y="2976564"/>
            <a:ext cx="2699742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967718" y="3014664"/>
            <a:ext cx="255213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BAR · COST PER APPLY BY CATEGORY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5441" y="3081338"/>
            <a:ext cx="2607164" cy="6157912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5591" y="3205164"/>
            <a:ext cx="2440558" cy="5917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3042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CC3A9E5C-B88E-E185-8372-EE03F5A2B5D7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2836D9AC-24FD-DBDE-86B8-01457B5CE080}"/>
              </a:ext>
            </a:extLst>
          </p:cNvPr>
          <p:cNvSpPr/>
          <p:nvPr/>
        </p:nvSpPr>
        <p:spPr>
          <a:xfrm>
            <a:off x="915592" y="1981200"/>
            <a:ext cx="1449807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8AFAD58A-4779-D711-EF93-CF70613B8328}"/>
              </a:ext>
            </a:extLst>
          </p:cNvPr>
          <p:cNvSpPr/>
          <p:nvPr/>
        </p:nvSpPr>
        <p:spPr>
          <a:xfrm>
            <a:off x="915591" y="1904918"/>
            <a:ext cx="188604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{{stat_total_jobs}}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9192B9F2-E9FB-1E01-247F-21B731030822}"/>
              </a:ext>
            </a:extLst>
          </p:cNvPr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0CA462F-47A2-539D-4291-F1CD13DCC540}"/>
              </a:ext>
            </a:extLst>
          </p:cNvPr>
          <p:cNvSpPr/>
          <p:nvPr/>
        </p:nvSpPr>
        <p:spPr>
          <a:xfrm>
            <a:off x="3905446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+</a:t>
            </a:r>
            <a:endParaRPr lang="en-US" sz="2250" dirty="0">
              <a:latin typeface="DM Sans 14pt" pitchFamily="2" charset="77"/>
            </a:endParaRPr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E8EC669E-B281-D005-F716-5E6DA02F3AF4}"/>
              </a:ext>
            </a:extLst>
          </p:cNvPr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2F73C7D4-3186-84A0-40C8-8F61C92D93B1}"/>
              </a:ext>
            </a:extLst>
          </p:cNvPr>
          <p:cNvSpPr/>
          <p:nvPr/>
        </p:nvSpPr>
        <p:spPr>
          <a:xfrm>
            <a:off x="4148502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stat_cost_per_job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9F8B3AB7-9523-34C1-645F-B8C4D2A44E0B}"/>
              </a:ext>
            </a:extLst>
          </p:cNvPr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2298B627-B84D-2E7B-AE52-3CECED5E4F0E}"/>
              </a:ext>
            </a:extLst>
          </p:cNvPr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C3B1C651-D76C-3D27-08A2-7C8E9CBAFBD7}"/>
              </a:ext>
            </a:extLst>
          </p:cNvPr>
          <p:cNvSpPr/>
          <p:nvPr/>
        </p:nvSpPr>
        <p:spPr>
          <a:xfrm>
            <a:off x="6963564" y="1949450"/>
            <a:ext cx="1934452" cy="374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1125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63CBE318-EEF2-7156-C72F-2878779B5DD4}"/>
              </a:ext>
            </a:extLst>
          </p:cNvPr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53" name="Shape 10">
            <a:extLst>
              <a:ext uri="{FF2B5EF4-FFF2-40B4-BE49-F238E27FC236}">
                <a16:creationId xmlns:a16="http://schemas.microsoft.com/office/drawing/2014/main" id="{57A6C571-1EC7-020A-154F-EC030A036EA9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4" name="Text 11">
            <a:extLst>
              <a:ext uri="{FF2B5EF4-FFF2-40B4-BE49-F238E27FC236}">
                <a16:creationId xmlns:a16="http://schemas.microsoft.com/office/drawing/2014/main" id="{94D51E3C-6092-E7D7-C249-4FF59454B526}"/>
              </a:ext>
            </a:extLst>
          </p:cNvPr>
          <p:cNvSpPr/>
          <p:nvPr/>
        </p:nvSpPr>
        <p:spPr>
          <a:xfrm>
            <a:off x="9852530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+</a:t>
            </a:r>
            <a:endParaRPr lang="en-US" sz="2250" dirty="0">
              <a:latin typeface="DM Sans 14pt" pitchFamily="2" charset="77"/>
            </a:endParaRPr>
          </a:p>
        </p:txBody>
      </p:sp>
      <p:sp>
        <p:nvSpPr>
          <p:cNvPr id="55" name="Shape 12">
            <a:extLst>
              <a:ext uri="{FF2B5EF4-FFF2-40B4-BE49-F238E27FC236}">
                <a16:creationId xmlns:a16="http://schemas.microsoft.com/office/drawing/2014/main" id="{BBAEC2AE-31B6-408B-3044-63A60B8B67FC}"/>
              </a:ext>
            </a:extLst>
          </p:cNvPr>
          <p:cNvSpPr/>
          <p:nvPr/>
        </p:nvSpPr>
        <p:spPr>
          <a:xfrm>
            <a:off x="10027322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178D26F2-32CF-63D1-0AE3-7BAA3734AB74}"/>
              </a:ext>
            </a:extLst>
          </p:cNvPr>
          <p:cNvSpPr/>
          <p:nvPr/>
        </p:nvSpPr>
        <p:spPr>
          <a:xfrm>
            <a:off x="10095586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stat_cost_per_apply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9775CBD7-A12C-E553-E3CF-DE9BADCFFB83}"/>
              </a:ext>
            </a:extLst>
          </p:cNvPr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JOB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51C4B41E-6F28-3706-46B1-33C7347B9EE7}"/>
              </a:ext>
            </a:extLst>
          </p:cNvPr>
          <p:cNvSpPr/>
          <p:nvPr/>
        </p:nvSpPr>
        <p:spPr>
          <a:xfrm>
            <a:off x="888847" y="2252662"/>
            <a:ext cx="207531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ADVERTISED THIS PERIOD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03FF3443-5D4F-C6E1-7E90-F0F17F8319F8}"/>
              </a:ext>
            </a:extLst>
          </p:cNvPr>
          <p:cNvSpPr/>
          <p:nvPr/>
        </p:nvSpPr>
        <p:spPr>
          <a:xfrm>
            <a:off x="9754649" y="2406650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APPLY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E3916DC2-DB39-47D8-75A9-BD1F5FA1D75B}"/>
              </a:ext>
            </a:extLst>
          </p:cNvPr>
          <p:cNvSpPr/>
          <p:nvPr/>
        </p:nvSpPr>
        <p:spPr>
          <a:xfrm>
            <a:off x="3905446" y="3382171"/>
            <a:ext cx="8349616" cy="5740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00E9CB72-1B10-A610-AE07-711C77F3054B}"/>
              </a:ext>
            </a:extLst>
          </p:cNvPr>
          <p:cNvSpPr/>
          <p:nvPr/>
        </p:nvSpPr>
        <p:spPr>
          <a:xfrm>
            <a:off x="6590859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sz="1050" dirty="0">
              <a:latin typeface="DM Sans 14pt" pitchFamily="2" charset="77"/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5552833-C70E-BB8F-DB30-8A47BE513C6D}"/>
              </a:ext>
            </a:extLst>
          </p:cNvPr>
          <p:cNvGrpSpPr/>
          <p:nvPr/>
        </p:nvGrpSpPr>
        <p:grpSpPr>
          <a:xfrm>
            <a:off x="12995755" y="4782151"/>
            <a:ext cx="4742571" cy="4552349"/>
            <a:chOff x="12995755" y="4899067"/>
            <a:chExt cx="4742571" cy="4552349"/>
          </a:xfrm>
        </p:grpSpPr>
        <p:sp>
          <p:nvSpPr>
            <p:cNvPr id="10" name="Text 27">
              <a:extLst>
                <a:ext uri="{FF2B5EF4-FFF2-40B4-BE49-F238E27FC236}">
                  <a16:creationId xmlns:a16="http://schemas.microsoft.com/office/drawing/2014/main" id="{C5697E3F-850F-2F5E-151D-312EC56A7E9F}"/>
                </a:ext>
              </a:extLst>
            </p:cNvPr>
            <p:cNvSpPr/>
            <p:nvPr/>
          </p:nvSpPr>
          <p:spPr>
            <a:xfrm>
              <a:off x="12995755" y="4899067"/>
              <a:ext cx="4741200" cy="48886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2400" b="1" kern="0" spc="368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COMMENTARY</a:t>
              </a:r>
              <a:endParaRPr lang="en-US" sz="2400" b="1" dirty="0">
                <a:latin typeface="DM Sans 14pt" pitchFamily="2" charset="77"/>
              </a:endParaRP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59D761A-CD04-CAA1-20E9-4AF75B79DE68}"/>
                </a:ext>
              </a:extLst>
            </p:cNvPr>
            <p:cNvGrpSpPr/>
            <p:nvPr/>
          </p:nvGrpSpPr>
          <p:grpSpPr>
            <a:xfrm>
              <a:off x="12995755" y="5387932"/>
              <a:ext cx="4741200" cy="1281600"/>
              <a:chOff x="13090029" y="4818473"/>
              <a:chExt cx="4532760" cy="246230"/>
            </a:xfrm>
          </p:grpSpPr>
          <p:sp>
            <p:nvSpPr>
              <p:cNvPr id="12" name="Shape 28">
                <a:extLst>
                  <a:ext uri="{FF2B5EF4-FFF2-40B4-BE49-F238E27FC236}">
                    <a16:creationId xmlns:a16="http://schemas.microsoft.com/office/drawing/2014/main" id="{83F6394D-8B8D-2F71-BE18-2B217EA0B79E}"/>
                  </a:ext>
                </a:extLst>
              </p:cNvPr>
              <p:cNvSpPr/>
              <p:nvPr/>
            </p:nvSpPr>
            <p:spPr>
              <a:xfrm>
                <a:off x="13090029" y="4818473"/>
                <a:ext cx="4496284" cy="227180"/>
              </a:xfrm>
              <a:prstGeom prst="roundRect">
                <a:avLst>
                  <a:gd name="adj" fmla="val 14191"/>
                </a:avLst>
              </a:prstGeom>
              <a:solidFill>
                <a:srgbClr val="643791">
                  <a:alpha val="8000"/>
                </a:srgbClr>
              </a:solidFill>
              <a:ln/>
            </p:spPr>
            <p:txBody>
              <a:bodyPr/>
              <a:lstStyle/>
              <a:p>
                <a:endParaRPr lang="en-GB">
                  <a:latin typeface="DM Sans 14pt" pitchFamily="2" charset="77"/>
                </a:endParaRPr>
              </a:p>
            </p:txBody>
          </p:sp>
          <p:sp>
            <p:nvSpPr>
              <p:cNvPr id="13" name="Text 29">
                <a:extLst>
                  <a:ext uri="{FF2B5EF4-FFF2-40B4-BE49-F238E27FC236}">
                    <a16:creationId xmlns:a16="http://schemas.microsoft.com/office/drawing/2014/main" id="{DA1137CA-0FDE-1DC4-3AAF-5CC3AD6C4C4B}"/>
                  </a:ext>
                </a:extLst>
              </p:cNvPr>
              <p:cNvSpPr/>
              <p:nvPr/>
            </p:nvSpPr>
            <p:spPr>
              <a:xfrm>
                <a:off x="13166229" y="4837523"/>
                <a:ext cx="4456560" cy="22718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1650" dirty="0">
                    <a:solidFill>
                      <a:srgbClr val="643791"/>
                    </a:solidFill>
                    <a:latin typeface="DM Sans 14pt" pitchFamily="2" charset="77"/>
                    <a:ea typeface="Arial" pitchFamily="34" charset="-122"/>
                    <a:cs typeface="Arial" pitchFamily="34" charset="-120"/>
                  </a:rPr>
                  <a:t>{{</a:t>
                </a:r>
                <a:r>
                  <a:rPr lang="en-US" sz="1650" dirty="0" err="1">
                    <a:solidFill>
                      <a:srgbClr val="643791"/>
                    </a:solidFill>
                    <a:latin typeface="DM Sans 14pt" pitchFamily="2" charset="77"/>
                    <a:ea typeface="Arial" pitchFamily="34" charset="-122"/>
                    <a:cs typeface="Arial" pitchFamily="34" charset="-120"/>
                  </a:rPr>
                  <a:t>commentary_roi_intro</a:t>
                </a:r>
                <a:r>
                  <a:rPr lang="en-US" sz="1650" dirty="0">
                    <a:solidFill>
                      <a:srgbClr val="643791"/>
                    </a:solidFill>
                    <a:latin typeface="DM Sans 14pt" pitchFamily="2" charset="77"/>
                    <a:ea typeface="Arial" pitchFamily="34" charset="-122"/>
                    <a:cs typeface="Arial" pitchFamily="34" charset="-120"/>
                  </a:rPr>
                  <a:t>}}</a:t>
                </a:r>
                <a:endParaRPr lang="en-US" sz="1650" dirty="0">
                  <a:latin typeface="DM Sans 14pt" pitchFamily="2" charset="77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14F9F58-79D2-B499-FCE2-A4758366A753}"/>
                </a:ext>
              </a:extLst>
            </p:cNvPr>
            <p:cNvGrpSpPr/>
            <p:nvPr/>
          </p:nvGrpSpPr>
          <p:grpSpPr>
            <a:xfrm>
              <a:off x="12995755" y="6779087"/>
              <a:ext cx="4742571" cy="1281600"/>
              <a:chOff x="13356729" y="5341306"/>
              <a:chExt cx="4397870" cy="228600"/>
            </a:xfrm>
          </p:grpSpPr>
          <p:sp>
            <p:nvSpPr>
              <p:cNvPr id="15" name="Shape 30">
                <a:extLst>
                  <a:ext uri="{FF2B5EF4-FFF2-40B4-BE49-F238E27FC236}">
                    <a16:creationId xmlns:a16="http://schemas.microsoft.com/office/drawing/2014/main" id="{E4C5A338-6F10-3BF6-0BBD-F2AF144F8E1C}"/>
                  </a:ext>
                </a:extLst>
              </p:cNvPr>
              <p:cNvSpPr/>
              <p:nvPr/>
            </p:nvSpPr>
            <p:spPr>
              <a:xfrm>
                <a:off x="13356729" y="5341306"/>
                <a:ext cx="4365324" cy="209550"/>
              </a:xfrm>
              <a:prstGeom prst="roundRect">
                <a:avLst>
                  <a:gd name="adj" fmla="val 15385"/>
                </a:avLst>
              </a:prstGeom>
              <a:solidFill>
                <a:srgbClr val="643791">
                  <a:alpha val="8000"/>
                </a:srgbClr>
              </a:solidFill>
              <a:ln/>
            </p:spPr>
            <p:txBody>
              <a:bodyPr/>
              <a:lstStyle/>
              <a:p>
                <a:endParaRPr lang="en-GB">
                  <a:latin typeface="DM Sans 14pt" pitchFamily="2" charset="77"/>
                </a:endParaRPr>
              </a:p>
            </p:txBody>
          </p:sp>
          <p:sp>
            <p:nvSpPr>
              <p:cNvPr id="16" name="Text 31">
                <a:extLst>
                  <a:ext uri="{FF2B5EF4-FFF2-40B4-BE49-F238E27FC236}">
                    <a16:creationId xmlns:a16="http://schemas.microsoft.com/office/drawing/2014/main" id="{A840C745-C345-7CFB-048E-925F87EF0CA0}"/>
                  </a:ext>
                </a:extLst>
              </p:cNvPr>
              <p:cNvSpPr/>
              <p:nvPr/>
            </p:nvSpPr>
            <p:spPr>
              <a:xfrm>
                <a:off x="13432928" y="5360356"/>
                <a:ext cx="4321671" cy="20955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1500" dirty="0">
                    <a:solidFill>
                      <a:srgbClr val="643791"/>
                    </a:solidFill>
                    <a:latin typeface="DM Sans 14pt" pitchFamily="2" charset="77"/>
                    <a:ea typeface="Arial" pitchFamily="34" charset="-122"/>
                    <a:cs typeface="Arial" pitchFamily="34" charset="-120"/>
                  </a:rPr>
                  <a:t>{{commentary_roi_point_1}}</a:t>
                </a:r>
                <a:endParaRPr lang="en-US" sz="1500" dirty="0">
                  <a:latin typeface="DM Sans 14pt" pitchFamily="2" charset="77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F1FD0BC-0B4A-AC73-2ED2-E85F1C460F39}"/>
                </a:ext>
              </a:extLst>
            </p:cNvPr>
            <p:cNvGrpSpPr/>
            <p:nvPr/>
          </p:nvGrpSpPr>
          <p:grpSpPr>
            <a:xfrm>
              <a:off x="12995755" y="8170242"/>
              <a:ext cx="4742571" cy="1281174"/>
              <a:chOff x="13356729" y="7948173"/>
              <a:chExt cx="4397870" cy="228600"/>
            </a:xfrm>
          </p:grpSpPr>
          <p:sp>
            <p:nvSpPr>
              <p:cNvPr id="18" name="Shape 32">
                <a:extLst>
                  <a:ext uri="{FF2B5EF4-FFF2-40B4-BE49-F238E27FC236}">
                    <a16:creationId xmlns:a16="http://schemas.microsoft.com/office/drawing/2014/main" id="{BB3BE6E6-00CA-127E-5168-8756B094DDF2}"/>
                  </a:ext>
                </a:extLst>
              </p:cNvPr>
              <p:cNvSpPr/>
              <p:nvPr/>
            </p:nvSpPr>
            <p:spPr>
              <a:xfrm>
                <a:off x="13356729" y="7948173"/>
                <a:ext cx="4365324" cy="209550"/>
              </a:xfrm>
              <a:prstGeom prst="roundRect">
                <a:avLst>
                  <a:gd name="adj" fmla="val 15385"/>
                </a:avLst>
              </a:prstGeom>
              <a:solidFill>
                <a:srgbClr val="643791">
                  <a:alpha val="8000"/>
                </a:srgbClr>
              </a:solidFill>
              <a:ln/>
            </p:spPr>
            <p:txBody>
              <a:bodyPr/>
              <a:lstStyle/>
              <a:p>
                <a:endParaRPr lang="en-GB">
                  <a:latin typeface="DM Sans 14pt" pitchFamily="2" charset="77"/>
                </a:endParaRPr>
              </a:p>
            </p:txBody>
          </p:sp>
          <p:sp>
            <p:nvSpPr>
              <p:cNvPr id="19" name="Text 33">
                <a:extLst>
                  <a:ext uri="{FF2B5EF4-FFF2-40B4-BE49-F238E27FC236}">
                    <a16:creationId xmlns:a16="http://schemas.microsoft.com/office/drawing/2014/main" id="{9ECC8CE5-9239-82CF-4395-E8DE7B9A0029}"/>
                  </a:ext>
                </a:extLst>
              </p:cNvPr>
              <p:cNvSpPr/>
              <p:nvPr/>
            </p:nvSpPr>
            <p:spPr>
              <a:xfrm>
                <a:off x="13432928" y="7967223"/>
                <a:ext cx="4321671" cy="20955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1500" dirty="0">
                    <a:solidFill>
                      <a:srgbClr val="643791"/>
                    </a:solidFill>
                    <a:latin typeface="DM Sans 14pt" pitchFamily="2" charset="77"/>
                    <a:ea typeface="Arial" pitchFamily="34" charset="-122"/>
                    <a:cs typeface="Arial" pitchFamily="34" charset="-120"/>
                  </a:rPr>
                  <a:t>{{commentary_roi_point_2}}</a:t>
                </a:r>
                <a:endParaRPr lang="en-US" sz="1500" dirty="0">
                  <a:latin typeface="DM Sans 14pt" pitchFamily="2" charset="77"/>
                </a:endParaRP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693A41-39C2-A8B5-8F1F-F42DA3FBA399}"/>
              </a:ext>
            </a:extLst>
          </p:cNvPr>
          <p:cNvGrpSpPr/>
          <p:nvPr/>
        </p:nvGrpSpPr>
        <p:grpSpPr>
          <a:xfrm>
            <a:off x="12995755" y="1890712"/>
            <a:ext cx="4741200" cy="1281600"/>
            <a:chOff x="13090027" y="1890712"/>
            <a:chExt cx="4741200" cy="1281600"/>
          </a:xfrm>
        </p:grpSpPr>
        <p:sp>
          <p:nvSpPr>
            <p:cNvPr id="21" name="Shape 28">
              <a:extLst>
                <a:ext uri="{FF2B5EF4-FFF2-40B4-BE49-F238E27FC236}">
                  <a16:creationId xmlns:a16="http://schemas.microsoft.com/office/drawing/2014/main" id="{6D0424A9-E958-5944-C203-BF2D77DEB55E}"/>
                </a:ext>
              </a:extLst>
            </p:cNvPr>
            <p:cNvSpPr/>
            <p:nvPr/>
          </p:nvSpPr>
          <p:spPr>
            <a:xfrm>
              <a:off x="13090027" y="1890712"/>
              <a:ext cx="4703047" cy="1182447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22" name="Text 29">
              <a:extLst>
                <a:ext uri="{FF2B5EF4-FFF2-40B4-BE49-F238E27FC236}">
                  <a16:creationId xmlns:a16="http://schemas.microsoft.com/office/drawing/2014/main" id="{9192C2C4-2E46-4E08-09A7-E2109DB14EA4}"/>
                </a:ext>
              </a:extLst>
            </p:cNvPr>
            <p:cNvSpPr/>
            <p:nvPr/>
          </p:nvSpPr>
          <p:spPr>
            <a:xfrm>
              <a:off x="13169731" y="1989865"/>
              <a:ext cx="4661496" cy="118244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{{</a:t>
              </a:r>
              <a:r>
                <a:rPr lang="en-GB" sz="1650" dirty="0" err="1">
                  <a:solidFill>
                    <a:srgbClr val="643791"/>
                  </a:solidFill>
                  <a:latin typeface="DM Sans 14pt" pitchFamily="2" charset="77"/>
                </a:rPr>
                <a:t>chart_explainer_spend_vs_ratecard</a:t>
              </a:r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}}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3E8AEA6-519F-6CD9-A9E0-9AF8764F22E7}"/>
              </a:ext>
            </a:extLst>
          </p:cNvPr>
          <p:cNvGrpSpPr/>
          <p:nvPr/>
        </p:nvGrpSpPr>
        <p:grpSpPr>
          <a:xfrm>
            <a:off x="12957602" y="3336432"/>
            <a:ext cx="4741200" cy="1281600"/>
            <a:chOff x="13090027" y="1890712"/>
            <a:chExt cx="4741200" cy="1281600"/>
          </a:xfrm>
        </p:grpSpPr>
        <p:sp>
          <p:nvSpPr>
            <p:cNvPr id="65" name="Shape 28">
              <a:extLst>
                <a:ext uri="{FF2B5EF4-FFF2-40B4-BE49-F238E27FC236}">
                  <a16:creationId xmlns:a16="http://schemas.microsoft.com/office/drawing/2014/main" id="{F71A69BB-30EF-C953-A8C6-CC84B32402CE}"/>
                </a:ext>
              </a:extLst>
            </p:cNvPr>
            <p:cNvSpPr/>
            <p:nvPr/>
          </p:nvSpPr>
          <p:spPr>
            <a:xfrm>
              <a:off x="13090027" y="1890712"/>
              <a:ext cx="4703047" cy="1182447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66" name="Text 29">
              <a:extLst>
                <a:ext uri="{FF2B5EF4-FFF2-40B4-BE49-F238E27FC236}">
                  <a16:creationId xmlns:a16="http://schemas.microsoft.com/office/drawing/2014/main" id="{CE831AF1-4DDE-C594-92DB-FFDFFA686576}"/>
                </a:ext>
              </a:extLst>
            </p:cNvPr>
            <p:cNvSpPr/>
            <p:nvPr/>
          </p:nvSpPr>
          <p:spPr>
            <a:xfrm>
              <a:off x="13169731" y="1989865"/>
              <a:ext cx="4661496" cy="118244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{{</a:t>
              </a:r>
              <a:r>
                <a:rPr lang="en-GB" sz="1650" dirty="0" err="1">
                  <a:solidFill>
                    <a:srgbClr val="643791"/>
                  </a:solidFill>
                  <a:latin typeface="DM Sans 14pt" pitchFamily="2" charset="77"/>
                </a:rPr>
                <a:t>chart_explainer_cost_per_app_by_occupation</a:t>
              </a:r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}}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1A8DE3-F679-88CA-1912-74D209B5D55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0" name="Text 3">
              <a:extLst>
                <a:ext uri="{FF2B5EF4-FFF2-40B4-BE49-F238E27FC236}">
                  <a16:creationId xmlns:a16="http://schemas.microsoft.com/office/drawing/2014/main" id="{A5DE5FD6-3A8E-E663-3EA5-D6DE5AEB793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04 · ADVERTISING ROI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C1A58630-5592-79B1-CDE4-AE68E9BF3409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20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The value your subscription delivered, compared with the equivalent rate card cost of posting each role individually.</a:t>
              </a:r>
              <a:endParaRPr lang="en-US" sz="1200" dirty="0">
                <a:latin typeface="DM Sans 14pt" pitchFamily="2" charset="77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09750"/>
            <a:ext cx="11756529" cy="75247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66800" y="2057401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805839" y="2014538"/>
            <a:ext cx="2522190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920139" y="2071688"/>
            <a:ext cx="236979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GROUPED BAR · BY MEDIA SOURCE</a:t>
            </a:r>
            <a:endParaRPr lang="en-US" sz="825" dirty="0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72359" y="2333626"/>
            <a:ext cx="11571889" cy="6905623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{{chart:media_performance}}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07295" y="6367463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23CA7696-0FAD-7A69-113D-3015E31E27A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167671-FC1B-AD8B-47A5-C64D88CBCE64}"/>
              </a:ext>
            </a:extLst>
          </p:cNvPr>
          <p:cNvGrpSpPr/>
          <p:nvPr/>
        </p:nvGrpSpPr>
        <p:grpSpPr>
          <a:xfrm>
            <a:off x="12995755" y="3880287"/>
            <a:ext cx="4741200" cy="1281600"/>
            <a:chOff x="13090029" y="4818473"/>
            <a:chExt cx="4532760" cy="246230"/>
          </a:xfrm>
        </p:grpSpPr>
        <p:sp>
          <p:nvSpPr>
            <p:cNvPr id="9" name="Shape 28">
              <a:extLst>
                <a:ext uri="{FF2B5EF4-FFF2-40B4-BE49-F238E27FC236}">
                  <a16:creationId xmlns:a16="http://schemas.microsoft.com/office/drawing/2014/main" id="{920950EF-86C0-4C53-171E-03E2D25359FB}"/>
                </a:ext>
              </a:extLst>
            </p:cNvPr>
            <p:cNvSpPr/>
            <p:nvPr/>
          </p:nvSpPr>
          <p:spPr>
            <a:xfrm>
              <a:off x="13090029" y="4818473"/>
              <a:ext cx="4496284" cy="227180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0" name="Text 29">
              <a:extLst>
                <a:ext uri="{FF2B5EF4-FFF2-40B4-BE49-F238E27FC236}">
                  <a16:creationId xmlns:a16="http://schemas.microsoft.com/office/drawing/2014/main" id="{8992F2D1-F808-4008-ED03-6D4AC5DA309E}"/>
                </a:ext>
              </a:extLst>
            </p:cNvPr>
            <p:cNvSpPr/>
            <p:nvPr/>
          </p:nvSpPr>
          <p:spPr>
            <a:xfrm>
              <a:off x="13166229" y="4837523"/>
              <a:ext cx="4456560" cy="22718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</a:t>
              </a:r>
              <a:r>
                <a:rPr lang="en-US" sz="1650" dirty="0" err="1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commentary_media_intro</a:t>
              </a:r>
              <a:r>
                <a:rPr lang="en-US" sz="165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}}</a:t>
              </a:r>
              <a:endParaRPr lang="en-US" sz="1650" dirty="0">
                <a:latin typeface="DM Sans 14pt" pitchFamily="2" charset="77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D0A1F0-BEAF-2888-ED73-52EBA041B5CC}"/>
              </a:ext>
            </a:extLst>
          </p:cNvPr>
          <p:cNvGrpSpPr/>
          <p:nvPr/>
        </p:nvGrpSpPr>
        <p:grpSpPr>
          <a:xfrm>
            <a:off x="12995755" y="5271442"/>
            <a:ext cx="4742571" cy="1281600"/>
            <a:chOff x="13356729" y="5341306"/>
            <a:chExt cx="4397870" cy="228600"/>
          </a:xfrm>
        </p:grpSpPr>
        <p:sp>
          <p:nvSpPr>
            <p:cNvPr id="12" name="Shape 30">
              <a:extLst>
                <a:ext uri="{FF2B5EF4-FFF2-40B4-BE49-F238E27FC236}">
                  <a16:creationId xmlns:a16="http://schemas.microsoft.com/office/drawing/2014/main" id="{3E1BE4B2-6481-8DB3-3CA9-75F35C91DA9C}"/>
                </a:ext>
              </a:extLst>
            </p:cNvPr>
            <p:cNvSpPr/>
            <p:nvPr/>
          </p:nvSpPr>
          <p:spPr>
            <a:xfrm>
              <a:off x="13356729" y="5341306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3" name="Text 31">
              <a:extLst>
                <a:ext uri="{FF2B5EF4-FFF2-40B4-BE49-F238E27FC236}">
                  <a16:creationId xmlns:a16="http://schemas.microsoft.com/office/drawing/2014/main" id="{D1BABB9F-671B-3577-BF24-54206373BFC3}"/>
                </a:ext>
              </a:extLst>
            </p:cNvPr>
            <p:cNvSpPr/>
            <p:nvPr/>
          </p:nvSpPr>
          <p:spPr>
            <a:xfrm>
              <a:off x="13432928" y="5360356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{{commentary_media_point_1}}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4012C7-AF76-3AAF-A6A7-01D72A2F4ABA}"/>
              </a:ext>
            </a:extLst>
          </p:cNvPr>
          <p:cNvGrpSpPr/>
          <p:nvPr/>
        </p:nvGrpSpPr>
        <p:grpSpPr>
          <a:xfrm>
            <a:off x="12995755" y="6662597"/>
            <a:ext cx="4742571" cy="1281174"/>
            <a:chOff x="13356729" y="7948173"/>
            <a:chExt cx="4397870" cy="228600"/>
          </a:xfrm>
        </p:grpSpPr>
        <p:sp>
          <p:nvSpPr>
            <p:cNvPr id="15" name="Shape 32">
              <a:extLst>
                <a:ext uri="{FF2B5EF4-FFF2-40B4-BE49-F238E27FC236}">
                  <a16:creationId xmlns:a16="http://schemas.microsoft.com/office/drawing/2014/main" id="{D980B683-AC2E-6F6D-47F3-939BDCACDA6F}"/>
                </a:ext>
              </a:extLst>
            </p:cNvPr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6" name="Text 33">
              <a:extLst>
                <a:ext uri="{FF2B5EF4-FFF2-40B4-BE49-F238E27FC236}">
                  <a16:creationId xmlns:a16="http://schemas.microsoft.com/office/drawing/2014/main" id="{F47CC696-18CB-9CBF-3FA2-8E64B632A415}"/>
                </a:ext>
              </a:extLst>
            </p:cNvPr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{{commentary_media_point_2}}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65C889A-8EEE-1CE3-232E-3B0C1A4C24EA}"/>
              </a:ext>
            </a:extLst>
          </p:cNvPr>
          <p:cNvGrpSpPr/>
          <p:nvPr/>
        </p:nvGrpSpPr>
        <p:grpSpPr>
          <a:xfrm>
            <a:off x="12995755" y="1890712"/>
            <a:ext cx="4741200" cy="1281600"/>
            <a:chOff x="13090027" y="1890712"/>
            <a:chExt cx="4741200" cy="1281600"/>
          </a:xfrm>
        </p:grpSpPr>
        <p:sp>
          <p:nvSpPr>
            <p:cNvPr id="18" name="Shape 28">
              <a:extLst>
                <a:ext uri="{FF2B5EF4-FFF2-40B4-BE49-F238E27FC236}">
                  <a16:creationId xmlns:a16="http://schemas.microsoft.com/office/drawing/2014/main" id="{3461690E-5EBE-6686-6107-63D8CFF5053E}"/>
                </a:ext>
              </a:extLst>
            </p:cNvPr>
            <p:cNvSpPr/>
            <p:nvPr/>
          </p:nvSpPr>
          <p:spPr>
            <a:xfrm>
              <a:off x="13090027" y="1890712"/>
              <a:ext cx="4703047" cy="1182447"/>
            </a:xfrm>
            <a:prstGeom prst="roundRect">
              <a:avLst>
                <a:gd name="adj" fmla="val 14191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19" name="Text 29">
              <a:extLst>
                <a:ext uri="{FF2B5EF4-FFF2-40B4-BE49-F238E27FC236}">
                  <a16:creationId xmlns:a16="http://schemas.microsoft.com/office/drawing/2014/main" id="{282D90C5-9F6F-5D5D-AE54-FF6CDACF425E}"/>
                </a:ext>
              </a:extLst>
            </p:cNvPr>
            <p:cNvSpPr/>
            <p:nvPr/>
          </p:nvSpPr>
          <p:spPr>
            <a:xfrm>
              <a:off x="13169731" y="1989865"/>
              <a:ext cx="4661496" cy="118244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{{</a:t>
              </a:r>
              <a:r>
                <a:rPr lang="en-GB" sz="1650" dirty="0" err="1">
                  <a:solidFill>
                    <a:srgbClr val="643791"/>
                  </a:solidFill>
                  <a:latin typeface="DM Sans 14pt" pitchFamily="2" charset="77"/>
                </a:rPr>
                <a:t>chart_explainer_media_performance</a:t>
              </a:r>
              <a:r>
                <a:rPr lang="en-GB" sz="1650" dirty="0">
                  <a:solidFill>
                    <a:srgbClr val="643791"/>
                  </a:solidFill>
                  <a:latin typeface="DM Sans 14pt" pitchFamily="2" charset="77"/>
                </a:rPr>
                <a:t>}}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E388387-CA7F-D039-D615-B3FA5BFFB15A}"/>
              </a:ext>
            </a:extLst>
          </p:cNvPr>
          <p:cNvGrpSpPr/>
          <p:nvPr/>
        </p:nvGrpSpPr>
        <p:grpSpPr>
          <a:xfrm>
            <a:off x="12995755" y="8053326"/>
            <a:ext cx="4742571" cy="1281174"/>
            <a:chOff x="13356729" y="7948173"/>
            <a:chExt cx="4397870" cy="228600"/>
          </a:xfrm>
        </p:grpSpPr>
        <p:sp>
          <p:nvSpPr>
            <p:cNvPr id="40" name="Shape 32">
              <a:extLst>
                <a:ext uri="{FF2B5EF4-FFF2-40B4-BE49-F238E27FC236}">
                  <a16:creationId xmlns:a16="http://schemas.microsoft.com/office/drawing/2014/main" id="{7A86A295-B34A-9FDE-CDD2-2CB9E93E6884}"/>
                </a:ext>
              </a:extLst>
            </p:cNvPr>
            <p:cNvSpPr/>
            <p:nvPr/>
          </p:nvSpPr>
          <p:spPr>
            <a:xfrm>
              <a:off x="13356729" y="7948173"/>
              <a:ext cx="4365324" cy="209550"/>
            </a:xfrm>
            <a:prstGeom prst="roundRect">
              <a:avLst>
                <a:gd name="adj" fmla="val 15385"/>
              </a:avLst>
            </a:prstGeom>
            <a:solidFill>
              <a:srgbClr val="643791">
                <a:alpha val="8000"/>
              </a:srgbClr>
            </a:solidFill>
            <a:ln/>
          </p:spPr>
          <p:txBody>
            <a:bodyPr/>
            <a:lstStyle/>
            <a:p>
              <a:endParaRPr lang="en-GB">
                <a:latin typeface="DM Sans 14pt" pitchFamily="2" charset="77"/>
              </a:endParaRPr>
            </a:p>
          </p:txBody>
        </p:sp>
        <p:sp>
          <p:nvSpPr>
            <p:cNvPr id="41" name="Text 33">
              <a:extLst>
                <a:ext uri="{FF2B5EF4-FFF2-40B4-BE49-F238E27FC236}">
                  <a16:creationId xmlns:a16="http://schemas.microsoft.com/office/drawing/2014/main" id="{375BCDAD-90F5-2AB5-CD03-4546BFE2ED7F}"/>
                </a:ext>
              </a:extLst>
            </p:cNvPr>
            <p:cNvSpPr/>
            <p:nvPr/>
          </p:nvSpPr>
          <p:spPr>
            <a:xfrm>
              <a:off x="13432928" y="7967223"/>
              <a:ext cx="4321671" cy="2095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50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{{commentary_media_point_3}}</a:t>
              </a:r>
              <a:endParaRPr lang="en-US" sz="1500" dirty="0">
                <a:latin typeface="DM Sans 14pt" pitchFamily="2" charset="77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BA74F1-CA6A-02D4-93D5-CC997FFAB1C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176F46CA-EFBD-4EF3-CA69-1930614DD21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05 · MEDIA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EE36239-70B5-2540-42A3-5FD6BF17DE8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Average views and apply clicks per vacancy, split by media source — your </a:t>
              </a:r>
              <a:r>
                <a:rPr lang="en-US" sz="1350" dirty="0" err="1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Jobsgopublic</a:t>
              </a: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 subscription, targeted emails, PPC, and any enhancements.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70A2B72-8B13-8876-5B88-FDA778E4DC84}"/>
              </a:ext>
            </a:extLst>
          </p:cNvPr>
          <p:cNvSpPr txBox="1"/>
          <p:nvPr/>
        </p:nvSpPr>
        <p:spPr>
          <a:xfrm>
            <a:off x="4607295" y="-2348786"/>
            <a:ext cx="91440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{{</a:t>
            </a:r>
            <a:r>
              <a:rPr lang="en-GB" sz="1650" b="0" i="0" dirty="0" err="1">
                <a:solidFill>
                  <a:srgbClr val="643791"/>
                </a:solidFill>
                <a:effectLst/>
                <a:latin typeface="DM Sans 14pt" pitchFamily="2" charset="77"/>
              </a:rPr>
              <a:t>chart_explainer_media_performance</a:t>
            </a:r>
            <a:r>
              <a:rPr lang="en-GB" sz="1650" b="0" i="0" dirty="0">
                <a:solidFill>
                  <a:srgbClr val="643791"/>
                </a:solidFill>
                <a:effectLst/>
                <a:latin typeface="DM Sans 14pt" pitchFamily="2" charset="77"/>
              </a:rPr>
              <a:t>}}</a:t>
            </a:r>
            <a:endParaRPr lang="en-GB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next.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4401800" cy="2026890"/>
          </a:xfrm>
          <a:prstGeom prst="roundRect">
            <a:avLst>
              <a:gd name="adj" fmla="val 939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4395341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752600" y="7850535"/>
            <a:ext cx="4374801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{{contact_name}}</a:t>
            </a:r>
            <a:endParaRPr lang="en-US" sz="360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76400" y="8429625"/>
            <a:ext cx="20955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52600" y="8448675"/>
            <a:ext cx="20193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{{contact_title}}</a:t>
            </a:r>
            <a:endParaRPr lang="en-US" sz="15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72500" y="764187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77350" y="7574310"/>
            <a:ext cx="2289870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{{contact_email}}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72500" y="8043714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77350" y="7976146"/>
            <a:ext cx="2289870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353550" y="7995196"/>
            <a:ext cx="221367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{{contact_phone}}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72500" y="8435132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WEB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277350" y="8377982"/>
            <a:ext cx="169530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jobsgopublic.com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838</Words>
  <Application>Microsoft Macintosh PowerPoint</Application>
  <PresentationFormat>Custom</PresentationFormat>
  <Paragraphs>139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14</cp:revision>
  <dcterms:created xsi:type="dcterms:W3CDTF">2026-04-25T02:21:32Z</dcterms:created>
  <dcterms:modified xsi:type="dcterms:W3CDTF">2026-04-30T22:14:59Z</dcterms:modified>
</cp:coreProperties>
</file>