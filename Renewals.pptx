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3" r:id="rId8"/>
    <p:sldId id="262" r:id="rId9"/>
  </p:sldIdLst>
  <p:sldSz cx="18288000" cy="10287000"/>
  <p:notesSz cx="102870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757575"/>
    <a:srgbClr val="E8E0F2"/>
    <a:srgbClr val="E6FF6E"/>
    <a:srgbClr val="D4EB66"/>
    <a:srgbClr val="F1F3E2"/>
    <a:srgbClr val="64379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3870"/>
    <p:restoredTop sz="94610"/>
  </p:normalViewPr>
  <p:slideViewPr>
    <p:cSldViewPr snapToGrid="0" snapToObjects="1">
      <p:cViewPr>
        <p:scale>
          <a:sx n="80" d="100"/>
          <a:sy n="80" d="100"/>
        </p:scale>
        <p:origin x="632" y="20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8842929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52FF92-6068-B815-02DE-D970CB5213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CADB017-CA4C-82FE-5FE7-0A1FC95D69C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504ADF5-95FD-749B-6252-370C2599F3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1F8A82-35DA-6EFF-1274-237623735FD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930104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240" userDrawn="1">
          <p15:clr>
            <a:srgbClr val="FBAE40"/>
          </p15:clr>
        </p15:guide>
        <p15:guide id="2" pos="5760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64379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2763500" y="0"/>
            <a:ext cx="3429000" cy="3619500"/>
          </a:xfrm>
          <a:prstGeom prst="rect">
            <a:avLst/>
          </a:prstGeom>
          <a:solidFill>
            <a:srgbClr val="9C67D3">
              <a:alpha val="60000"/>
            </a:srgb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14859000" y="0"/>
            <a:ext cx="3429000" cy="4572000"/>
          </a:xfrm>
          <a:prstGeom prst="rect">
            <a:avLst/>
          </a:prstGeom>
          <a:solidFill>
            <a:srgbClr val="E5FF6E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609600" y="457200"/>
            <a:ext cx="495300" cy="43815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5" name="Text 3"/>
          <p:cNvSpPr/>
          <p:nvPr/>
        </p:nvSpPr>
        <p:spPr>
          <a:xfrm>
            <a:off x="571500" y="476250"/>
            <a:ext cx="49530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350" b="1" kern="0" spc="-27" dirty="0">
                <a:solidFill>
                  <a:srgbClr val="6437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1200150" y="538163"/>
            <a:ext cx="1561505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b="1" kern="0" spc="-16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Jobs Go Public</a:t>
            </a:r>
            <a:endParaRPr lang="en-US" sz="1650" dirty="0"/>
          </a:p>
        </p:txBody>
      </p:sp>
      <p:sp>
        <p:nvSpPr>
          <p:cNvPr id="7" name="Text 5"/>
          <p:cNvSpPr/>
          <p:nvPr/>
        </p:nvSpPr>
        <p:spPr>
          <a:xfrm>
            <a:off x="1143000" y="1143000"/>
            <a:ext cx="16482060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650" kern="0" spc="660" dirty="0">
                <a:solidFill>
                  <a:srgbClr val="E5FF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ADVERTISING REPORT</a:t>
            </a:r>
            <a:endParaRPr lang="en-US" sz="1650" dirty="0"/>
          </a:p>
        </p:txBody>
      </p:sp>
      <p:sp>
        <p:nvSpPr>
          <p:cNvPr id="8" name="Text 6"/>
          <p:cNvSpPr/>
          <p:nvPr/>
        </p:nvSpPr>
        <p:spPr>
          <a:xfrm>
            <a:off x="1143000" y="1543050"/>
            <a:ext cx="11179810" cy="27622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90000"/>
              </a:lnSpc>
              <a:buNone/>
            </a:pPr>
            <a:r>
              <a:rPr lang="en-US" sz="16500" b="1" kern="0" spc="-66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Advertising</a:t>
            </a:r>
            <a:endParaRPr lang="en-US" sz="16500" dirty="0"/>
          </a:p>
        </p:txBody>
      </p:sp>
      <p:sp>
        <p:nvSpPr>
          <p:cNvPr id="9" name="Text 7"/>
          <p:cNvSpPr/>
          <p:nvPr/>
        </p:nvSpPr>
        <p:spPr>
          <a:xfrm>
            <a:off x="1143000" y="3848100"/>
            <a:ext cx="16482060" cy="1924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90000"/>
              </a:lnSpc>
              <a:buNone/>
            </a:pPr>
            <a:r>
              <a:rPr lang="en-US" sz="16500" b="1" kern="0" spc="-660" dirty="0">
                <a:solidFill>
                  <a:srgbClr val="E5FF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Report</a:t>
            </a:r>
            <a:endParaRPr lang="en-US" sz="16500" dirty="0"/>
          </a:p>
        </p:txBody>
      </p:sp>
      <p:sp>
        <p:nvSpPr>
          <p:cNvPr id="10" name="Text 8"/>
          <p:cNvSpPr/>
          <p:nvPr/>
        </p:nvSpPr>
        <p:spPr>
          <a:xfrm>
            <a:off x="1143000" y="8239125"/>
            <a:ext cx="4254033" cy="190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050" kern="0" spc="315" dirty="0">
                <a:solidFill>
                  <a:srgbClr val="E5FF6E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PREPARED FOR</a:t>
            </a:r>
            <a:endParaRPr lang="en-US" sz="1050" dirty="0">
              <a:latin typeface="DM Sans 14pt" pitchFamily="2" charset="77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1143000" y="8582025"/>
            <a:ext cx="6263640" cy="540990"/>
          </a:xfrm>
          <a:prstGeom prst="roundRect">
            <a:avLst>
              <a:gd name="adj" fmla="val 7043"/>
            </a:avLst>
          </a:prstGeom>
          <a:solidFill>
            <a:srgbClr val="FFFFFF">
              <a:alpha val="15000"/>
            </a:srgbClr>
          </a:solidFill>
          <a:ln/>
        </p:spPr>
        <p:txBody>
          <a:bodyPr/>
          <a:lstStyle/>
          <a:p>
            <a:r>
              <a:rPr lang="en-US" sz="2800" kern="0" spc="-72" dirty="0">
                <a:solidFill>
                  <a:srgbClr val="FFFFFF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{{</a:t>
            </a:r>
            <a:r>
              <a:rPr lang="en-US" sz="2800" kern="0" spc="-72" dirty="0" err="1">
                <a:solidFill>
                  <a:srgbClr val="FFFFFF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client_name</a:t>
            </a:r>
            <a:r>
              <a:rPr lang="en-US" sz="2800" kern="0" spc="-72" dirty="0">
                <a:solidFill>
                  <a:srgbClr val="FFFFFF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}}</a:t>
            </a:r>
            <a:endParaRPr lang="en-US" sz="2800" dirty="0">
              <a:latin typeface="DM Sans 14pt" pitchFamily="2" charset="77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14887277" y="8543925"/>
            <a:ext cx="234597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buNone/>
            </a:pPr>
            <a:r>
              <a:rPr lang="en-US" sz="1350" kern="0" spc="270" dirty="0">
                <a:solidFill>
                  <a:srgbClr val="FFFFFF">
                    <a:alpha val="75000"/>
                  </a:srgbClr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REPORTING PERIOD</a:t>
            </a:r>
            <a:endParaRPr lang="en-US" sz="1350" dirty="0">
              <a:latin typeface="DM Sans 14pt" pitchFamily="2" charset="77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10606093" y="8852520"/>
            <a:ext cx="6627162" cy="361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buNone/>
            </a:pPr>
            <a:r>
              <a:rPr lang="en-US" sz="1950" kern="0" spc="293" dirty="0">
                <a:solidFill>
                  <a:schemeClr val="bg1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{{PERIOD_START}} </a:t>
            </a:r>
            <a:r>
              <a:rPr lang="en-US" sz="1950" b="1" kern="0" spc="293" dirty="0">
                <a:solidFill>
                  <a:schemeClr val="bg1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— </a:t>
            </a:r>
            <a:r>
              <a:rPr lang="en-US" sz="1950" kern="0" spc="293" dirty="0">
                <a:solidFill>
                  <a:schemeClr val="bg1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{{PERIOD_END}}</a:t>
            </a:r>
            <a:endParaRPr lang="en-US" sz="1950" dirty="0">
              <a:solidFill>
                <a:schemeClr val="bg1"/>
              </a:solidFill>
              <a:latin typeface="DM Sans 14pt" pitchFamily="2" charset="77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609600" y="9742289"/>
            <a:ext cx="1704677" cy="163711"/>
          </a:xfrm>
          <a:prstGeom prst="roundRect">
            <a:avLst>
              <a:gd name="adj" fmla="val 23273"/>
            </a:avLst>
          </a:prstGeom>
          <a:solidFill>
            <a:srgbClr val="643791">
              <a:alpha val="8000"/>
            </a:srgb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6" name="Text 14"/>
          <p:cNvSpPr/>
          <p:nvPr/>
        </p:nvSpPr>
        <p:spPr>
          <a:xfrm>
            <a:off x="685800" y="9761339"/>
            <a:ext cx="1628477" cy="1637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900" kern="0" spc="42" dirty="0">
                <a:solidFill>
                  <a:srgbClr val="6437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 places. Go public.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600" y="457200"/>
            <a:ext cx="495300" cy="438150"/>
          </a:xfrm>
          <a:prstGeom prst="rect">
            <a:avLst/>
          </a:prstGeom>
          <a:solidFill>
            <a:srgbClr val="643791"/>
          </a:solidFill>
          <a:ln/>
        </p:spPr>
        <p:txBody>
          <a:bodyPr/>
          <a:lstStyle/>
          <a:p>
            <a:endParaRPr lang="en-GB">
              <a:latin typeface="DM Sans 14pt" pitchFamily="2" charset="77"/>
            </a:endParaRPr>
          </a:p>
        </p:txBody>
      </p:sp>
      <p:sp>
        <p:nvSpPr>
          <p:cNvPr id="3" name="Text 1"/>
          <p:cNvSpPr/>
          <p:nvPr/>
        </p:nvSpPr>
        <p:spPr>
          <a:xfrm>
            <a:off x="571500" y="476250"/>
            <a:ext cx="49530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350" b="1" kern="0" spc="-27" dirty="0">
                <a:solidFill>
                  <a:srgbClr val="FFFFFF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Go</a:t>
            </a:r>
            <a:endParaRPr lang="en-US" sz="1350" dirty="0">
              <a:latin typeface="DM Sans 14pt" pitchFamily="2" charset="77"/>
            </a:endParaRPr>
          </a:p>
        </p:txBody>
      </p:sp>
      <p:sp>
        <p:nvSpPr>
          <p:cNvPr id="4" name="Text 2"/>
          <p:cNvSpPr/>
          <p:nvPr/>
        </p:nvSpPr>
        <p:spPr>
          <a:xfrm>
            <a:off x="1200150" y="538163"/>
            <a:ext cx="1561505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b="1" kern="0" spc="-16" dirty="0">
                <a:solidFill>
                  <a:srgbClr val="111111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Jobs Go Public</a:t>
            </a:r>
            <a:endParaRPr lang="en-US" sz="1650" dirty="0">
              <a:latin typeface="DM Sans 14pt" pitchFamily="2" charset="77"/>
            </a:endParaRPr>
          </a:p>
        </p:txBody>
      </p:sp>
      <p:sp>
        <p:nvSpPr>
          <p:cNvPr id="6" name="Text 4"/>
          <p:cNvSpPr/>
          <p:nvPr/>
        </p:nvSpPr>
        <p:spPr>
          <a:xfrm>
            <a:off x="762000" y="1047750"/>
            <a:ext cx="12038250" cy="647700"/>
          </a:xfrm>
          <a:prstGeom prst="rect">
            <a:avLst/>
          </a:prstGeom>
          <a:noFill/>
          <a:ln>
            <a:noFill/>
          </a:ln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4800" b="1" kern="0" spc="-144" dirty="0">
                <a:solidFill>
                  <a:srgbClr val="111111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How your roles performed vs. benchmark</a:t>
            </a:r>
            <a:endParaRPr lang="en-US" sz="4800" dirty="0">
              <a:latin typeface="DM Sans 14pt" pitchFamily="2" charset="77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762000" y="1866901"/>
            <a:ext cx="8921750" cy="7481189"/>
          </a:xfrm>
          <a:prstGeom prst="roundRect">
            <a:avLst>
              <a:gd name="adj" fmla="val 2332"/>
            </a:avLst>
          </a:prstGeom>
          <a:solidFill>
            <a:srgbClr val="E8E0F2"/>
          </a:solidFill>
          <a:ln w="19050">
            <a:solidFill>
              <a:srgbClr val="643791"/>
            </a:solidFill>
            <a:prstDash val="dash"/>
          </a:ln>
        </p:spPr>
        <p:txBody>
          <a:bodyPr/>
          <a:lstStyle/>
          <a:p>
            <a:endParaRPr lang="en-GB">
              <a:latin typeface="DM Sans 14pt" pitchFamily="2" charset="77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868675" y="2297616"/>
            <a:ext cx="8708400" cy="6940549"/>
          </a:xfrm>
          <a:prstGeom prst="roundRect">
            <a:avLst>
              <a:gd name="adj" fmla="val 2570"/>
            </a:avLst>
          </a:prstGeom>
          <a:solidFill>
            <a:srgbClr val="FFFFFF"/>
          </a:solidFill>
          <a:ln w="9525">
            <a:solidFill>
              <a:srgbClr val="000000">
                <a:alpha val="10000"/>
              </a:srgbClr>
            </a:solidFill>
            <a:prstDash val="solid"/>
          </a:ln>
        </p:spPr>
        <p:txBody>
          <a:bodyPr/>
          <a:lstStyle/>
          <a:p>
            <a:r>
              <a:rPr lang="en-US" kern="0" spc="30" dirty="0">
                <a:solidFill>
                  <a:srgbClr val="240F45"/>
                </a:solidFill>
                <a:latin typeface="DM Sans 14pt" pitchFamily="2" charset="77"/>
                <a:ea typeface="monospace" pitchFamily="34" charset="-122"/>
                <a:cs typeface="monospace" pitchFamily="34" charset="-120"/>
              </a:rPr>
              <a:t>{{</a:t>
            </a:r>
            <a:r>
              <a:rPr lang="en-US" kern="0" spc="30" dirty="0" err="1">
                <a:solidFill>
                  <a:srgbClr val="240F45"/>
                </a:solidFill>
                <a:latin typeface="DM Sans 14pt" pitchFamily="2" charset="77"/>
                <a:ea typeface="monospace" pitchFamily="34" charset="-122"/>
                <a:cs typeface="monospace" pitchFamily="34" charset="-120"/>
              </a:rPr>
              <a:t>chart:benchmark_scatter</a:t>
            </a:r>
            <a:r>
              <a:rPr lang="en-US" kern="0" spc="30" dirty="0">
                <a:solidFill>
                  <a:srgbClr val="240F45"/>
                </a:solidFill>
                <a:latin typeface="DM Sans 14pt" pitchFamily="2" charset="77"/>
                <a:ea typeface="monospace" pitchFamily="34" charset="-122"/>
                <a:cs typeface="monospace" pitchFamily="34" charset="-120"/>
              </a:rPr>
              <a:t>}}</a:t>
            </a:r>
            <a:endParaRPr lang="en-US" dirty="0">
              <a:latin typeface="DM Sans 14pt" pitchFamily="2" charset="77"/>
            </a:endParaRPr>
          </a:p>
        </p:txBody>
      </p:sp>
      <p:sp>
        <p:nvSpPr>
          <p:cNvPr id="38" name="Text 36"/>
          <p:cNvSpPr/>
          <p:nvPr/>
        </p:nvSpPr>
        <p:spPr>
          <a:xfrm>
            <a:off x="609600" y="9753600"/>
            <a:ext cx="2373511" cy="190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85000" lnSpcReduction="10000"/>
          </a:bodyPr>
          <a:lstStyle/>
          <a:p>
            <a:pPr marL="0" indent="0" algn="l">
              <a:buNone/>
            </a:pPr>
            <a:r>
              <a:rPr lang="en-US" sz="1050" kern="0" spc="42" dirty="0">
                <a:solidFill>
                  <a:srgbClr val="111111">
                    <a:alpha val="63000"/>
                  </a:srgbClr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{{client_name}} · Advertising Report</a:t>
            </a:r>
            <a:endParaRPr lang="en-US" sz="1050" dirty="0">
              <a:latin typeface="DM Sans 14pt" pitchFamily="2" charset="77"/>
            </a:endParaRPr>
          </a:p>
        </p:txBody>
      </p:sp>
      <p:sp>
        <p:nvSpPr>
          <p:cNvPr id="7" name="Text 3">
            <a:extLst>
              <a:ext uri="{FF2B5EF4-FFF2-40B4-BE49-F238E27FC236}">
                <a16:creationId xmlns:a16="http://schemas.microsoft.com/office/drawing/2014/main" id="{6F7C33C0-2054-2D5C-F29F-CD13941B3BB5}"/>
              </a:ext>
            </a:extLst>
          </p:cNvPr>
          <p:cNvSpPr/>
          <p:nvPr/>
        </p:nvSpPr>
        <p:spPr>
          <a:xfrm>
            <a:off x="12995755" y="575051"/>
            <a:ext cx="4703047" cy="280800"/>
          </a:xfrm>
          <a:prstGeom prst="rect">
            <a:avLst/>
          </a:prstGeom>
          <a:noFill/>
          <a:ln>
            <a:noFill/>
          </a:ln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buNone/>
            </a:pPr>
            <a:r>
              <a:rPr lang="en-US" sz="1200" kern="0" spc="420" dirty="0">
                <a:solidFill>
                  <a:srgbClr val="643791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01 · BENCHMARKING JOBS</a:t>
            </a:r>
            <a:endParaRPr lang="en-US" sz="1200" dirty="0">
              <a:latin typeface="DM Sans 14pt" pitchFamily="2" charset="77"/>
            </a:endParaRPr>
          </a:p>
        </p:txBody>
      </p:sp>
      <p:sp>
        <p:nvSpPr>
          <p:cNvPr id="8" name="Shape 6"/>
          <p:cNvSpPr/>
          <p:nvPr/>
        </p:nvSpPr>
        <p:spPr>
          <a:xfrm>
            <a:off x="9986861" y="1866899"/>
            <a:ext cx="2721077" cy="2354400"/>
          </a:xfrm>
          <a:prstGeom prst="roundRect">
            <a:avLst/>
          </a:prstGeom>
          <a:solidFill>
            <a:srgbClr val="643791"/>
          </a:solidFill>
          <a:ln/>
        </p:spPr>
        <p:txBody>
          <a:bodyPr lIns="0" tIns="0" rIns="0" bIns="0" anchor="b"/>
          <a:lstStyle/>
          <a:p>
            <a:pPr algn="ctr"/>
            <a:r>
              <a:rPr lang="en-US" sz="1050" kern="0" spc="182" dirty="0">
                <a:solidFill>
                  <a:srgbClr val="FFFFFF">
                    <a:alpha val="85000"/>
                  </a:srgbClr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ROLES BENCHMARKED</a:t>
            </a:r>
            <a:endParaRPr lang="en-US" sz="1050" dirty="0">
              <a:latin typeface="DM Sans 14pt" pitchFamily="2" charset="77"/>
            </a:endParaRPr>
          </a:p>
        </p:txBody>
      </p:sp>
      <p:sp>
        <p:nvSpPr>
          <p:cNvPr id="9" name="Shape 7"/>
          <p:cNvSpPr/>
          <p:nvPr/>
        </p:nvSpPr>
        <p:spPr>
          <a:xfrm>
            <a:off x="10094599" y="1978372"/>
            <a:ext cx="2505600" cy="1904400"/>
          </a:xfrm>
          <a:prstGeom prst="roundRect">
            <a:avLst>
              <a:gd name="adj" fmla="val 17778"/>
            </a:avLst>
          </a:prstGeom>
          <a:solidFill>
            <a:srgbClr val="FFFFFF">
              <a:alpha val="15000"/>
            </a:srgbClr>
          </a:solidFill>
          <a:ln/>
        </p:spPr>
        <p:txBody>
          <a:bodyPr lIns="36000" tIns="36000" rIns="36000" bIns="36000" anchor="ctr"/>
          <a:lstStyle/>
          <a:p>
            <a:pPr algn="ctr"/>
            <a:r>
              <a:rPr lang="en-US" sz="6800" b="1" kern="0" spc="-67" dirty="0">
                <a:solidFill>
                  <a:srgbClr val="FFFFFF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{{</a:t>
            </a:r>
            <a:r>
              <a:rPr lang="en-US" sz="6800" b="1" kern="0" spc="-67" dirty="0" err="1">
                <a:solidFill>
                  <a:srgbClr val="FFFFFF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stat_total_jobs</a:t>
            </a:r>
            <a:r>
              <a:rPr lang="en-US" sz="6800" b="1" kern="0" spc="-67" dirty="0">
                <a:solidFill>
                  <a:srgbClr val="FFFFFF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}}</a:t>
            </a:r>
            <a:endParaRPr lang="en-US" sz="6800" b="1" dirty="0">
              <a:latin typeface="DM Sans 14pt" pitchFamily="2" charset="77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9986861" y="6993690"/>
            <a:ext cx="2721077" cy="2354400"/>
          </a:xfrm>
          <a:prstGeom prst="roundRect">
            <a:avLst/>
          </a:prstGeom>
          <a:solidFill>
            <a:srgbClr val="643791"/>
          </a:solidFill>
          <a:ln/>
        </p:spPr>
        <p:txBody>
          <a:bodyPr lIns="0" tIns="0" rIns="0" bIns="0" anchor="b"/>
          <a:lstStyle/>
          <a:p>
            <a:pPr algn="ctr"/>
            <a:r>
              <a:rPr lang="en-US" sz="1050" kern="0" spc="182" dirty="0">
                <a:solidFill>
                  <a:srgbClr val="FFFFFF">
                    <a:alpha val="85000"/>
                  </a:srgbClr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STRONGEST JOB CATEGORY</a:t>
            </a:r>
            <a:endParaRPr lang="en-US" sz="1050" dirty="0">
              <a:latin typeface="DM Sans 14pt" pitchFamily="2" charset="77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10094599" y="7088442"/>
            <a:ext cx="2505600" cy="1904400"/>
          </a:xfrm>
          <a:prstGeom prst="roundRect">
            <a:avLst>
              <a:gd name="adj" fmla="val 17778"/>
            </a:avLst>
          </a:prstGeom>
          <a:solidFill>
            <a:srgbClr val="FFFFFF">
              <a:alpha val="15000"/>
            </a:srgbClr>
          </a:solidFill>
          <a:ln/>
        </p:spPr>
        <p:txBody>
          <a:bodyPr lIns="0" rIns="0" anchor="ctr">
            <a:normAutofit fontScale="92500" lnSpcReduction="10000"/>
          </a:bodyPr>
          <a:lstStyle/>
          <a:p>
            <a:pPr algn="ctr"/>
            <a:r>
              <a:rPr lang="en-US" sz="4000" b="1" kern="0" spc="-67" dirty="0">
                <a:solidFill>
                  <a:srgbClr val="FFFFFF"/>
                </a:solidFill>
                <a:latin typeface="DM Sans 14pt" pitchFamily="2" charset="77"/>
                <a:cs typeface="Arial" pitchFamily="34" charset="-120"/>
              </a:rPr>
              <a:t>{{</a:t>
            </a:r>
            <a:r>
              <a:rPr lang="en-US" sz="4000" b="1" kern="0" spc="-67" dirty="0" err="1">
                <a:solidFill>
                  <a:srgbClr val="FFFFFF"/>
                </a:solidFill>
                <a:latin typeface="DM Sans 14pt" pitchFamily="2" charset="77"/>
                <a:cs typeface="Arial" pitchFamily="34" charset="-120"/>
              </a:rPr>
              <a:t>stat_top_category</a:t>
            </a:r>
            <a:r>
              <a:rPr lang="en-US" sz="4000" b="1" kern="0" spc="-67" dirty="0">
                <a:solidFill>
                  <a:srgbClr val="FFFFFF"/>
                </a:solidFill>
                <a:latin typeface="DM Sans 14pt" pitchFamily="2" charset="77"/>
                <a:cs typeface="Arial" pitchFamily="34" charset="-120"/>
              </a:rPr>
              <a:t>}}</a:t>
            </a:r>
          </a:p>
        </p:txBody>
      </p:sp>
      <p:sp>
        <p:nvSpPr>
          <p:cNvPr id="12" name="Shape 10"/>
          <p:cNvSpPr/>
          <p:nvPr/>
        </p:nvSpPr>
        <p:spPr>
          <a:xfrm>
            <a:off x="9986861" y="4437126"/>
            <a:ext cx="2721077" cy="2354400"/>
          </a:xfrm>
          <a:prstGeom prst="roundRect">
            <a:avLst/>
          </a:prstGeom>
          <a:solidFill>
            <a:srgbClr val="E5FF6E"/>
          </a:solidFill>
          <a:ln/>
        </p:spPr>
        <p:txBody>
          <a:bodyPr lIns="0" tIns="0" rIns="0" bIns="0" anchor="b"/>
          <a:lstStyle/>
          <a:p>
            <a:pPr algn="ctr"/>
            <a:r>
              <a:rPr lang="en-US" sz="1050" kern="0" spc="182" dirty="0">
                <a:solidFill>
                  <a:srgbClr val="240F45">
                    <a:alpha val="85000"/>
                  </a:srgbClr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IN THE TOP-RIGHT QUADRANT</a:t>
            </a:r>
            <a:endParaRPr lang="en-US" sz="1050" dirty="0">
              <a:latin typeface="DM Sans 14pt" pitchFamily="2" charset="77"/>
            </a:endParaRPr>
          </a:p>
        </p:txBody>
      </p:sp>
      <p:sp>
        <p:nvSpPr>
          <p:cNvPr id="5" name="Shape 10">
            <a:extLst>
              <a:ext uri="{FF2B5EF4-FFF2-40B4-BE49-F238E27FC236}">
                <a16:creationId xmlns:a16="http://schemas.microsoft.com/office/drawing/2014/main" id="{621C128D-F2A7-22A1-C0E3-B6F2F281ACB4}"/>
              </a:ext>
            </a:extLst>
          </p:cNvPr>
          <p:cNvSpPr/>
          <p:nvPr/>
        </p:nvSpPr>
        <p:spPr>
          <a:xfrm>
            <a:off x="10094599" y="4545126"/>
            <a:ext cx="2505600" cy="1904400"/>
          </a:xfrm>
          <a:prstGeom prst="roundRect">
            <a:avLst/>
          </a:prstGeom>
          <a:solidFill>
            <a:srgbClr val="F1F3E2"/>
          </a:solidFill>
          <a:ln/>
        </p:spPr>
        <p:txBody>
          <a:bodyPr lIns="36000" tIns="36000" rIns="36000" bIns="36000" anchor="ctr"/>
          <a:lstStyle/>
          <a:p>
            <a:pPr algn="ctr"/>
            <a:r>
              <a:rPr lang="en-US" sz="6800" b="1" kern="0" spc="-67" dirty="0">
                <a:solidFill>
                  <a:srgbClr val="757575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{{</a:t>
            </a:r>
            <a:r>
              <a:rPr lang="en-US" sz="6800" b="1" kern="0" spc="-67" dirty="0" err="1">
                <a:solidFill>
                  <a:srgbClr val="757575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stat_top_quadrant_pct</a:t>
            </a:r>
            <a:r>
              <a:rPr lang="en-US" sz="6800" b="1" kern="0" spc="-67" dirty="0">
                <a:solidFill>
                  <a:srgbClr val="757575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}}</a:t>
            </a:r>
            <a:endParaRPr lang="en-US" sz="6800" b="1" dirty="0">
              <a:solidFill>
                <a:srgbClr val="757575"/>
              </a:solidFill>
              <a:latin typeface="DM Sans 14pt" pitchFamily="2" charset="77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76A9494F-52A5-D760-AE5B-C1AAE512CD77}"/>
              </a:ext>
            </a:extLst>
          </p:cNvPr>
          <p:cNvSpPr/>
          <p:nvPr/>
        </p:nvSpPr>
        <p:spPr>
          <a:xfrm>
            <a:off x="857249" y="1866900"/>
            <a:ext cx="8009197" cy="4317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lang="en-US" kern="0" spc="84" dirty="0">
                <a:solidFill>
                  <a:srgbClr val="111111">
                    <a:alpha val="63000"/>
                  </a:srgbClr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Views vs. apply clicks, % above/below benchmark</a:t>
            </a:r>
            <a:endParaRPr lang="en-US" dirty="0">
              <a:latin typeface="DM Sans 14pt" pitchFamily="2" charset="77"/>
            </a:endParaRPr>
          </a:p>
        </p:txBody>
      </p:sp>
      <p:sp>
        <p:nvSpPr>
          <p:cNvPr id="10" name="Footer Placeholder 1">
            <a:extLst>
              <a:ext uri="{FF2B5EF4-FFF2-40B4-BE49-F238E27FC236}">
                <a16:creationId xmlns:a16="http://schemas.microsoft.com/office/drawing/2014/main" id="{9E9E4482-0345-AAE9-2155-E6821A53F22A}"/>
              </a:ext>
            </a:extLst>
          </p:cNvPr>
          <p:cNvSpPr txBox="1">
            <a:spLocks/>
          </p:cNvSpPr>
          <p:nvPr/>
        </p:nvSpPr>
        <p:spPr>
          <a:xfrm>
            <a:off x="17233255" y="9753300"/>
            <a:ext cx="522000" cy="190800"/>
          </a:xfrm>
          <a:prstGeom prst="rect">
            <a:avLst/>
          </a:prstGeom>
        </p:spPr>
        <p:txBody>
          <a:bodyPr vert="horz" lIns="36000" tIns="36000" rIns="36000" bIns="36000" rtlCol="0" anchor="ctr"/>
          <a:lstStyle>
            <a:lvl1pPr marL="0" algn="l" defTabSz="914400" rtl="0" eaLnBrk="1" latinLnBrk="0" hangingPunct="1">
              <a:defRPr sz="900" kern="1200">
                <a:solidFill>
                  <a:srgbClr val="E8E0F2"/>
                </a:solidFill>
                <a:latin typeface="DM Sans 14pt" pitchFamily="2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dirty="0">
                <a:solidFill>
                  <a:srgbClr val="757575"/>
                </a:solidFill>
              </a:rPr>
              <a:t>{{</a:t>
            </a:r>
            <a:r>
              <a:rPr lang="en-GB" dirty="0" err="1">
                <a:solidFill>
                  <a:srgbClr val="757575"/>
                </a:solidFill>
              </a:rPr>
              <a:t>slide_number</a:t>
            </a:r>
            <a:r>
              <a:rPr lang="en-GB" dirty="0">
                <a:solidFill>
                  <a:srgbClr val="757575"/>
                </a:solidFill>
              </a:rPr>
              <a:t>}} / {{</a:t>
            </a:r>
            <a:r>
              <a:rPr lang="en-GB" dirty="0" err="1">
                <a:solidFill>
                  <a:srgbClr val="757575"/>
                </a:solidFill>
              </a:rPr>
              <a:t>total_slides</a:t>
            </a:r>
            <a:r>
              <a:rPr lang="en-GB" dirty="0">
                <a:solidFill>
                  <a:srgbClr val="757575"/>
                </a:solidFill>
              </a:rPr>
              <a:t>}}</a:t>
            </a:r>
          </a:p>
        </p:txBody>
      </p:sp>
      <p:sp>
        <p:nvSpPr>
          <p:cNvPr id="14" name="Shape 28">
            <a:extLst>
              <a:ext uri="{FF2B5EF4-FFF2-40B4-BE49-F238E27FC236}">
                <a16:creationId xmlns:a16="http://schemas.microsoft.com/office/drawing/2014/main" id="{190CFC65-FAEB-0611-CE95-6555ED005839}"/>
              </a:ext>
            </a:extLst>
          </p:cNvPr>
          <p:cNvSpPr/>
          <p:nvPr/>
        </p:nvSpPr>
        <p:spPr>
          <a:xfrm>
            <a:off x="12995755" y="1866899"/>
            <a:ext cx="4701600" cy="1188000"/>
          </a:xfrm>
          <a:prstGeom prst="roundRect">
            <a:avLst>
              <a:gd name="adj" fmla="val 6000"/>
            </a:avLst>
          </a:prstGeom>
          <a:solidFill>
            <a:srgbClr val="643791">
              <a:alpha val="8000"/>
            </a:srgbClr>
          </a:solidFill>
          <a:ln/>
        </p:spPr>
        <p:txBody>
          <a:bodyPr/>
          <a:lstStyle/>
          <a:p>
            <a:r>
              <a:rPr lang="en-GB" sz="1400" dirty="0">
                <a:solidFill>
                  <a:srgbClr val="643791"/>
                </a:solidFill>
                <a:latin typeface="DM Sans 14pt" pitchFamily="2" charset="77"/>
              </a:rPr>
              <a:t>{{</a:t>
            </a:r>
            <a:r>
              <a:rPr lang="en-GB" sz="1400" dirty="0" err="1">
                <a:solidFill>
                  <a:srgbClr val="643791"/>
                </a:solidFill>
                <a:latin typeface="DM Sans 14pt" pitchFamily="2" charset="77"/>
              </a:rPr>
              <a:t>chart_explainer_benchmark_scatter</a:t>
            </a:r>
            <a:r>
              <a:rPr lang="en-GB" sz="1400" dirty="0">
                <a:solidFill>
                  <a:srgbClr val="643791"/>
                </a:solidFill>
                <a:latin typeface="DM Sans 14pt" pitchFamily="2" charset="77"/>
              </a:rPr>
              <a:t>}}</a:t>
            </a:r>
            <a:endParaRPr lang="en-US" sz="1400" dirty="0">
              <a:solidFill>
                <a:srgbClr val="643791"/>
              </a:solidFill>
              <a:latin typeface="DM Sans 14pt" pitchFamily="2" charset="77"/>
            </a:endParaRPr>
          </a:p>
        </p:txBody>
      </p:sp>
      <p:sp>
        <p:nvSpPr>
          <p:cNvPr id="15" name="Text 27">
            <a:extLst>
              <a:ext uri="{FF2B5EF4-FFF2-40B4-BE49-F238E27FC236}">
                <a16:creationId xmlns:a16="http://schemas.microsoft.com/office/drawing/2014/main" id="{6C5F6419-482C-4205-169A-EF192C99949B}"/>
              </a:ext>
            </a:extLst>
          </p:cNvPr>
          <p:cNvSpPr/>
          <p:nvPr/>
        </p:nvSpPr>
        <p:spPr>
          <a:xfrm>
            <a:off x="12995755" y="3259384"/>
            <a:ext cx="4701600" cy="48886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400" b="1" kern="0" spc="368" dirty="0">
                <a:solidFill>
                  <a:srgbClr val="643791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COMMENTARY</a:t>
            </a:r>
            <a:endParaRPr lang="en-US" sz="2400" b="1" dirty="0">
              <a:latin typeface="DM Sans 14pt" pitchFamily="2" charset="77"/>
            </a:endParaRPr>
          </a:p>
        </p:txBody>
      </p:sp>
      <p:sp>
        <p:nvSpPr>
          <p:cNvPr id="16" name="Shape 28">
            <a:extLst>
              <a:ext uri="{FF2B5EF4-FFF2-40B4-BE49-F238E27FC236}">
                <a16:creationId xmlns:a16="http://schemas.microsoft.com/office/drawing/2014/main" id="{ABAA4934-FD5B-4DC4-85E5-5BBF5C9FCC4C}"/>
              </a:ext>
            </a:extLst>
          </p:cNvPr>
          <p:cNvSpPr/>
          <p:nvPr/>
        </p:nvSpPr>
        <p:spPr>
          <a:xfrm>
            <a:off x="12995755" y="3748249"/>
            <a:ext cx="4701600" cy="5606765"/>
          </a:xfrm>
          <a:prstGeom prst="roundRect">
            <a:avLst>
              <a:gd name="adj" fmla="val 3000"/>
            </a:avLst>
          </a:prstGeom>
          <a:solidFill>
            <a:srgbClr val="643791">
              <a:alpha val="8000"/>
            </a:srgbClr>
          </a:solidFill>
          <a:ln/>
        </p:spPr>
        <p:txBody>
          <a:bodyPr/>
          <a:lstStyle/>
          <a:p>
            <a:r>
              <a:rPr lang="en-US" sz="1400" dirty="0">
                <a:solidFill>
                  <a:srgbClr val="643791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{{</a:t>
            </a:r>
            <a:r>
              <a:rPr lang="en-US" sz="1400" dirty="0" err="1">
                <a:solidFill>
                  <a:srgbClr val="643791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commentary_benchmark_intro</a:t>
            </a:r>
            <a:r>
              <a:rPr lang="en-US" sz="1400" dirty="0">
                <a:solidFill>
                  <a:srgbClr val="643791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}}</a:t>
            </a:r>
          </a:p>
          <a:p>
            <a:endParaRPr lang="en-US" sz="1400" dirty="0">
              <a:solidFill>
                <a:srgbClr val="643791"/>
              </a:solidFill>
              <a:latin typeface="DM Sans 14pt" pitchFamily="2" charset="77"/>
              <a:cs typeface="Arial" pitchFamily="34" charset="-120"/>
            </a:endParaRPr>
          </a:p>
          <a:p>
            <a:r>
              <a:rPr lang="en-US" sz="1400" dirty="0">
                <a:solidFill>
                  <a:srgbClr val="643791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{{commentary_benchmark_point_1}}</a:t>
            </a:r>
            <a:endParaRPr lang="en-US" sz="1400" dirty="0">
              <a:latin typeface="DM Sans 14pt" pitchFamily="2" charset="77"/>
            </a:endParaRPr>
          </a:p>
          <a:p>
            <a:endParaRPr lang="en-US" sz="1400" dirty="0">
              <a:latin typeface="DM Sans 14pt" pitchFamily="2" charset="77"/>
            </a:endParaRPr>
          </a:p>
          <a:p>
            <a:r>
              <a:rPr lang="en-US" sz="1400" dirty="0">
                <a:solidFill>
                  <a:srgbClr val="643791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{{commentary_benchmark_point_2}}</a:t>
            </a:r>
            <a:endParaRPr lang="en-US" sz="1400" dirty="0">
              <a:latin typeface="DM Sans 14pt" pitchFamily="2" charset="77"/>
            </a:endParaRPr>
          </a:p>
          <a:p>
            <a:endParaRPr lang="en-US" sz="1400" dirty="0">
              <a:latin typeface="DM Sans 14pt" pitchFamily="2" charset="77"/>
            </a:endParaRPr>
          </a:p>
          <a:p>
            <a:r>
              <a:rPr lang="en-US" sz="1400" dirty="0">
                <a:solidFill>
                  <a:srgbClr val="643791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{{commentary_benchmark_point_3}}</a:t>
            </a:r>
            <a:endParaRPr lang="en-US" sz="1400" dirty="0">
              <a:latin typeface="DM Sans 14pt" pitchFamily="2" charset="77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0F3E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600" y="457200"/>
            <a:ext cx="495300" cy="438150"/>
          </a:xfrm>
          <a:prstGeom prst="rect">
            <a:avLst/>
          </a:prstGeom>
          <a:solidFill>
            <a:srgbClr val="643791"/>
          </a:solidFill>
          <a:ln/>
        </p:spPr>
        <p:txBody>
          <a:bodyPr/>
          <a:lstStyle/>
          <a:p>
            <a:endParaRPr lang="en-GB">
              <a:latin typeface="DM Sans 14pt" pitchFamily="2" charset="77"/>
            </a:endParaRPr>
          </a:p>
        </p:txBody>
      </p:sp>
      <p:sp>
        <p:nvSpPr>
          <p:cNvPr id="3" name="Text 1"/>
          <p:cNvSpPr/>
          <p:nvPr/>
        </p:nvSpPr>
        <p:spPr>
          <a:xfrm>
            <a:off x="571500" y="476250"/>
            <a:ext cx="49530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350" b="1" kern="0" spc="-27" dirty="0">
                <a:solidFill>
                  <a:srgbClr val="FFFFFF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Go</a:t>
            </a:r>
            <a:endParaRPr lang="en-US" sz="1350" dirty="0">
              <a:latin typeface="DM Sans 14pt" pitchFamily="2" charset="77"/>
            </a:endParaRPr>
          </a:p>
        </p:txBody>
      </p:sp>
      <p:sp>
        <p:nvSpPr>
          <p:cNvPr id="4" name="Text 2"/>
          <p:cNvSpPr/>
          <p:nvPr/>
        </p:nvSpPr>
        <p:spPr>
          <a:xfrm>
            <a:off x="1200150" y="538163"/>
            <a:ext cx="1561505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b="1" kern="0" spc="-16" dirty="0">
                <a:solidFill>
                  <a:srgbClr val="111111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Jobs Go Public</a:t>
            </a:r>
            <a:endParaRPr lang="en-US" sz="1650" dirty="0">
              <a:latin typeface="DM Sans 14pt" pitchFamily="2" charset="77"/>
            </a:endParaRPr>
          </a:p>
        </p:txBody>
      </p:sp>
      <p:sp>
        <p:nvSpPr>
          <p:cNvPr id="6" name="Text 4"/>
          <p:cNvSpPr/>
          <p:nvPr/>
        </p:nvSpPr>
        <p:spPr>
          <a:xfrm>
            <a:off x="762000" y="1047750"/>
            <a:ext cx="8104446" cy="647700"/>
          </a:xfrm>
          <a:prstGeom prst="rect">
            <a:avLst/>
          </a:prstGeom>
          <a:noFill/>
          <a:ln>
            <a:noFill/>
          </a:ln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4800" b="1" kern="0" spc="-144" dirty="0">
                <a:solidFill>
                  <a:srgbClr val="111111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Your average vs. the market</a:t>
            </a:r>
            <a:endParaRPr lang="en-US" sz="4800" dirty="0">
              <a:latin typeface="DM Sans 14pt" pitchFamily="2" charset="77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762000" y="2800350"/>
            <a:ext cx="11945938" cy="6547740"/>
          </a:xfrm>
          <a:prstGeom prst="roundRect">
            <a:avLst>
              <a:gd name="adj" fmla="val 2332"/>
            </a:avLst>
          </a:prstGeom>
          <a:solidFill>
            <a:srgbClr val="E8E0F2"/>
          </a:solidFill>
          <a:ln w="19050">
            <a:solidFill>
              <a:srgbClr val="643791"/>
            </a:solidFill>
            <a:prstDash val="dash"/>
          </a:ln>
        </p:spPr>
        <p:txBody>
          <a:bodyPr/>
          <a:lstStyle/>
          <a:p>
            <a:endParaRPr lang="en-GB">
              <a:latin typeface="DM Sans 14pt" pitchFamily="2" charset="77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864348" y="3227185"/>
            <a:ext cx="11725200" cy="6015600"/>
          </a:xfrm>
          <a:prstGeom prst="roundRect">
            <a:avLst>
              <a:gd name="adj" fmla="val 2614"/>
            </a:avLst>
          </a:prstGeom>
          <a:solidFill>
            <a:srgbClr val="FFFFFF"/>
          </a:solidFill>
          <a:ln w="9525">
            <a:solidFill>
              <a:srgbClr val="000000">
                <a:alpha val="10000"/>
              </a:srgbClr>
            </a:solidFill>
            <a:prstDash val="solid"/>
          </a:ln>
        </p:spPr>
        <p:txBody>
          <a:bodyPr/>
          <a:lstStyle/>
          <a:p>
            <a:r>
              <a:rPr lang="en-US">
                <a:latin typeface="DM Sans 14pt" pitchFamily="2" charset="77"/>
              </a:rPr>
              <a:t>{{</a:t>
            </a:r>
            <a:r>
              <a:rPr lang="en-US" dirty="0" err="1">
                <a:latin typeface="DM Sans 14pt" pitchFamily="2" charset="77"/>
              </a:rPr>
              <a:t>chart:benchmark</a:t>
            </a:r>
            <a:r>
              <a:rPr lang="en-US" err="1">
                <a:latin typeface="DM Sans 14pt" pitchFamily="2" charset="77"/>
              </a:rPr>
              <a:t>_</a:t>
            </a:r>
            <a:r>
              <a:rPr lang="en-US">
                <a:latin typeface="DM Sans 14pt" pitchFamily="2" charset="77"/>
              </a:rPr>
              <a:t>average}}</a:t>
            </a:r>
            <a:endParaRPr lang="en-US" dirty="0">
              <a:latin typeface="DM Sans 14pt" pitchFamily="2" charset="77"/>
            </a:endParaRPr>
          </a:p>
        </p:txBody>
      </p:sp>
      <p:sp>
        <p:nvSpPr>
          <p:cNvPr id="38" name="Text 36"/>
          <p:cNvSpPr/>
          <p:nvPr/>
        </p:nvSpPr>
        <p:spPr>
          <a:xfrm>
            <a:off x="609600" y="9753600"/>
            <a:ext cx="2373511" cy="190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85000" lnSpcReduction="10000"/>
          </a:bodyPr>
          <a:lstStyle/>
          <a:p>
            <a:pPr marL="0" indent="0" algn="l">
              <a:buNone/>
            </a:pPr>
            <a:r>
              <a:rPr lang="en-US" sz="1050" kern="0" spc="42" dirty="0">
                <a:solidFill>
                  <a:srgbClr val="111111">
                    <a:alpha val="63000"/>
                  </a:srgbClr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{{client_name}} · Advertising Report</a:t>
            </a:r>
            <a:endParaRPr lang="en-US" sz="1050" dirty="0">
              <a:latin typeface="DM Sans 14pt" pitchFamily="2" charset="77"/>
            </a:endParaRPr>
          </a:p>
        </p:txBody>
      </p:sp>
      <p:sp>
        <p:nvSpPr>
          <p:cNvPr id="8" name="Shape 6"/>
          <p:cNvSpPr/>
          <p:nvPr/>
        </p:nvSpPr>
        <p:spPr>
          <a:xfrm>
            <a:off x="761999" y="1866899"/>
            <a:ext cx="2772000" cy="723600"/>
          </a:xfrm>
          <a:prstGeom prst="roundRect">
            <a:avLst/>
          </a:prstGeom>
          <a:solidFill>
            <a:srgbClr val="643791"/>
          </a:solidFill>
          <a:ln/>
        </p:spPr>
        <p:txBody>
          <a:bodyPr/>
          <a:lstStyle/>
          <a:p>
            <a:pPr algn="r"/>
            <a:r>
              <a:rPr lang="en-US" sz="1050" kern="0" spc="182" dirty="0">
                <a:solidFill>
                  <a:srgbClr val="FFFFFF">
                    <a:alpha val="85000"/>
                  </a:srgbClr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BENCHMARK </a:t>
            </a:r>
          </a:p>
          <a:p>
            <a:pPr algn="r"/>
            <a:r>
              <a:rPr lang="en-US" sz="1050" kern="0" spc="182" dirty="0">
                <a:solidFill>
                  <a:srgbClr val="FFFFFF">
                    <a:alpha val="85000"/>
                  </a:srgbClr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AVERAGE</a:t>
            </a:r>
          </a:p>
          <a:p>
            <a:pPr algn="r"/>
            <a:r>
              <a:rPr lang="en-US" sz="1050" kern="0" spc="182" dirty="0">
                <a:solidFill>
                  <a:srgbClr val="FFFFFF">
                    <a:alpha val="85000"/>
                  </a:srgbClr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 VIEWS</a:t>
            </a:r>
            <a:endParaRPr lang="en-US" sz="1050" dirty="0">
              <a:latin typeface="DM Sans 14pt" pitchFamily="2" charset="77"/>
            </a:endParaRPr>
          </a:p>
        </p:txBody>
      </p:sp>
      <p:sp>
        <p:nvSpPr>
          <p:cNvPr id="9" name="Shape 7"/>
          <p:cNvSpPr/>
          <p:nvPr/>
        </p:nvSpPr>
        <p:spPr>
          <a:xfrm>
            <a:off x="811592" y="1925687"/>
            <a:ext cx="1407600" cy="604800"/>
          </a:xfrm>
          <a:prstGeom prst="roundRect">
            <a:avLst>
              <a:gd name="adj" fmla="val 17778"/>
            </a:avLst>
          </a:prstGeom>
          <a:solidFill>
            <a:srgbClr val="FFFFFF">
              <a:alpha val="15000"/>
            </a:srgbClr>
          </a:solidFill>
          <a:ln/>
        </p:spPr>
        <p:txBody>
          <a:bodyPr lIns="36000" tIns="36000" rIns="36000" bIns="36000" anchor="ctr"/>
          <a:lstStyle/>
          <a:p>
            <a:pPr algn="ctr"/>
            <a:r>
              <a:rPr lang="en-US" sz="2800" kern="0" spc="-67" dirty="0">
                <a:solidFill>
                  <a:srgbClr val="FFFFFF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{{</a:t>
            </a:r>
            <a:r>
              <a:rPr lang="en-US" sz="2800" kern="0" spc="-67" dirty="0" err="1">
                <a:solidFill>
                  <a:srgbClr val="FFFFFF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stat_benchmark_average_views</a:t>
            </a:r>
            <a:r>
              <a:rPr lang="en-US" sz="2800" kern="0" spc="-67" dirty="0">
                <a:solidFill>
                  <a:srgbClr val="FFFFFF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}}</a:t>
            </a:r>
            <a:endParaRPr lang="en-US" sz="2800" dirty="0">
              <a:latin typeface="DM Sans 14pt" pitchFamily="2" charset="77"/>
            </a:endParaRPr>
          </a:p>
        </p:txBody>
      </p:sp>
      <p:sp>
        <p:nvSpPr>
          <p:cNvPr id="67" name="Text 3">
            <a:extLst>
              <a:ext uri="{FF2B5EF4-FFF2-40B4-BE49-F238E27FC236}">
                <a16:creationId xmlns:a16="http://schemas.microsoft.com/office/drawing/2014/main" id="{06DB073C-0DC3-299A-5EB3-6CFA66DF2747}"/>
              </a:ext>
            </a:extLst>
          </p:cNvPr>
          <p:cNvSpPr/>
          <p:nvPr/>
        </p:nvSpPr>
        <p:spPr>
          <a:xfrm>
            <a:off x="12995755" y="575051"/>
            <a:ext cx="4703047" cy="280800"/>
          </a:xfrm>
          <a:prstGeom prst="rect">
            <a:avLst/>
          </a:prstGeom>
          <a:noFill/>
          <a:ln>
            <a:noFill/>
          </a:ln>
        </p:spPr>
        <p:txBody>
          <a:bodyPr wrap="square" lIns="25400" tIns="25400" rIns="25400" bIns="25400" rtlCol="0" anchor="t">
            <a:normAutofit/>
          </a:bodyPr>
          <a:lstStyle/>
          <a:p>
            <a:pPr algn="r"/>
            <a:r>
              <a:rPr lang="en-US" sz="1200" kern="0" spc="420" dirty="0">
                <a:solidFill>
                  <a:srgbClr val="643791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02 · AVERAGE PERFORMANCE</a:t>
            </a:r>
            <a:endParaRPr lang="en-US" sz="1200" dirty="0">
              <a:latin typeface="DM Sans 14pt" pitchFamily="2" charset="77"/>
            </a:endParaRPr>
          </a:p>
        </p:txBody>
      </p:sp>
      <p:sp>
        <p:nvSpPr>
          <p:cNvPr id="71" name="Text 26">
            <a:extLst>
              <a:ext uri="{FF2B5EF4-FFF2-40B4-BE49-F238E27FC236}">
                <a16:creationId xmlns:a16="http://schemas.microsoft.com/office/drawing/2014/main" id="{85F60CBB-25A0-A776-C08E-574558953B87}"/>
              </a:ext>
            </a:extLst>
          </p:cNvPr>
          <p:cNvSpPr/>
          <p:nvPr/>
        </p:nvSpPr>
        <p:spPr>
          <a:xfrm>
            <a:off x="857249" y="2934182"/>
            <a:ext cx="4065789" cy="190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endParaRPr lang="en-US" sz="1100" dirty="0">
              <a:latin typeface="DM Sans 14pt" pitchFamily="2" charset="77"/>
            </a:endParaRPr>
          </a:p>
        </p:txBody>
      </p:sp>
      <p:sp>
        <p:nvSpPr>
          <p:cNvPr id="13" name="Shape 6">
            <a:extLst>
              <a:ext uri="{FF2B5EF4-FFF2-40B4-BE49-F238E27FC236}">
                <a16:creationId xmlns:a16="http://schemas.microsoft.com/office/drawing/2014/main" id="{8C44538B-8BCE-A405-F239-6C4E08DB3913}"/>
              </a:ext>
            </a:extLst>
          </p:cNvPr>
          <p:cNvSpPr/>
          <p:nvPr/>
        </p:nvSpPr>
        <p:spPr>
          <a:xfrm>
            <a:off x="3778939" y="1866899"/>
            <a:ext cx="2772000" cy="723600"/>
          </a:xfrm>
          <a:prstGeom prst="roundRect">
            <a:avLst/>
          </a:prstGeom>
          <a:solidFill>
            <a:srgbClr val="E6FF6E"/>
          </a:solidFill>
          <a:ln/>
        </p:spPr>
        <p:txBody>
          <a:bodyPr/>
          <a:lstStyle/>
          <a:p>
            <a:pPr algn="r"/>
            <a:r>
              <a:rPr lang="en-US" sz="1050" kern="0" spc="182" dirty="0">
                <a:latin typeface="DM Sans 14pt" pitchFamily="2" charset="77"/>
                <a:ea typeface="Arial" pitchFamily="34" charset="-122"/>
                <a:cs typeface="Arial" pitchFamily="34" charset="-120"/>
              </a:rPr>
              <a:t>YOUR JOBS – </a:t>
            </a:r>
          </a:p>
          <a:p>
            <a:pPr algn="r"/>
            <a:r>
              <a:rPr lang="en-US" sz="1050" kern="0" spc="182" dirty="0">
                <a:latin typeface="DM Sans 14pt" pitchFamily="2" charset="77"/>
                <a:ea typeface="Arial" pitchFamily="34" charset="-122"/>
                <a:cs typeface="Arial" pitchFamily="34" charset="-120"/>
              </a:rPr>
              <a:t>AVERAGE</a:t>
            </a:r>
          </a:p>
          <a:p>
            <a:pPr algn="r"/>
            <a:r>
              <a:rPr lang="en-US" sz="1050" kern="0" spc="182" dirty="0">
                <a:latin typeface="DM Sans 14pt" pitchFamily="2" charset="77"/>
                <a:ea typeface="Arial" pitchFamily="34" charset="-122"/>
                <a:cs typeface="Arial" pitchFamily="34" charset="-120"/>
              </a:rPr>
              <a:t>VIEWS</a:t>
            </a:r>
            <a:endParaRPr lang="en-US" sz="1050" dirty="0">
              <a:latin typeface="DM Sans 14pt" pitchFamily="2" charset="77"/>
            </a:endParaRPr>
          </a:p>
        </p:txBody>
      </p:sp>
      <p:sp>
        <p:nvSpPr>
          <p:cNvPr id="23" name="Shape 7">
            <a:extLst>
              <a:ext uri="{FF2B5EF4-FFF2-40B4-BE49-F238E27FC236}">
                <a16:creationId xmlns:a16="http://schemas.microsoft.com/office/drawing/2014/main" id="{0EBED078-0815-5F85-26FB-DB9ABFCCCCB7}"/>
              </a:ext>
            </a:extLst>
          </p:cNvPr>
          <p:cNvSpPr/>
          <p:nvPr/>
        </p:nvSpPr>
        <p:spPr>
          <a:xfrm>
            <a:off x="3828532" y="1925687"/>
            <a:ext cx="1407600" cy="604800"/>
          </a:xfrm>
          <a:prstGeom prst="roundRect">
            <a:avLst>
              <a:gd name="adj" fmla="val 17778"/>
            </a:avLst>
          </a:prstGeom>
          <a:solidFill>
            <a:srgbClr val="D4EB66"/>
          </a:solidFill>
          <a:ln/>
        </p:spPr>
        <p:txBody>
          <a:bodyPr lIns="36000" tIns="36000" rIns="36000" bIns="36000" anchor="ctr"/>
          <a:lstStyle/>
          <a:p>
            <a:pPr algn="ctr">
              <a:lnSpc>
                <a:spcPct val="110000"/>
              </a:lnSpc>
            </a:pPr>
            <a:r>
              <a:rPr lang="en-US" sz="2800" kern="0" spc="-67" dirty="0">
                <a:solidFill>
                  <a:srgbClr val="757575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{{</a:t>
            </a:r>
            <a:r>
              <a:rPr lang="en-US" sz="2800" kern="0" spc="-67" dirty="0" err="1">
                <a:solidFill>
                  <a:srgbClr val="757575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stat_your_jobs_average_views</a:t>
            </a:r>
            <a:r>
              <a:rPr lang="en-US" sz="2800" kern="0" spc="-67" dirty="0">
                <a:solidFill>
                  <a:srgbClr val="757575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}}</a:t>
            </a:r>
            <a:endParaRPr lang="en-US" sz="2800" dirty="0">
              <a:solidFill>
                <a:srgbClr val="757575"/>
              </a:solidFill>
              <a:latin typeface="DM Sans 14pt" pitchFamily="2" charset="77"/>
            </a:endParaRPr>
          </a:p>
        </p:txBody>
      </p:sp>
      <p:sp>
        <p:nvSpPr>
          <p:cNvPr id="26" name="Shape 6">
            <a:extLst>
              <a:ext uri="{FF2B5EF4-FFF2-40B4-BE49-F238E27FC236}">
                <a16:creationId xmlns:a16="http://schemas.microsoft.com/office/drawing/2014/main" id="{D1EB76D1-D1DC-624B-0A48-A56A3A39CD50}"/>
              </a:ext>
            </a:extLst>
          </p:cNvPr>
          <p:cNvSpPr/>
          <p:nvPr/>
        </p:nvSpPr>
        <p:spPr>
          <a:xfrm>
            <a:off x="6736166" y="1866900"/>
            <a:ext cx="2772000" cy="723600"/>
          </a:xfrm>
          <a:prstGeom prst="roundRect">
            <a:avLst/>
          </a:prstGeom>
          <a:solidFill>
            <a:srgbClr val="643791"/>
          </a:solidFill>
          <a:ln/>
        </p:spPr>
        <p:txBody>
          <a:bodyPr/>
          <a:lstStyle/>
          <a:p>
            <a:pPr algn="r"/>
            <a:r>
              <a:rPr lang="en-US" sz="1050" kern="0" spc="182" dirty="0">
                <a:solidFill>
                  <a:srgbClr val="FFFFFF">
                    <a:alpha val="85000"/>
                  </a:srgbClr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BENCHMARK </a:t>
            </a:r>
          </a:p>
          <a:p>
            <a:pPr algn="r"/>
            <a:r>
              <a:rPr lang="en-US" sz="1050" kern="0" spc="182" dirty="0">
                <a:solidFill>
                  <a:srgbClr val="FFFFFF">
                    <a:alpha val="85000"/>
                  </a:srgbClr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AVERAGE</a:t>
            </a:r>
          </a:p>
          <a:p>
            <a:pPr algn="r"/>
            <a:r>
              <a:rPr lang="en-US" sz="1050" kern="0" spc="182" dirty="0">
                <a:solidFill>
                  <a:srgbClr val="FFFFFF">
                    <a:alpha val="85000"/>
                  </a:srgbClr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 APPLIES</a:t>
            </a:r>
            <a:endParaRPr lang="en-US" sz="1050" dirty="0">
              <a:latin typeface="DM Sans 14pt" pitchFamily="2" charset="77"/>
            </a:endParaRPr>
          </a:p>
        </p:txBody>
      </p:sp>
      <p:sp>
        <p:nvSpPr>
          <p:cNvPr id="27" name="Shape 7">
            <a:extLst>
              <a:ext uri="{FF2B5EF4-FFF2-40B4-BE49-F238E27FC236}">
                <a16:creationId xmlns:a16="http://schemas.microsoft.com/office/drawing/2014/main" id="{1F3CEC1A-B76C-2510-ACD2-F9BB079DEBEA}"/>
              </a:ext>
            </a:extLst>
          </p:cNvPr>
          <p:cNvSpPr/>
          <p:nvPr/>
        </p:nvSpPr>
        <p:spPr>
          <a:xfrm>
            <a:off x="6785759" y="1925687"/>
            <a:ext cx="1407600" cy="604800"/>
          </a:xfrm>
          <a:prstGeom prst="roundRect">
            <a:avLst>
              <a:gd name="adj" fmla="val 17778"/>
            </a:avLst>
          </a:prstGeom>
          <a:solidFill>
            <a:srgbClr val="FFFFFF">
              <a:alpha val="15000"/>
            </a:srgbClr>
          </a:solidFill>
          <a:ln/>
        </p:spPr>
        <p:txBody>
          <a:bodyPr lIns="36000" tIns="36000" rIns="36000" bIns="36000" anchor="ctr"/>
          <a:lstStyle/>
          <a:p>
            <a:pPr algn="ctr"/>
            <a:r>
              <a:rPr lang="en-US" sz="2800" kern="0" spc="-67" dirty="0">
                <a:solidFill>
                  <a:srgbClr val="FFFFFF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{{</a:t>
            </a:r>
            <a:r>
              <a:rPr lang="en-US" sz="2800" kern="0" spc="-67" dirty="0" err="1">
                <a:solidFill>
                  <a:srgbClr val="FFFFFF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stat_benchmark_average_applies</a:t>
            </a:r>
            <a:r>
              <a:rPr lang="en-US" sz="2800" kern="0" spc="-67" dirty="0">
                <a:solidFill>
                  <a:srgbClr val="FFFFFF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}}</a:t>
            </a:r>
            <a:endParaRPr lang="en-US" sz="2800" dirty="0">
              <a:latin typeface="DM Sans 14pt" pitchFamily="2" charset="77"/>
            </a:endParaRPr>
          </a:p>
        </p:txBody>
      </p:sp>
      <p:sp>
        <p:nvSpPr>
          <p:cNvPr id="30" name="Shape 6">
            <a:extLst>
              <a:ext uri="{FF2B5EF4-FFF2-40B4-BE49-F238E27FC236}">
                <a16:creationId xmlns:a16="http://schemas.microsoft.com/office/drawing/2014/main" id="{57A19399-4232-DBD4-372D-5800DB9229C0}"/>
              </a:ext>
            </a:extLst>
          </p:cNvPr>
          <p:cNvSpPr/>
          <p:nvPr/>
        </p:nvSpPr>
        <p:spPr>
          <a:xfrm>
            <a:off x="9750531" y="1866900"/>
            <a:ext cx="2772000" cy="723600"/>
          </a:xfrm>
          <a:prstGeom prst="roundRect">
            <a:avLst/>
          </a:prstGeom>
          <a:solidFill>
            <a:srgbClr val="E6FF6E"/>
          </a:solidFill>
          <a:ln/>
        </p:spPr>
        <p:txBody>
          <a:bodyPr/>
          <a:lstStyle/>
          <a:p>
            <a:pPr algn="r"/>
            <a:r>
              <a:rPr lang="en-US" sz="1050" kern="0" spc="182" dirty="0">
                <a:latin typeface="DM Sans 14pt" pitchFamily="2" charset="77"/>
                <a:ea typeface="Arial" pitchFamily="34" charset="-122"/>
                <a:cs typeface="Arial" pitchFamily="34" charset="-120"/>
              </a:rPr>
              <a:t>YOUR JOBS – </a:t>
            </a:r>
          </a:p>
          <a:p>
            <a:pPr algn="r"/>
            <a:r>
              <a:rPr lang="en-US" sz="1050" kern="0" spc="182" dirty="0">
                <a:latin typeface="DM Sans 14pt" pitchFamily="2" charset="77"/>
                <a:ea typeface="Arial" pitchFamily="34" charset="-122"/>
                <a:cs typeface="Arial" pitchFamily="34" charset="-120"/>
              </a:rPr>
              <a:t>AVERAGE</a:t>
            </a:r>
          </a:p>
          <a:p>
            <a:pPr algn="r"/>
            <a:r>
              <a:rPr lang="en-US" sz="1050" kern="0" spc="182" dirty="0">
                <a:latin typeface="DM Sans 14pt" pitchFamily="2" charset="77"/>
                <a:cs typeface="Arial" pitchFamily="34" charset="-120"/>
              </a:rPr>
              <a:t>APPLIES</a:t>
            </a:r>
            <a:endParaRPr lang="en-US" sz="1050" dirty="0">
              <a:latin typeface="DM Sans 14pt" pitchFamily="2" charset="77"/>
            </a:endParaRPr>
          </a:p>
        </p:txBody>
      </p:sp>
      <p:sp>
        <p:nvSpPr>
          <p:cNvPr id="31" name="Shape 7">
            <a:extLst>
              <a:ext uri="{FF2B5EF4-FFF2-40B4-BE49-F238E27FC236}">
                <a16:creationId xmlns:a16="http://schemas.microsoft.com/office/drawing/2014/main" id="{2CB93A45-F9B5-B969-F066-7828CDAC37F3}"/>
              </a:ext>
            </a:extLst>
          </p:cNvPr>
          <p:cNvSpPr/>
          <p:nvPr/>
        </p:nvSpPr>
        <p:spPr>
          <a:xfrm>
            <a:off x="9800124" y="1925687"/>
            <a:ext cx="1407600" cy="604800"/>
          </a:xfrm>
          <a:prstGeom prst="roundRect">
            <a:avLst>
              <a:gd name="adj" fmla="val 17778"/>
            </a:avLst>
          </a:prstGeom>
          <a:solidFill>
            <a:srgbClr val="D4EB66"/>
          </a:solidFill>
          <a:ln/>
        </p:spPr>
        <p:txBody>
          <a:bodyPr lIns="36000" tIns="36000" rIns="36000" bIns="36000" anchor="ctr"/>
          <a:lstStyle/>
          <a:p>
            <a:pPr algn="ctr">
              <a:lnSpc>
                <a:spcPct val="110000"/>
              </a:lnSpc>
            </a:pPr>
            <a:r>
              <a:rPr lang="en-US" sz="2800" kern="0" spc="-67" dirty="0">
                <a:solidFill>
                  <a:srgbClr val="757575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{{</a:t>
            </a:r>
            <a:r>
              <a:rPr lang="en-US" sz="2800" kern="0" spc="-67" dirty="0" err="1">
                <a:solidFill>
                  <a:srgbClr val="757575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stat_your_jobs_average_applies</a:t>
            </a:r>
            <a:r>
              <a:rPr lang="en-US" sz="2800" kern="0" spc="-67" dirty="0">
                <a:solidFill>
                  <a:srgbClr val="757575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}}</a:t>
            </a:r>
            <a:endParaRPr lang="en-US" sz="2800" dirty="0">
              <a:solidFill>
                <a:srgbClr val="757575"/>
              </a:solidFill>
              <a:latin typeface="DM Sans 14pt" pitchFamily="2" charset="77"/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097EA86C-CA48-161C-4318-F999C296E479}"/>
              </a:ext>
            </a:extLst>
          </p:cNvPr>
          <p:cNvSpPr/>
          <p:nvPr/>
        </p:nvSpPr>
        <p:spPr>
          <a:xfrm>
            <a:off x="888847" y="2800350"/>
            <a:ext cx="8009197" cy="428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lang="en-US" kern="0" spc="84" dirty="0">
                <a:solidFill>
                  <a:srgbClr val="111111">
                    <a:alpha val="63000"/>
                  </a:srgbClr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Views per vacancy · Apply clicks per vacancy</a:t>
            </a:r>
            <a:endParaRPr lang="en-US" dirty="0">
              <a:latin typeface="DM Sans 14pt" pitchFamily="2" charset="77"/>
            </a:endParaRPr>
          </a:p>
        </p:txBody>
      </p:sp>
      <p:sp>
        <p:nvSpPr>
          <p:cNvPr id="5" name="Footer Placeholder 1">
            <a:extLst>
              <a:ext uri="{FF2B5EF4-FFF2-40B4-BE49-F238E27FC236}">
                <a16:creationId xmlns:a16="http://schemas.microsoft.com/office/drawing/2014/main" id="{D6275BDE-DD84-855F-5788-EDDFB4BE3224}"/>
              </a:ext>
            </a:extLst>
          </p:cNvPr>
          <p:cNvSpPr txBox="1">
            <a:spLocks/>
          </p:cNvSpPr>
          <p:nvPr/>
        </p:nvSpPr>
        <p:spPr>
          <a:xfrm>
            <a:off x="17233255" y="9753300"/>
            <a:ext cx="522000" cy="190800"/>
          </a:xfrm>
          <a:prstGeom prst="rect">
            <a:avLst/>
          </a:prstGeom>
        </p:spPr>
        <p:txBody>
          <a:bodyPr vert="horz" lIns="36000" tIns="36000" rIns="36000" bIns="36000" rtlCol="0" anchor="ctr"/>
          <a:lstStyle>
            <a:lvl1pPr marL="0" algn="l" defTabSz="914400" rtl="0" eaLnBrk="1" latinLnBrk="0" hangingPunct="1">
              <a:defRPr sz="900" kern="1200">
                <a:solidFill>
                  <a:srgbClr val="E8E0F2"/>
                </a:solidFill>
                <a:latin typeface="DM Sans 14pt" pitchFamily="2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dirty="0">
                <a:solidFill>
                  <a:srgbClr val="757575"/>
                </a:solidFill>
              </a:rPr>
              <a:t>{{</a:t>
            </a:r>
            <a:r>
              <a:rPr lang="en-GB" dirty="0" err="1">
                <a:solidFill>
                  <a:srgbClr val="757575"/>
                </a:solidFill>
              </a:rPr>
              <a:t>slide_number</a:t>
            </a:r>
            <a:r>
              <a:rPr lang="en-GB" dirty="0">
                <a:solidFill>
                  <a:srgbClr val="757575"/>
                </a:solidFill>
              </a:rPr>
              <a:t>}} / {{</a:t>
            </a:r>
            <a:r>
              <a:rPr lang="en-GB" dirty="0" err="1">
                <a:solidFill>
                  <a:srgbClr val="757575"/>
                </a:solidFill>
              </a:rPr>
              <a:t>total_slides</a:t>
            </a:r>
            <a:r>
              <a:rPr lang="en-GB" dirty="0">
                <a:solidFill>
                  <a:srgbClr val="757575"/>
                </a:solidFill>
              </a:rPr>
              <a:t>}}</a:t>
            </a:r>
          </a:p>
        </p:txBody>
      </p:sp>
      <p:sp>
        <p:nvSpPr>
          <p:cNvPr id="10" name="Shape 28">
            <a:extLst>
              <a:ext uri="{FF2B5EF4-FFF2-40B4-BE49-F238E27FC236}">
                <a16:creationId xmlns:a16="http://schemas.microsoft.com/office/drawing/2014/main" id="{46C71CB8-D020-C358-506A-1F59E56F780C}"/>
              </a:ext>
            </a:extLst>
          </p:cNvPr>
          <p:cNvSpPr/>
          <p:nvPr/>
        </p:nvSpPr>
        <p:spPr>
          <a:xfrm>
            <a:off x="12995755" y="1866900"/>
            <a:ext cx="4701600" cy="1188000"/>
          </a:xfrm>
          <a:prstGeom prst="roundRect">
            <a:avLst>
              <a:gd name="adj" fmla="val 6000"/>
            </a:avLst>
          </a:prstGeom>
          <a:solidFill>
            <a:srgbClr val="643791">
              <a:alpha val="8000"/>
            </a:srgbClr>
          </a:solidFill>
          <a:ln/>
        </p:spPr>
        <p:txBody>
          <a:bodyPr/>
          <a:lstStyle/>
          <a:p>
            <a:pPr>
              <a:lnSpc>
                <a:spcPct val="110000"/>
              </a:lnSpc>
            </a:pPr>
            <a:r>
              <a:rPr lang="en-GB" sz="1400" dirty="0">
                <a:solidFill>
                  <a:srgbClr val="643791"/>
                </a:solidFill>
                <a:latin typeface="DM Sans 14pt" pitchFamily="2" charset="77"/>
                <a:cs typeface="Arial" pitchFamily="34" charset="-120"/>
              </a:rPr>
              <a:t>{{</a:t>
            </a:r>
            <a:r>
              <a:rPr lang="en-GB" sz="1400" dirty="0" err="1">
                <a:solidFill>
                  <a:srgbClr val="643791"/>
                </a:solidFill>
                <a:latin typeface="DM Sans 14pt" pitchFamily="2" charset="77"/>
                <a:cs typeface="Arial" pitchFamily="34" charset="-120"/>
              </a:rPr>
              <a:t>chart_explainer_benchmark_</a:t>
            </a:r>
            <a:r>
              <a:rPr lang="en-GB" sz="1400" err="1">
                <a:solidFill>
                  <a:srgbClr val="643791"/>
                </a:solidFill>
                <a:latin typeface="DM Sans 14pt" pitchFamily="2" charset="77"/>
                <a:cs typeface="Arial" pitchFamily="34" charset="-120"/>
              </a:rPr>
              <a:t>average</a:t>
            </a:r>
            <a:r>
              <a:rPr lang="en-GB" sz="1400">
                <a:solidFill>
                  <a:srgbClr val="643791"/>
                </a:solidFill>
                <a:latin typeface="DM Sans 14pt" pitchFamily="2" charset="77"/>
                <a:cs typeface="Arial" pitchFamily="34" charset="-120"/>
              </a:rPr>
              <a:t>}}</a:t>
            </a:r>
            <a:endParaRPr lang="en-US" sz="1400" dirty="0">
              <a:solidFill>
                <a:srgbClr val="643791"/>
              </a:solidFill>
              <a:latin typeface="DM Sans 14pt" pitchFamily="2" charset="77"/>
              <a:cs typeface="Arial" pitchFamily="34" charset="-120"/>
            </a:endParaRPr>
          </a:p>
        </p:txBody>
      </p:sp>
      <p:sp>
        <p:nvSpPr>
          <p:cNvPr id="11" name="Text 27">
            <a:extLst>
              <a:ext uri="{FF2B5EF4-FFF2-40B4-BE49-F238E27FC236}">
                <a16:creationId xmlns:a16="http://schemas.microsoft.com/office/drawing/2014/main" id="{2D240F46-20B1-8FE8-EA8B-D2F4A1B5AB24}"/>
              </a:ext>
            </a:extLst>
          </p:cNvPr>
          <p:cNvSpPr/>
          <p:nvPr/>
        </p:nvSpPr>
        <p:spPr>
          <a:xfrm>
            <a:off x="12995755" y="3259384"/>
            <a:ext cx="4701600" cy="48886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400" b="1" kern="0" spc="368" dirty="0">
                <a:solidFill>
                  <a:srgbClr val="643791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COMMENTARY</a:t>
            </a:r>
            <a:endParaRPr lang="en-US" sz="2400" b="1" dirty="0">
              <a:latin typeface="DM Sans 14pt" pitchFamily="2" charset="77"/>
            </a:endParaRPr>
          </a:p>
        </p:txBody>
      </p:sp>
      <p:sp>
        <p:nvSpPr>
          <p:cNvPr id="12" name="Shape 28">
            <a:extLst>
              <a:ext uri="{FF2B5EF4-FFF2-40B4-BE49-F238E27FC236}">
                <a16:creationId xmlns:a16="http://schemas.microsoft.com/office/drawing/2014/main" id="{6D2B688A-D648-8DE9-4BF5-D04A62A5A6D9}"/>
              </a:ext>
            </a:extLst>
          </p:cNvPr>
          <p:cNvSpPr/>
          <p:nvPr/>
        </p:nvSpPr>
        <p:spPr>
          <a:xfrm>
            <a:off x="12995755" y="3748249"/>
            <a:ext cx="4701600" cy="5606765"/>
          </a:xfrm>
          <a:prstGeom prst="roundRect">
            <a:avLst>
              <a:gd name="adj" fmla="val 3000"/>
            </a:avLst>
          </a:prstGeom>
          <a:solidFill>
            <a:srgbClr val="643791">
              <a:alpha val="8000"/>
            </a:srgbClr>
          </a:solidFill>
          <a:ln/>
        </p:spPr>
        <p:txBody>
          <a:bodyPr/>
          <a:lstStyle/>
          <a:p>
            <a:r>
              <a:rPr lang="en-US" sz="1400">
                <a:solidFill>
                  <a:srgbClr val="643791"/>
                </a:solidFill>
                <a:latin typeface="DM Sans 14pt" pitchFamily="2" charset="77"/>
                <a:cs typeface="Arial" pitchFamily="34" charset="-120"/>
              </a:rPr>
              <a:t>{{</a:t>
            </a:r>
            <a:r>
              <a:rPr lang="en-US" sz="1400" dirty="0" err="1">
                <a:solidFill>
                  <a:srgbClr val="643791"/>
                </a:solidFill>
                <a:latin typeface="DM Sans 14pt" pitchFamily="2" charset="77"/>
                <a:cs typeface="Arial" pitchFamily="34" charset="-120"/>
              </a:rPr>
              <a:t>commentary_average</a:t>
            </a:r>
            <a:r>
              <a:rPr lang="en-US" sz="1400" err="1">
                <a:solidFill>
                  <a:srgbClr val="643791"/>
                </a:solidFill>
                <a:latin typeface="DM Sans 14pt" pitchFamily="2" charset="77"/>
                <a:cs typeface="Arial" pitchFamily="34" charset="-120"/>
              </a:rPr>
              <a:t>_</a:t>
            </a:r>
            <a:r>
              <a:rPr lang="en-US" sz="1400">
                <a:solidFill>
                  <a:srgbClr val="643791"/>
                </a:solidFill>
                <a:latin typeface="DM Sans 14pt" pitchFamily="2" charset="77"/>
                <a:cs typeface="Arial" pitchFamily="34" charset="-120"/>
              </a:rPr>
              <a:t>intro}}</a:t>
            </a:r>
            <a:endParaRPr lang="en-US" sz="1400" dirty="0">
              <a:solidFill>
                <a:srgbClr val="643791"/>
              </a:solidFill>
              <a:latin typeface="DM Sans 14pt" pitchFamily="2" charset="77"/>
              <a:cs typeface="Arial" pitchFamily="34" charset="-120"/>
            </a:endParaRPr>
          </a:p>
          <a:p>
            <a:endParaRPr lang="en-US" sz="1400" dirty="0">
              <a:solidFill>
                <a:srgbClr val="643791"/>
              </a:solidFill>
              <a:latin typeface="DM Sans 14pt" pitchFamily="2" charset="77"/>
              <a:cs typeface="Arial" pitchFamily="34" charset="-120"/>
            </a:endParaRPr>
          </a:p>
          <a:p>
            <a:r>
              <a:rPr lang="en-US" sz="1400" dirty="0">
                <a:solidFill>
                  <a:srgbClr val="643791"/>
                </a:solidFill>
                <a:latin typeface="DM Sans 14pt" pitchFamily="2" charset="77"/>
                <a:cs typeface="Arial" pitchFamily="34" charset="-120"/>
              </a:rPr>
              <a:t>{{commentary_average_point_</a:t>
            </a:r>
            <a:r>
              <a:rPr lang="en-US" sz="1400">
                <a:solidFill>
                  <a:srgbClr val="643791"/>
                </a:solidFill>
                <a:latin typeface="DM Sans 14pt" pitchFamily="2" charset="77"/>
                <a:cs typeface="Arial" pitchFamily="34" charset="-120"/>
              </a:rPr>
              <a:t>1}}</a:t>
            </a:r>
            <a:endParaRPr lang="en-US" sz="1400" dirty="0">
              <a:solidFill>
                <a:srgbClr val="643791"/>
              </a:solidFill>
              <a:latin typeface="DM Sans 14pt" pitchFamily="2" charset="77"/>
              <a:cs typeface="Arial" pitchFamily="34" charset="-120"/>
            </a:endParaRPr>
          </a:p>
          <a:p>
            <a:endParaRPr lang="en-US" sz="1400" dirty="0">
              <a:solidFill>
                <a:srgbClr val="643791"/>
              </a:solidFill>
              <a:latin typeface="DM Sans 14pt" pitchFamily="2" charset="77"/>
              <a:cs typeface="Arial" pitchFamily="34" charset="-120"/>
            </a:endParaRPr>
          </a:p>
          <a:p>
            <a:r>
              <a:rPr lang="en-US" sz="1400" dirty="0">
                <a:solidFill>
                  <a:srgbClr val="643791"/>
                </a:solidFill>
                <a:latin typeface="DM Sans 14pt" pitchFamily="2" charset="77"/>
                <a:cs typeface="Arial" pitchFamily="34" charset="-120"/>
              </a:rPr>
              <a:t>{{commentary_average_point</a:t>
            </a:r>
            <a:r>
              <a:rPr lang="en-US" sz="1400">
                <a:solidFill>
                  <a:srgbClr val="643791"/>
                </a:solidFill>
                <a:latin typeface="DM Sans 14pt" pitchFamily="2" charset="77"/>
                <a:cs typeface="Arial" pitchFamily="34" charset="-120"/>
              </a:rPr>
              <a:t>_2</a:t>
            </a:r>
            <a:r>
              <a:rPr lang="en-US" sz="1400" dirty="0">
                <a:solidFill>
                  <a:srgbClr val="643791"/>
                </a:solidFill>
                <a:latin typeface="DM Sans 14pt" pitchFamily="2" charset="77"/>
                <a:cs typeface="Arial" pitchFamily="34" charset="-120"/>
              </a:rPr>
              <a:t>}}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600" y="457200"/>
            <a:ext cx="495300" cy="438150"/>
          </a:xfrm>
          <a:prstGeom prst="rect">
            <a:avLst/>
          </a:prstGeom>
          <a:solidFill>
            <a:srgbClr val="643791"/>
          </a:solidFill>
          <a:ln/>
        </p:spPr>
        <p:txBody>
          <a:bodyPr/>
          <a:lstStyle/>
          <a:p>
            <a:endParaRPr lang="en-GB">
              <a:latin typeface="DM Sans 14pt" pitchFamily="2" charset="77"/>
            </a:endParaRPr>
          </a:p>
        </p:txBody>
      </p:sp>
      <p:sp>
        <p:nvSpPr>
          <p:cNvPr id="3" name="Text 1"/>
          <p:cNvSpPr/>
          <p:nvPr/>
        </p:nvSpPr>
        <p:spPr>
          <a:xfrm>
            <a:off x="571500" y="476250"/>
            <a:ext cx="49530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350" b="1" kern="0" spc="-27" dirty="0">
                <a:solidFill>
                  <a:srgbClr val="FFFFFF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Go</a:t>
            </a:r>
            <a:endParaRPr lang="en-US" sz="1350" dirty="0">
              <a:latin typeface="DM Sans 14pt" pitchFamily="2" charset="77"/>
            </a:endParaRPr>
          </a:p>
        </p:txBody>
      </p:sp>
      <p:sp>
        <p:nvSpPr>
          <p:cNvPr id="4" name="Text 2"/>
          <p:cNvSpPr/>
          <p:nvPr/>
        </p:nvSpPr>
        <p:spPr>
          <a:xfrm>
            <a:off x="1200150" y="538163"/>
            <a:ext cx="1561505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b="1" kern="0" spc="-16" dirty="0">
                <a:solidFill>
                  <a:srgbClr val="111111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Jobs Go Public</a:t>
            </a:r>
            <a:endParaRPr lang="en-US" sz="1650" dirty="0">
              <a:latin typeface="DM Sans 14pt" pitchFamily="2" charset="77"/>
            </a:endParaRPr>
          </a:p>
        </p:txBody>
      </p:sp>
      <p:sp>
        <p:nvSpPr>
          <p:cNvPr id="6" name="Text 4"/>
          <p:cNvSpPr/>
          <p:nvPr/>
        </p:nvSpPr>
        <p:spPr>
          <a:xfrm>
            <a:off x="762000" y="1047750"/>
            <a:ext cx="9035394" cy="647700"/>
          </a:xfrm>
          <a:prstGeom prst="rect">
            <a:avLst/>
          </a:prstGeom>
          <a:noFill/>
          <a:ln>
            <a:noFill/>
          </a:ln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4800" b="1" kern="0" spc="-144" dirty="0">
                <a:solidFill>
                  <a:srgbClr val="111111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Where your applies came from</a:t>
            </a:r>
            <a:endParaRPr lang="en-US" sz="4800" dirty="0">
              <a:latin typeface="DM Sans 14pt" pitchFamily="2" charset="77"/>
            </a:endParaRPr>
          </a:p>
        </p:txBody>
      </p:sp>
      <p:sp>
        <p:nvSpPr>
          <p:cNvPr id="21" name="Shape 19"/>
          <p:cNvSpPr/>
          <p:nvPr/>
        </p:nvSpPr>
        <p:spPr>
          <a:xfrm>
            <a:off x="762000" y="1866900"/>
            <a:ext cx="11945938" cy="7481190"/>
          </a:xfrm>
          <a:prstGeom prst="roundRect">
            <a:avLst>
              <a:gd name="adj" fmla="val 2331"/>
            </a:avLst>
          </a:prstGeom>
          <a:solidFill>
            <a:srgbClr val="E8E0F2"/>
          </a:solidFill>
          <a:ln w="19050">
            <a:solidFill>
              <a:srgbClr val="643791"/>
            </a:solidFill>
            <a:prstDash val="dash"/>
          </a:ln>
        </p:spPr>
        <p:txBody>
          <a:bodyPr/>
          <a:lstStyle/>
          <a:p>
            <a:endParaRPr lang="en-GB">
              <a:latin typeface="DM Sans 14pt" pitchFamily="2" charset="77"/>
            </a:endParaRPr>
          </a:p>
        </p:txBody>
      </p:sp>
      <p:sp>
        <p:nvSpPr>
          <p:cNvPr id="25" name="Shape 23"/>
          <p:cNvSpPr/>
          <p:nvPr/>
        </p:nvSpPr>
        <p:spPr>
          <a:xfrm>
            <a:off x="864348" y="2297615"/>
            <a:ext cx="11725200" cy="6940550"/>
          </a:xfrm>
          <a:prstGeom prst="roundRect">
            <a:avLst>
              <a:gd name="adj" fmla="val 2521"/>
            </a:avLst>
          </a:prstGeom>
          <a:solidFill>
            <a:srgbClr val="FFFFFF"/>
          </a:solidFill>
          <a:ln w="9525">
            <a:solidFill>
              <a:srgbClr val="000000">
                <a:alpha val="10000"/>
              </a:srgbClr>
            </a:solidFill>
            <a:prstDash val="solid"/>
          </a:ln>
        </p:spPr>
        <p:txBody>
          <a:bodyPr/>
          <a:lstStyle/>
          <a:p>
            <a:r>
              <a:rPr lang="en-US" kern="0" spc="30" dirty="0">
                <a:solidFill>
                  <a:srgbClr val="240F45"/>
                </a:solidFill>
                <a:latin typeface="DM Sans 14pt" pitchFamily="2" charset="77"/>
                <a:ea typeface="monospace" pitchFamily="34" charset="-122"/>
                <a:cs typeface="monospace" pitchFamily="34" charset="-120"/>
              </a:rPr>
              <a:t>{{</a:t>
            </a:r>
            <a:r>
              <a:rPr lang="en-US" kern="0" spc="30" dirty="0" err="1">
                <a:solidFill>
                  <a:srgbClr val="240F45"/>
                </a:solidFill>
                <a:latin typeface="DM Sans 14pt" pitchFamily="2" charset="77"/>
                <a:ea typeface="monospace" pitchFamily="34" charset="-122"/>
                <a:cs typeface="monospace" pitchFamily="34" charset="-120"/>
              </a:rPr>
              <a:t>chart:postings_by_type</a:t>
            </a:r>
            <a:r>
              <a:rPr lang="en-US" kern="0" spc="30" dirty="0">
                <a:solidFill>
                  <a:srgbClr val="240F45"/>
                </a:solidFill>
                <a:latin typeface="DM Sans 14pt" pitchFamily="2" charset="77"/>
                <a:ea typeface="monospace" pitchFamily="34" charset="-122"/>
                <a:cs typeface="monospace" pitchFamily="34" charset="-120"/>
              </a:rPr>
              <a:t>}}</a:t>
            </a:r>
            <a:endParaRPr lang="en-US" dirty="0">
              <a:latin typeface="DM Sans 14pt" pitchFamily="2" charset="77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4893357" y="1902227"/>
            <a:ext cx="3931965" cy="190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ctr">
              <a:buNone/>
            </a:pPr>
            <a:endParaRPr lang="en-US" sz="1050" dirty="0">
              <a:latin typeface="DM Sans 14pt" pitchFamily="2" charset="77"/>
            </a:endParaRPr>
          </a:p>
        </p:txBody>
      </p:sp>
      <p:sp>
        <p:nvSpPr>
          <p:cNvPr id="35" name="Text 33"/>
          <p:cNvSpPr/>
          <p:nvPr/>
        </p:nvSpPr>
        <p:spPr>
          <a:xfrm>
            <a:off x="609600" y="9753600"/>
            <a:ext cx="2373511" cy="190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85000" lnSpcReduction="10000"/>
          </a:bodyPr>
          <a:lstStyle/>
          <a:p>
            <a:pPr marL="0" indent="0" algn="l">
              <a:buNone/>
            </a:pPr>
            <a:r>
              <a:rPr lang="en-US" sz="1050" kern="0" spc="42" dirty="0">
                <a:solidFill>
                  <a:srgbClr val="111111">
                    <a:alpha val="63000"/>
                  </a:srgbClr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{{client_name}} · Advertising Report</a:t>
            </a:r>
            <a:endParaRPr lang="en-US" sz="1050" dirty="0">
              <a:latin typeface="DM Sans 14pt" pitchFamily="2" charset="77"/>
            </a:endParaRPr>
          </a:p>
        </p:txBody>
      </p:sp>
      <p:sp>
        <p:nvSpPr>
          <p:cNvPr id="46" name="Text 3">
            <a:extLst>
              <a:ext uri="{FF2B5EF4-FFF2-40B4-BE49-F238E27FC236}">
                <a16:creationId xmlns:a16="http://schemas.microsoft.com/office/drawing/2014/main" id="{62BE7D87-7869-8168-6968-EDBE76A419EB}"/>
              </a:ext>
            </a:extLst>
          </p:cNvPr>
          <p:cNvSpPr/>
          <p:nvPr/>
        </p:nvSpPr>
        <p:spPr>
          <a:xfrm>
            <a:off x="12995755" y="575051"/>
            <a:ext cx="4703047" cy="280800"/>
          </a:xfrm>
          <a:prstGeom prst="rect">
            <a:avLst/>
          </a:prstGeom>
          <a:noFill/>
          <a:ln>
            <a:noFill/>
          </a:ln>
        </p:spPr>
        <p:txBody>
          <a:bodyPr wrap="square" lIns="25400" tIns="25400" rIns="25400" bIns="25400" rtlCol="0" anchor="t">
            <a:normAutofit/>
          </a:bodyPr>
          <a:lstStyle/>
          <a:p>
            <a:pPr algn="r"/>
            <a:r>
              <a:rPr lang="en-US" sz="1200" kern="0" spc="420" dirty="0">
                <a:solidFill>
                  <a:srgbClr val="643791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03 · JOB POSTINGS</a:t>
            </a:r>
            <a:endParaRPr lang="en-US" sz="1200" dirty="0">
              <a:latin typeface="DM Sans 14pt" pitchFamily="2" charset="77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C07A67A-A209-CB62-2E13-644DBB245FFF}"/>
              </a:ext>
            </a:extLst>
          </p:cNvPr>
          <p:cNvSpPr/>
          <p:nvPr/>
        </p:nvSpPr>
        <p:spPr>
          <a:xfrm>
            <a:off x="872369" y="1866900"/>
            <a:ext cx="8009197" cy="428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lang="en-US" kern="0" spc="84" dirty="0">
                <a:solidFill>
                  <a:srgbClr val="111111">
                    <a:alpha val="63000"/>
                  </a:srgbClr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Postings · views · apply clicks per category</a:t>
            </a:r>
            <a:endParaRPr lang="en-US" dirty="0">
              <a:latin typeface="DM Sans 14pt" pitchFamily="2" charset="77"/>
            </a:endParaRPr>
          </a:p>
        </p:txBody>
      </p:sp>
      <p:sp>
        <p:nvSpPr>
          <p:cNvPr id="8" name="Footer Placeholder 1">
            <a:extLst>
              <a:ext uri="{FF2B5EF4-FFF2-40B4-BE49-F238E27FC236}">
                <a16:creationId xmlns:a16="http://schemas.microsoft.com/office/drawing/2014/main" id="{9C15951F-B6DE-38FF-7696-8351EB1A8602}"/>
              </a:ext>
            </a:extLst>
          </p:cNvPr>
          <p:cNvSpPr txBox="1">
            <a:spLocks/>
          </p:cNvSpPr>
          <p:nvPr/>
        </p:nvSpPr>
        <p:spPr>
          <a:xfrm>
            <a:off x="17233255" y="9753300"/>
            <a:ext cx="522000" cy="190800"/>
          </a:xfrm>
          <a:prstGeom prst="rect">
            <a:avLst/>
          </a:prstGeom>
        </p:spPr>
        <p:txBody>
          <a:bodyPr vert="horz" lIns="36000" tIns="36000" rIns="36000" bIns="36000" rtlCol="0" anchor="ctr"/>
          <a:lstStyle>
            <a:lvl1pPr marL="0" algn="l" defTabSz="914400" rtl="0" eaLnBrk="1" latinLnBrk="0" hangingPunct="1">
              <a:defRPr sz="900" kern="1200">
                <a:solidFill>
                  <a:srgbClr val="E8E0F2"/>
                </a:solidFill>
                <a:latin typeface="DM Sans 14pt" pitchFamily="2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dirty="0">
                <a:solidFill>
                  <a:srgbClr val="757575"/>
                </a:solidFill>
              </a:rPr>
              <a:t>{{</a:t>
            </a:r>
            <a:r>
              <a:rPr lang="en-GB" dirty="0" err="1">
                <a:solidFill>
                  <a:srgbClr val="757575"/>
                </a:solidFill>
              </a:rPr>
              <a:t>slide_number</a:t>
            </a:r>
            <a:r>
              <a:rPr lang="en-GB" dirty="0">
                <a:solidFill>
                  <a:srgbClr val="757575"/>
                </a:solidFill>
              </a:rPr>
              <a:t>}} / {{</a:t>
            </a:r>
            <a:r>
              <a:rPr lang="en-GB" dirty="0" err="1">
                <a:solidFill>
                  <a:srgbClr val="757575"/>
                </a:solidFill>
              </a:rPr>
              <a:t>total_slides</a:t>
            </a:r>
            <a:r>
              <a:rPr lang="en-GB" dirty="0">
                <a:solidFill>
                  <a:srgbClr val="757575"/>
                </a:solidFill>
              </a:rPr>
              <a:t>}}</a:t>
            </a:r>
          </a:p>
        </p:txBody>
      </p:sp>
      <p:sp>
        <p:nvSpPr>
          <p:cNvPr id="10" name="Shape 28">
            <a:extLst>
              <a:ext uri="{FF2B5EF4-FFF2-40B4-BE49-F238E27FC236}">
                <a16:creationId xmlns:a16="http://schemas.microsoft.com/office/drawing/2014/main" id="{AFE5766F-F155-3B07-428B-A39029D39CF9}"/>
              </a:ext>
            </a:extLst>
          </p:cNvPr>
          <p:cNvSpPr/>
          <p:nvPr/>
        </p:nvSpPr>
        <p:spPr>
          <a:xfrm>
            <a:off x="12995755" y="1866900"/>
            <a:ext cx="4701600" cy="1188000"/>
          </a:xfrm>
          <a:prstGeom prst="roundRect">
            <a:avLst>
              <a:gd name="adj" fmla="val 6000"/>
            </a:avLst>
          </a:prstGeom>
          <a:solidFill>
            <a:srgbClr val="643791">
              <a:alpha val="8000"/>
            </a:srgbClr>
          </a:solidFill>
          <a:ln>
            <a:noFill/>
          </a:ln>
        </p:spPr>
        <p:txBody>
          <a:bodyPr/>
          <a:lstStyle/>
          <a:p>
            <a:r>
              <a:rPr lang="en-GB" sz="1400" dirty="0">
                <a:solidFill>
                  <a:srgbClr val="643791"/>
                </a:solidFill>
                <a:latin typeface="DM Sans 14pt" pitchFamily="2" charset="77"/>
              </a:rPr>
              <a:t>{{</a:t>
            </a:r>
            <a:r>
              <a:rPr lang="en-GB" sz="1400" dirty="0" err="1">
                <a:solidFill>
                  <a:srgbClr val="643791"/>
                </a:solidFill>
                <a:latin typeface="DM Sans 14pt" pitchFamily="2" charset="77"/>
              </a:rPr>
              <a:t>chart_explainer_postings_by_type</a:t>
            </a:r>
            <a:r>
              <a:rPr lang="en-GB" sz="1400" dirty="0">
                <a:solidFill>
                  <a:srgbClr val="643791"/>
                </a:solidFill>
                <a:latin typeface="DM Sans 14pt" pitchFamily="2" charset="77"/>
              </a:rPr>
              <a:t>}}</a:t>
            </a:r>
          </a:p>
        </p:txBody>
      </p:sp>
      <p:sp>
        <p:nvSpPr>
          <p:cNvPr id="11" name="Text 27">
            <a:extLst>
              <a:ext uri="{FF2B5EF4-FFF2-40B4-BE49-F238E27FC236}">
                <a16:creationId xmlns:a16="http://schemas.microsoft.com/office/drawing/2014/main" id="{701E97B9-499D-96E0-E342-773D2083064A}"/>
              </a:ext>
            </a:extLst>
          </p:cNvPr>
          <p:cNvSpPr/>
          <p:nvPr/>
        </p:nvSpPr>
        <p:spPr>
          <a:xfrm>
            <a:off x="12995755" y="3259384"/>
            <a:ext cx="4701600" cy="48886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400" b="1" kern="0" spc="368" dirty="0">
                <a:solidFill>
                  <a:srgbClr val="643791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COMMENTARY</a:t>
            </a:r>
            <a:endParaRPr lang="en-US" sz="2400" b="1" dirty="0">
              <a:latin typeface="DM Sans 14pt" pitchFamily="2" charset="77"/>
            </a:endParaRPr>
          </a:p>
        </p:txBody>
      </p:sp>
      <p:sp>
        <p:nvSpPr>
          <p:cNvPr id="13" name="Shape 28">
            <a:extLst>
              <a:ext uri="{FF2B5EF4-FFF2-40B4-BE49-F238E27FC236}">
                <a16:creationId xmlns:a16="http://schemas.microsoft.com/office/drawing/2014/main" id="{2BF818E8-0463-8F64-E3B9-F3CA68736DF1}"/>
              </a:ext>
            </a:extLst>
          </p:cNvPr>
          <p:cNvSpPr/>
          <p:nvPr/>
        </p:nvSpPr>
        <p:spPr>
          <a:xfrm>
            <a:off x="12995755" y="3748249"/>
            <a:ext cx="4701600" cy="5606765"/>
          </a:xfrm>
          <a:prstGeom prst="roundRect">
            <a:avLst>
              <a:gd name="adj" fmla="val 3000"/>
            </a:avLst>
          </a:prstGeom>
          <a:solidFill>
            <a:srgbClr val="643791">
              <a:alpha val="8000"/>
            </a:srgbClr>
          </a:solidFill>
          <a:ln/>
        </p:spPr>
        <p:txBody>
          <a:bodyPr/>
          <a:lstStyle/>
          <a:p>
            <a:r>
              <a:rPr lang="en-US" sz="1400">
                <a:solidFill>
                  <a:srgbClr val="643791"/>
                </a:solidFill>
                <a:latin typeface="DM Sans 14pt" pitchFamily="2" charset="77"/>
                <a:cs typeface="Arial" pitchFamily="34" charset="-120"/>
              </a:rPr>
              <a:t>{{</a:t>
            </a:r>
            <a:r>
              <a:rPr lang="en-US" sz="1400" dirty="0" err="1">
                <a:solidFill>
                  <a:srgbClr val="643791"/>
                </a:solidFill>
                <a:latin typeface="DM Sans 14pt" pitchFamily="2" charset="77"/>
                <a:cs typeface="Arial" pitchFamily="34" charset="-120"/>
              </a:rPr>
              <a:t>commentary</a:t>
            </a:r>
            <a:r>
              <a:rPr lang="en-US" sz="1400" err="1">
                <a:solidFill>
                  <a:srgbClr val="643791"/>
                </a:solidFill>
                <a:latin typeface="DM Sans 14pt" pitchFamily="2" charset="77"/>
                <a:cs typeface="Arial" pitchFamily="34" charset="-120"/>
              </a:rPr>
              <a:t>_</a:t>
            </a:r>
            <a:r>
              <a:rPr lang="en-US" sz="1400">
                <a:solidFill>
                  <a:srgbClr val="643791"/>
                </a:solidFill>
                <a:latin typeface="DM Sans 14pt" pitchFamily="2" charset="77"/>
                <a:cs typeface="Arial" pitchFamily="34" charset="-120"/>
              </a:rPr>
              <a:t>postings_intro}}</a:t>
            </a:r>
            <a:endParaRPr lang="en-US" sz="1400" dirty="0">
              <a:solidFill>
                <a:srgbClr val="643791"/>
              </a:solidFill>
              <a:latin typeface="DM Sans 14pt" pitchFamily="2" charset="77"/>
              <a:cs typeface="Arial" pitchFamily="34" charset="-120"/>
            </a:endParaRPr>
          </a:p>
          <a:p>
            <a:endParaRPr lang="en-US" sz="1400" dirty="0">
              <a:solidFill>
                <a:srgbClr val="643791"/>
              </a:solidFill>
              <a:latin typeface="DM Sans 14pt" pitchFamily="2" charset="77"/>
              <a:cs typeface="Arial" pitchFamily="34" charset="-120"/>
            </a:endParaRPr>
          </a:p>
          <a:p>
            <a:r>
              <a:rPr lang="en-US" sz="1400" dirty="0">
                <a:solidFill>
                  <a:srgbClr val="643791"/>
                </a:solidFill>
                <a:latin typeface="DM Sans 14pt" pitchFamily="2" charset="77"/>
                <a:cs typeface="Arial" pitchFamily="34" charset="-120"/>
              </a:rPr>
              <a:t>{{commentary_postings_</a:t>
            </a:r>
            <a:r>
              <a:rPr lang="en-US" sz="1400">
                <a:solidFill>
                  <a:srgbClr val="643791"/>
                </a:solidFill>
                <a:latin typeface="DM Sans 14pt" pitchFamily="2" charset="77"/>
                <a:cs typeface="Arial" pitchFamily="34" charset="-120"/>
              </a:rPr>
              <a:t>point_1}}</a:t>
            </a:r>
            <a:endParaRPr lang="en-US" sz="1400" dirty="0">
              <a:solidFill>
                <a:srgbClr val="643791"/>
              </a:solidFill>
              <a:latin typeface="DM Sans 14pt" pitchFamily="2" charset="77"/>
              <a:cs typeface="Arial" pitchFamily="34" charset="-120"/>
            </a:endParaRPr>
          </a:p>
          <a:p>
            <a:endParaRPr lang="en-US" sz="1400" dirty="0">
              <a:solidFill>
                <a:srgbClr val="643791"/>
              </a:solidFill>
              <a:latin typeface="DM Sans 14pt" pitchFamily="2" charset="77"/>
              <a:cs typeface="Arial" pitchFamily="34" charset="-120"/>
            </a:endParaRPr>
          </a:p>
          <a:p>
            <a:r>
              <a:rPr lang="en-US" sz="1400" dirty="0">
                <a:solidFill>
                  <a:srgbClr val="643791"/>
                </a:solidFill>
                <a:latin typeface="DM Sans 14pt" pitchFamily="2" charset="77"/>
                <a:cs typeface="Arial" pitchFamily="34" charset="-120"/>
              </a:rPr>
              <a:t>{{commentary_postings_</a:t>
            </a:r>
            <a:r>
              <a:rPr lang="en-US" sz="1400">
                <a:solidFill>
                  <a:srgbClr val="643791"/>
                </a:solidFill>
                <a:latin typeface="DM Sans 14pt" pitchFamily="2" charset="77"/>
                <a:cs typeface="Arial" pitchFamily="34" charset="-120"/>
              </a:rPr>
              <a:t>point_2}}</a:t>
            </a:r>
            <a:endParaRPr lang="en-US" sz="1400" dirty="0">
              <a:solidFill>
                <a:srgbClr val="643791"/>
              </a:solidFill>
              <a:latin typeface="DM Sans 14pt" pitchFamily="2" charset="77"/>
              <a:cs typeface="Arial" pitchFamily="34" charset="-120"/>
            </a:endParaRPr>
          </a:p>
          <a:p>
            <a:endParaRPr lang="en-US" sz="1400" dirty="0">
              <a:solidFill>
                <a:srgbClr val="643791"/>
              </a:solidFill>
              <a:latin typeface="DM Sans 14pt" pitchFamily="2" charset="77"/>
              <a:cs typeface="Arial" pitchFamily="34" charset="-120"/>
            </a:endParaRPr>
          </a:p>
          <a:p>
            <a:r>
              <a:rPr lang="en-US" sz="1400" dirty="0">
                <a:solidFill>
                  <a:srgbClr val="643791"/>
                </a:solidFill>
                <a:latin typeface="DM Sans 14pt" pitchFamily="2" charset="77"/>
                <a:cs typeface="Arial" pitchFamily="34" charset="-120"/>
              </a:rPr>
              <a:t>{{commentary</a:t>
            </a:r>
            <a:r>
              <a:rPr lang="en-US" sz="1400">
                <a:solidFill>
                  <a:srgbClr val="643791"/>
                </a:solidFill>
                <a:latin typeface="DM Sans 14pt" pitchFamily="2" charset="77"/>
                <a:cs typeface="Arial" pitchFamily="34" charset="-120"/>
              </a:rPr>
              <a:t>_postings_point_3}}</a:t>
            </a:r>
            <a:endParaRPr lang="en-US" sz="1400" dirty="0">
              <a:solidFill>
                <a:srgbClr val="643791"/>
              </a:solidFill>
              <a:latin typeface="DM Sans 14pt" pitchFamily="2" charset="77"/>
              <a:cs typeface="Arial" pitchFamily="34" charset="-120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8E0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Shape 22">
            <a:extLst>
              <a:ext uri="{FF2B5EF4-FFF2-40B4-BE49-F238E27FC236}">
                <a16:creationId xmlns:a16="http://schemas.microsoft.com/office/drawing/2014/main" id="{1FA0AF3D-C6C8-7A95-0AC0-E7674622E367}"/>
              </a:ext>
            </a:extLst>
          </p:cNvPr>
          <p:cNvSpPr/>
          <p:nvPr/>
        </p:nvSpPr>
        <p:spPr>
          <a:xfrm>
            <a:off x="3898198" y="2799557"/>
            <a:ext cx="8805984" cy="6547741"/>
          </a:xfrm>
          <a:prstGeom prst="roundRect">
            <a:avLst>
              <a:gd name="adj" fmla="val 2332"/>
            </a:avLst>
          </a:prstGeom>
          <a:solidFill>
            <a:srgbClr val="E8E0F2"/>
          </a:solidFill>
          <a:ln w="19050">
            <a:solidFill>
              <a:srgbClr val="643791"/>
            </a:solidFill>
            <a:prstDash val="dash"/>
          </a:ln>
        </p:spPr>
        <p:txBody>
          <a:bodyPr/>
          <a:lstStyle/>
          <a:p>
            <a:endParaRPr lang="en-GB">
              <a:latin typeface="DM Sans 14pt" pitchFamily="2" charset="77"/>
            </a:endParaRPr>
          </a:p>
        </p:txBody>
      </p:sp>
      <p:sp>
        <p:nvSpPr>
          <p:cNvPr id="2" name="Shape 0"/>
          <p:cNvSpPr/>
          <p:nvPr/>
        </p:nvSpPr>
        <p:spPr>
          <a:xfrm>
            <a:off x="609600" y="457200"/>
            <a:ext cx="495300" cy="438150"/>
          </a:xfrm>
          <a:prstGeom prst="rect">
            <a:avLst/>
          </a:prstGeom>
          <a:solidFill>
            <a:srgbClr val="643791"/>
          </a:solidFill>
          <a:ln/>
        </p:spPr>
        <p:txBody>
          <a:bodyPr/>
          <a:lstStyle/>
          <a:p>
            <a:endParaRPr lang="en-GB">
              <a:latin typeface="DM Sans 14pt" pitchFamily="2" charset="77"/>
            </a:endParaRPr>
          </a:p>
        </p:txBody>
      </p:sp>
      <p:sp>
        <p:nvSpPr>
          <p:cNvPr id="3" name="Text 1"/>
          <p:cNvSpPr/>
          <p:nvPr/>
        </p:nvSpPr>
        <p:spPr>
          <a:xfrm>
            <a:off x="571500" y="476250"/>
            <a:ext cx="49530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350" b="1" kern="0" spc="-27" dirty="0">
                <a:solidFill>
                  <a:srgbClr val="FFFFFF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Go</a:t>
            </a:r>
            <a:endParaRPr lang="en-US" sz="1350" dirty="0">
              <a:latin typeface="DM Sans 14pt" pitchFamily="2" charset="77"/>
            </a:endParaRPr>
          </a:p>
        </p:txBody>
      </p:sp>
      <p:sp>
        <p:nvSpPr>
          <p:cNvPr id="4" name="Text 2"/>
          <p:cNvSpPr/>
          <p:nvPr/>
        </p:nvSpPr>
        <p:spPr>
          <a:xfrm>
            <a:off x="1200150" y="538163"/>
            <a:ext cx="1561505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b="1" kern="0" spc="-16" dirty="0">
                <a:solidFill>
                  <a:srgbClr val="111111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Jobs Go Public</a:t>
            </a:r>
            <a:endParaRPr lang="en-US" sz="1650" dirty="0">
              <a:latin typeface="DM Sans 14pt" pitchFamily="2" charset="77"/>
            </a:endParaRPr>
          </a:p>
        </p:txBody>
      </p:sp>
      <p:sp>
        <p:nvSpPr>
          <p:cNvPr id="6" name="Text 4"/>
          <p:cNvSpPr/>
          <p:nvPr/>
        </p:nvSpPr>
        <p:spPr>
          <a:xfrm>
            <a:off x="762000" y="1047750"/>
            <a:ext cx="8166530" cy="647700"/>
          </a:xfrm>
          <a:prstGeom prst="rect">
            <a:avLst/>
          </a:prstGeom>
          <a:noFill/>
          <a:ln>
            <a:noFill/>
          </a:ln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4800" b="1" kern="0" spc="-144" dirty="0">
                <a:solidFill>
                  <a:srgbClr val="111111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Return on your subscription</a:t>
            </a:r>
            <a:endParaRPr lang="en-US" sz="4800" dirty="0">
              <a:latin typeface="DM Sans 14pt" pitchFamily="2" charset="77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762000" y="2800350"/>
            <a:ext cx="3036564" cy="6546948"/>
          </a:xfrm>
          <a:prstGeom prst="roundRect">
            <a:avLst>
              <a:gd name="adj" fmla="val 5085"/>
            </a:avLst>
          </a:prstGeom>
          <a:solidFill>
            <a:srgbClr val="E8E0F2"/>
          </a:solidFill>
          <a:ln w="19050">
            <a:solidFill>
              <a:srgbClr val="643791"/>
            </a:solidFill>
            <a:prstDash val="dash"/>
          </a:ln>
        </p:spPr>
        <p:txBody>
          <a:bodyPr/>
          <a:lstStyle/>
          <a:p>
            <a:endParaRPr lang="en-GB">
              <a:latin typeface="DM Sans 14pt" pitchFamily="2" charset="77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868675" y="3227185"/>
            <a:ext cx="2822400" cy="6013810"/>
          </a:xfrm>
          <a:prstGeom prst="roundRect">
            <a:avLst>
              <a:gd name="adj" fmla="val 5356"/>
            </a:avLst>
          </a:prstGeom>
          <a:solidFill>
            <a:srgbClr val="FFFFFF"/>
          </a:solidFill>
          <a:ln w="9525">
            <a:solidFill>
              <a:srgbClr val="000000">
                <a:alpha val="10000"/>
              </a:srgbClr>
            </a:solidFill>
            <a:prstDash val="solid"/>
          </a:ln>
        </p:spPr>
        <p:txBody>
          <a:bodyPr/>
          <a:lstStyle/>
          <a:p>
            <a:r>
              <a:rPr lang="en-US" kern="0" spc="30" dirty="0">
                <a:solidFill>
                  <a:srgbClr val="240F45"/>
                </a:solidFill>
                <a:latin typeface="DM Sans 14pt" pitchFamily="2" charset="77"/>
                <a:ea typeface="monospace" pitchFamily="34" charset="-122"/>
                <a:cs typeface="monospace" pitchFamily="34" charset="-120"/>
              </a:rPr>
              <a:t>{{</a:t>
            </a:r>
            <a:r>
              <a:rPr lang="en-US" kern="0" spc="30" dirty="0" err="1">
                <a:solidFill>
                  <a:srgbClr val="240F45"/>
                </a:solidFill>
                <a:latin typeface="DM Sans 14pt" pitchFamily="2" charset="77"/>
                <a:ea typeface="monospace" pitchFamily="34" charset="-122"/>
                <a:cs typeface="monospace" pitchFamily="34" charset="-120"/>
              </a:rPr>
              <a:t>chart:spend_vs_ratecard</a:t>
            </a:r>
            <a:r>
              <a:rPr lang="en-US" kern="0" spc="30" dirty="0">
                <a:solidFill>
                  <a:srgbClr val="240F45"/>
                </a:solidFill>
                <a:latin typeface="DM Sans 14pt" pitchFamily="2" charset="77"/>
                <a:ea typeface="monospace" pitchFamily="34" charset="-122"/>
                <a:cs typeface="monospace" pitchFamily="34" charset="-120"/>
              </a:rPr>
              <a:t>}}</a:t>
            </a:r>
            <a:endParaRPr lang="en-US" dirty="0">
              <a:latin typeface="DM Sans 14pt" pitchFamily="2" charset="77"/>
            </a:endParaRPr>
          </a:p>
        </p:txBody>
      </p:sp>
      <p:sp>
        <p:nvSpPr>
          <p:cNvPr id="38" name="Text 36"/>
          <p:cNvSpPr/>
          <p:nvPr/>
        </p:nvSpPr>
        <p:spPr>
          <a:xfrm>
            <a:off x="609600" y="9753600"/>
            <a:ext cx="2373511" cy="190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85000" lnSpcReduction="10000"/>
          </a:bodyPr>
          <a:lstStyle/>
          <a:p>
            <a:pPr marL="0" indent="0" algn="l">
              <a:buNone/>
            </a:pPr>
            <a:r>
              <a:rPr lang="en-US" sz="1050" kern="0" spc="42" dirty="0">
                <a:solidFill>
                  <a:srgbClr val="111111">
                    <a:alpha val="63000"/>
                  </a:srgbClr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{{client_name}} · Advertising Report</a:t>
            </a:r>
            <a:endParaRPr lang="en-US" sz="1050" dirty="0">
              <a:latin typeface="DM Sans 14pt" pitchFamily="2" charset="77"/>
            </a:endParaRPr>
          </a:p>
        </p:txBody>
      </p:sp>
      <p:sp>
        <p:nvSpPr>
          <p:cNvPr id="7" name="Shape 26">
            <a:extLst>
              <a:ext uri="{FF2B5EF4-FFF2-40B4-BE49-F238E27FC236}">
                <a16:creationId xmlns:a16="http://schemas.microsoft.com/office/drawing/2014/main" id="{02ECFA5D-F050-4107-9A4C-51CC49989A6F}"/>
              </a:ext>
            </a:extLst>
          </p:cNvPr>
          <p:cNvSpPr/>
          <p:nvPr/>
        </p:nvSpPr>
        <p:spPr>
          <a:xfrm>
            <a:off x="4006390" y="3227184"/>
            <a:ext cx="8589600" cy="6013812"/>
          </a:xfrm>
          <a:prstGeom prst="roundRect">
            <a:avLst>
              <a:gd name="adj" fmla="val 2486"/>
            </a:avLst>
          </a:prstGeom>
          <a:solidFill>
            <a:srgbClr val="FFFFFF"/>
          </a:solidFill>
          <a:ln w="9525">
            <a:solidFill>
              <a:srgbClr val="000000">
                <a:alpha val="10000"/>
              </a:srgbClr>
            </a:solidFill>
            <a:prstDash val="solid"/>
          </a:ln>
        </p:spPr>
        <p:txBody>
          <a:bodyPr/>
          <a:lstStyle/>
          <a:p>
            <a:r>
              <a:rPr lang="en-US" kern="0" spc="30" dirty="0">
                <a:solidFill>
                  <a:srgbClr val="240F45"/>
                </a:solidFill>
                <a:latin typeface="DM Sans 14pt" pitchFamily="2" charset="77"/>
                <a:ea typeface="monospace" pitchFamily="34" charset="-122"/>
                <a:cs typeface="monospace" pitchFamily="34" charset="-120"/>
              </a:rPr>
              <a:t>{{</a:t>
            </a:r>
            <a:r>
              <a:rPr lang="en-US" kern="0" spc="30" dirty="0" err="1">
                <a:solidFill>
                  <a:srgbClr val="240F45"/>
                </a:solidFill>
                <a:latin typeface="DM Sans 14pt" pitchFamily="2" charset="77"/>
                <a:ea typeface="monospace" pitchFamily="34" charset="-122"/>
                <a:cs typeface="monospace" pitchFamily="34" charset="-120"/>
              </a:rPr>
              <a:t>chart:cost_per_app_by_occupation</a:t>
            </a:r>
            <a:r>
              <a:rPr lang="en-US" kern="0" spc="30" dirty="0">
                <a:solidFill>
                  <a:srgbClr val="240F45"/>
                </a:solidFill>
                <a:latin typeface="DM Sans 14pt" pitchFamily="2" charset="77"/>
                <a:ea typeface="monospace" pitchFamily="34" charset="-122"/>
                <a:cs typeface="monospace" pitchFamily="34" charset="-120"/>
              </a:rPr>
              <a:t>}}</a:t>
            </a:r>
            <a:endParaRPr lang="en-US" dirty="0">
              <a:latin typeface="DM Sans 14pt" pitchFamily="2" charset="77"/>
            </a:endParaRPr>
          </a:p>
        </p:txBody>
      </p:sp>
      <p:sp>
        <p:nvSpPr>
          <p:cNvPr id="70" name="Text 3">
            <a:extLst>
              <a:ext uri="{FF2B5EF4-FFF2-40B4-BE49-F238E27FC236}">
                <a16:creationId xmlns:a16="http://schemas.microsoft.com/office/drawing/2014/main" id="{A5DE5FD6-3A8E-E663-3EA5-D6DE5AEB793B}"/>
              </a:ext>
            </a:extLst>
          </p:cNvPr>
          <p:cNvSpPr/>
          <p:nvPr/>
        </p:nvSpPr>
        <p:spPr>
          <a:xfrm>
            <a:off x="12995755" y="575050"/>
            <a:ext cx="4703047" cy="280800"/>
          </a:xfrm>
          <a:prstGeom prst="rect">
            <a:avLst/>
          </a:prstGeom>
          <a:noFill/>
          <a:ln>
            <a:noFill/>
          </a:ln>
        </p:spPr>
        <p:txBody>
          <a:bodyPr wrap="square" lIns="25400" tIns="25400" rIns="25400" bIns="25400" rtlCol="0" anchor="t">
            <a:normAutofit/>
          </a:bodyPr>
          <a:lstStyle/>
          <a:p>
            <a:pPr algn="r"/>
            <a:r>
              <a:rPr lang="en-US" sz="1200" kern="0" spc="420" dirty="0">
                <a:solidFill>
                  <a:srgbClr val="643791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04 · ADVERTISING ROI</a:t>
            </a:r>
            <a:endParaRPr lang="en-US" sz="1200" dirty="0">
              <a:latin typeface="DM Sans 14pt" pitchFamily="2" charset="77"/>
            </a:endParaRPr>
          </a:p>
        </p:txBody>
      </p:sp>
      <p:sp>
        <p:nvSpPr>
          <p:cNvPr id="31" name="Shape 6">
            <a:extLst>
              <a:ext uri="{FF2B5EF4-FFF2-40B4-BE49-F238E27FC236}">
                <a16:creationId xmlns:a16="http://schemas.microsoft.com/office/drawing/2014/main" id="{09A0168B-F380-80A7-39A5-36B8F464A5FE}"/>
              </a:ext>
            </a:extLst>
          </p:cNvPr>
          <p:cNvSpPr/>
          <p:nvPr/>
        </p:nvSpPr>
        <p:spPr>
          <a:xfrm>
            <a:off x="761999" y="1866900"/>
            <a:ext cx="2772000" cy="723600"/>
          </a:xfrm>
          <a:prstGeom prst="roundRect">
            <a:avLst/>
          </a:prstGeom>
          <a:solidFill>
            <a:srgbClr val="643791"/>
          </a:solidFill>
          <a:ln/>
        </p:spPr>
        <p:txBody>
          <a:bodyPr/>
          <a:lstStyle/>
          <a:p>
            <a:pPr algn="r"/>
            <a:r>
              <a:rPr lang="en-US" sz="1050" kern="0" spc="182" dirty="0">
                <a:solidFill>
                  <a:srgbClr val="FFFFFF">
                    <a:alpha val="85000"/>
                  </a:srgbClr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JOBS </a:t>
            </a:r>
          </a:p>
          <a:p>
            <a:pPr algn="r"/>
            <a:r>
              <a:rPr lang="en-US" sz="1050" kern="0" spc="182" dirty="0">
                <a:solidFill>
                  <a:srgbClr val="FFFFFF">
                    <a:alpha val="85000"/>
                  </a:srgbClr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ADVERTISED </a:t>
            </a:r>
          </a:p>
          <a:p>
            <a:pPr algn="r"/>
            <a:r>
              <a:rPr lang="en-US" sz="1050" kern="0" spc="182" dirty="0">
                <a:solidFill>
                  <a:srgbClr val="FFFFFF">
                    <a:alpha val="85000"/>
                  </a:srgbClr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THIS PERIOD</a:t>
            </a:r>
            <a:endParaRPr lang="en-US" sz="1050" dirty="0">
              <a:latin typeface="DM Sans 14pt" pitchFamily="2" charset="77"/>
            </a:endParaRPr>
          </a:p>
        </p:txBody>
      </p:sp>
      <p:sp>
        <p:nvSpPr>
          <p:cNvPr id="32" name="Shape 7">
            <a:extLst>
              <a:ext uri="{FF2B5EF4-FFF2-40B4-BE49-F238E27FC236}">
                <a16:creationId xmlns:a16="http://schemas.microsoft.com/office/drawing/2014/main" id="{F6C7FAF3-554C-2106-11D3-A3E13AF10E91}"/>
              </a:ext>
            </a:extLst>
          </p:cNvPr>
          <p:cNvSpPr/>
          <p:nvPr/>
        </p:nvSpPr>
        <p:spPr>
          <a:xfrm>
            <a:off x="811592" y="1925993"/>
            <a:ext cx="1407600" cy="604800"/>
          </a:xfrm>
          <a:prstGeom prst="roundRect">
            <a:avLst>
              <a:gd name="adj" fmla="val 17778"/>
            </a:avLst>
          </a:prstGeom>
          <a:solidFill>
            <a:srgbClr val="FFFFFF">
              <a:alpha val="15000"/>
            </a:srgbClr>
          </a:solidFill>
          <a:ln/>
        </p:spPr>
        <p:txBody>
          <a:bodyPr lIns="36000" tIns="36000" rIns="36000" bIns="36000" anchor="ctr"/>
          <a:lstStyle/>
          <a:p>
            <a:pPr algn="ctr"/>
            <a:r>
              <a:rPr lang="en-US" sz="2800" kern="0" spc="-67" dirty="0">
                <a:solidFill>
                  <a:srgbClr val="FFFFFF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{{</a:t>
            </a:r>
            <a:r>
              <a:rPr lang="en-US" sz="2800" kern="0" spc="-67" dirty="0" err="1">
                <a:solidFill>
                  <a:srgbClr val="FFFFFF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stat_total_jobs</a:t>
            </a:r>
            <a:r>
              <a:rPr lang="en-US" sz="2800" kern="0" spc="-67" dirty="0">
                <a:solidFill>
                  <a:srgbClr val="FFFFFF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}}</a:t>
            </a:r>
            <a:endParaRPr lang="en-US" sz="2800" dirty="0">
              <a:latin typeface="DM Sans 14pt" pitchFamily="2" charset="77"/>
            </a:endParaRPr>
          </a:p>
        </p:txBody>
      </p:sp>
      <p:sp>
        <p:nvSpPr>
          <p:cNvPr id="33" name="Shape 6">
            <a:extLst>
              <a:ext uri="{FF2B5EF4-FFF2-40B4-BE49-F238E27FC236}">
                <a16:creationId xmlns:a16="http://schemas.microsoft.com/office/drawing/2014/main" id="{94E35CDC-E6D9-1C8A-2FF0-8C32B865FB4F}"/>
              </a:ext>
            </a:extLst>
          </p:cNvPr>
          <p:cNvSpPr/>
          <p:nvPr/>
        </p:nvSpPr>
        <p:spPr>
          <a:xfrm>
            <a:off x="3778939" y="1866900"/>
            <a:ext cx="2772000" cy="723600"/>
          </a:xfrm>
          <a:prstGeom prst="roundRect">
            <a:avLst/>
          </a:prstGeom>
          <a:solidFill>
            <a:srgbClr val="E6FF6E"/>
          </a:solidFill>
          <a:ln/>
        </p:spPr>
        <p:txBody>
          <a:bodyPr/>
          <a:lstStyle/>
          <a:p>
            <a:pPr algn="r"/>
            <a:r>
              <a:rPr lang="en-US" sz="1050" kern="0" spc="182" dirty="0">
                <a:latin typeface="DM Sans 14pt" pitchFamily="2" charset="77"/>
                <a:ea typeface="Arial" pitchFamily="34" charset="-122"/>
                <a:cs typeface="Arial" pitchFamily="34" charset="-120"/>
              </a:rPr>
              <a:t>COST PER </a:t>
            </a:r>
            <a:br>
              <a:rPr lang="en-US" sz="1050" kern="0" spc="182" dirty="0">
                <a:latin typeface="DM Sans 14pt" pitchFamily="2" charset="77"/>
                <a:ea typeface="Arial" pitchFamily="34" charset="-122"/>
                <a:cs typeface="Arial" pitchFamily="34" charset="-120"/>
              </a:rPr>
            </a:br>
            <a:r>
              <a:rPr lang="en-US" sz="1050" kern="0" spc="182" dirty="0">
                <a:latin typeface="DM Sans 14pt" pitchFamily="2" charset="77"/>
                <a:ea typeface="Arial" pitchFamily="34" charset="-122"/>
                <a:cs typeface="Arial" pitchFamily="34" charset="-120"/>
              </a:rPr>
              <a:t>JOB</a:t>
            </a:r>
            <a:endParaRPr lang="en-US" sz="1050" dirty="0">
              <a:latin typeface="DM Sans 14pt" pitchFamily="2" charset="77"/>
            </a:endParaRPr>
          </a:p>
        </p:txBody>
      </p:sp>
      <p:sp>
        <p:nvSpPr>
          <p:cNvPr id="34" name="Shape 7">
            <a:extLst>
              <a:ext uri="{FF2B5EF4-FFF2-40B4-BE49-F238E27FC236}">
                <a16:creationId xmlns:a16="http://schemas.microsoft.com/office/drawing/2014/main" id="{87887C06-69D9-CF7F-C0DE-8E57574B2DF3}"/>
              </a:ext>
            </a:extLst>
          </p:cNvPr>
          <p:cNvSpPr/>
          <p:nvPr/>
        </p:nvSpPr>
        <p:spPr>
          <a:xfrm>
            <a:off x="3828532" y="1925993"/>
            <a:ext cx="1407600" cy="604800"/>
          </a:xfrm>
          <a:prstGeom prst="roundRect">
            <a:avLst>
              <a:gd name="adj" fmla="val 17778"/>
            </a:avLst>
          </a:prstGeom>
          <a:solidFill>
            <a:srgbClr val="D4EB66"/>
          </a:solidFill>
          <a:ln/>
        </p:spPr>
        <p:txBody>
          <a:bodyPr lIns="36000" tIns="36000" rIns="36000" bIns="36000" anchor="ctr"/>
          <a:lstStyle/>
          <a:p>
            <a:pPr algn="ctr">
              <a:lnSpc>
                <a:spcPct val="110000"/>
              </a:lnSpc>
            </a:pPr>
            <a:r>
              <a:rPr lang="en-GB" sz="2800" dirty="0">
                <a:solidFill>
                  <a:srgbClr val="757575"/>
                </a:solidFill>
                <a:latin typeface="DM Sans 14pt" pitchFamily="2" charset="77"/>
              </a:rPr>
              <a:t>{{</a:t>
            </a:r>
            <a:r>
              <a:rPr lang="en-GB" sz="2800" dirty="0" err="1">
                <a:solidFill>
                  <a:srgbClr val="757575"/>
                </a:solidFill>
                <a:latin typeface="DM Sans 14pt" pitchFamily="2" charset="77"/>
              </a:rPr>
              <a:t>stat_cost_per_job</a:t>
            </a:r>
            <a:r>
              <a:rPr lang="en-GB" sz="2800" dirty="0">
                <a:solidFill>
                  <a:srgbClr val="757575"/>
                </a:solidFill>
                <a:latin typeface="DM Sans 14pt" pitchFamily="2" charset="77"/>
              </a:rPr>
              <a:t>}}</a:t>
            </a:r>
            <a:endParaRPr lang="en-US" sz="2800" dirty="0">
              <a:solidFill>
                <a:srgbClr val="757575"/>
              </a:solidFill>
              <a:latin typeface="DM Sans 14pt" pitchFamily="2" charset="77"/>
            </a:endParaRPr>
          </a:p>
        </p:txBody>
      </p:sp>
      <p:sp>
        <p:nvSpPr>
          <p:cNvPr id="35" name="Shape 6">
            <a:extLst>
              <a:ext uri="{FF2B5EF4-FFF2-40B4-BE49-F238E27FC236}">
                <a16:creationId xmlns:a16="http://schemas.microsoft.com/office/drawing/2014/main" id="{A5E31498-FA6D-09E3-AA19-F3987DD6FE78}"/>
              </a:ext>
            </a:extLst>
          </p:cNvPr>
          <p:cNvSpPr/>
          <p:nvPr/>
        </p:nvSpPr>
        <p:spPr>
          <a:xfrm>
            <a:off x="6736166" y="1866900"/>
            <a:ext cx="2772000" cy="723600"/>
          </a:xfrm>
          <a:prstGeom prst="roundRect">
            <a:avLst/>
          </a:prstGeom>
          <a:solidFill>
            <a:srgbClr val="643791"/>
          </a:solidFill>
          <a:ln/>
        </p:spPr>
        <p:txBody>
          <a:bodyPr/>
          <a:lstStyle/>
          <a:p>
            <a:pPr algn="r"/>
            <a:r>
              <a:rPr lang="en-US" sz="1050" kern="0" spc="182" dirty="0">
                <a:solidFill>
                  <a:srgbClr val="FFFFFF">
                    <a:alpha val="85000"/>
                  </a:srgbClr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COST PER </a:t>
            </a:r>
            <a:br>
              <a:rPr lang="en-US" sz="1050" kern="0" spc="182" dirty="0">
                <a:solidFill>
                  <a:srgbClr val="FFFFFF">
                    <a:alpha val="85000"/>
                  </a:srgbClr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</a:br>
            <a:r>
              <a:rPr lang="en-US" sz="1050" kern="0" spc="182" dirty="0">
                <a:solidFill>
                  <a:srgbClr val="FFFFFF">
                    <a:alpha val="85000"/>
                  </a:srgbClr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VIEW</a:t>
            </a:r>
            <a:endParaRPr lang="en-US" sz="1050" dirty="0">
              <a:latin typeface="DM Sans 14pt" pitchFamily="2" charset="77"/>
            </a:endParaRPr>
          </a:p>
        </p:txBody>
      </p:sp>
      <p:sp>
        <p:nvSpPr>
          <p:cNvPr id="36" name="Shape 7">
            <a:extLst>
              <a:ext uri="{FF2B5EF4-FFF2-40B4-BE49-F238E27FC236}">
                <a16:creationId xmlns:a16="http://schemas.microsoft.com/office/drawing/2014/main" id="{05796D16-C6C7-9826-FA3C-FAF8DCC80115}"/>
              </a:ext>
            </a:extLst>
          </p:cNvPr>
          <p:cNvSpPr/>
          <p:nvPr/>
        </p:nvSpPr>
        <p:spPr>
          <a:xfrm>
            <a:off x="6785759" y="1925993"/>
            <a:ext cx="1407600" cy="604800"/>
          </a:xfrm>
          <a:prstGeom prst="roundRect">
            <a:avLst>
              <a:gd name="adj" fmla="val 17778"/>
            </a:avLst>
          </a:prstGeom>
          <a:solidFill>
            <a:srgbClr val="FFFFFF">
              <a:alpha val="15000"/>
            </a:srgbClr>
          </a:solidFill>
          <a:ln/>
        </p:spPr>
        <p:txBody>
          <a:bodyPr lIns="36000" tIns="36000" rIns="36000" bIns="36000" anchor="ctr"/>
          <a:lstStyle/>
          <a:p>
            <a:pPr algn="ctr"/>
            <a:r>
              <a:rPr lang="en-GB" sz="2800" dirty="0">
                <a:solidFill>
                  <a:schemeClr val="bg1"/>
                </a:solidFill>
                <a:latin typeface="DM Sans 14pt" pitchFamily="2" charset="77"/>
              </a:rPr>
              <a:t>{{</a:t>
            </a:r>
            <a:r>
              <a:rPr lang="en-GB" sz="2800" dirty="0" err="1">
                <a:solidFill>
                  <a:schemeClr val="bg1"/>
                </a:solidFill>
                <a:latin typeface="DM Sans 14pt" pitchFamily="2" charset="77"/>
              </a:rPr>
              <a:t>stat_cost_per_view</a:t>
            </a:r>
            <a:r>
              <a:rPr lang="en-GB" sz="2800" dirty="0">
                <a:solidFill>
                  <a:schemeClr val="bg1"/>
                </a:solidFill>
                <a:latin typeface="DM Sans 14pt" pitchFamily="2" charset="77"/>
              </a:rPr>
              <a:t>}}</a:t>
            </a:r>
            <a:endParaRPr lang="en-US" sz="2800" dirty="0">
              <a:solidFill>
                <a:schemeClr val="bg1"/>
              </a:solidFill>
              <a:latin typeface="DM Sans 14pt" pitchFamily="2" charset="77"/>
            </a:endParaRPr>
          </a:p>
        </p:txBody>
      </p:sp>
      <p:sp>
        <p:nvSpPr>
          <p:cNvPr id="37" name="Shape 6">
            <a:extLst>
              <a:ext uri="{FF2B5EF4-FFF2-40B4-BE49-F238E27FC236}">
                <a16:creationId xmlns:a16="http://schemas.microsoft.com/office/drawing/2014/main" id="{68276EBA-110F-3411-194D-C9E8C43AE6CA}"/>
              </a:ext>
            </a:extLst>
          </p:cNvPr>
          <p:cNvSpPr/>
          <p:nvPr/>
        </p:nvSpPr>
        <p:spPr>
          <a:xfrm>
            <a:off x="9750531" y="1866900"/>
            <a:ext cx="2772000" cy="723600"/>
          </a:xfrm>
          <a:prstGeom prst="roundRect">
            <a:avLst/>
          </a:prstGeom>
          <a:solidFill>
            <a:srgbClr val="E6FF6E"/>
          </a:solidFill>
          <a:ln/>
        </p:spPr>
        <p:txBody>
          <a:bodyPr/>
          <a:lstStyle/>
          <a:p>
            <a:pPr algn="r"/>
            <a:r>
              <a:rPr lang="en-US" sz="1050" kern="0" spc="182" dirty="0">
                <a:latin typeface="DM Sans 14pt" pitchFamily="2" charset="77"/>
                <a:ea typeface="Arial" pitchFamily="34" charset="-122"/>
                <a:cs typeface="Arial" pitchFamily="34" charset="-120"/>
              </a:rPr>
              <a:t>COST PER</a:t>
            </a:r>
            <a:br>
              <a:rPr lang="en-US" sz="1050" kern="0" spc="182" dirty="0">
                <a:latin typeface="DM Sans 14pt" pitchFamily="2" charset="77"/>
                <a:ea typeface="Arial" pitchFamily="34" charset="-122"/>
                <a:cs typeface="Arial" pitchFamily="34" charset="-120"/>
              </a:rPr>
            </a:br>
            <a:r>
              <a:rPr lang="en-US" sz="1050" kern="0" spc="182" dirty="0">
                <a:latin typeface="DM Sans 14pt" pitchFamily="2" charset="77"/>
                <a:ea typeface="Arial" pitchFamily="34" charset="-122"/>
                <a:cs typeface="Arial" pitchFamily="34" charset="-120"/>
              </a:rPr>
              <a:t>APPLY</a:t>
            </a:r>
            <a:endParaRPr lang="en-US" sz="1050" dirty="0">
              <a:latin typeface="DM Sans 14pt" pitchFamily="2" charset="77"/>
            </a:endParaRPr>
          </a:p>
        </p:txBody>
      </p:sp>
      <p:sp>
        <p:nvSpPr>
          <p:cNvPr id="47" name="Shape 7">
            <a:extLst>
              <a:ext uri="{FF2B5EF4-FFF2-40B4-BE49-F238E27FC236}">
                <a16:creationId xmlns:a16="http://schemas.microsoft.com/office/drawing/2014/main" id="{04BD443A-E607-4C46-2EF0-83A49510C3CC}"/>
              </a:ext>
            </a:extLst>
          </p:cNvPr>
          <p:cNvSpPr/>
          <p:nvPr/>
        </p:nvSpPr>
        <p:spPr>
          <a:xfrm>
            <a:off x="9800124" y="1925993"/>
            <a:ext cx="1407600" cy="604800"/>
          </a:xfrm>
          <a:prstGeom prst="roundRect">
            <a:avLst>
              <a:gd name="adj" fmla="val 17778"/>
            </a:avLst>
          </a:prstGeom>
          <a:solidFill>
            <a:srgbClr val="D4EB66"/>
          </a:solidFill>
          <a:ln/>
        </p:spPr>
        <p:txBody>
          <a:bodyPr lIns="36000" tIns="36000" rIns="36000" bIns="36000" anchor="ctr"/>
          <a:lstStyle/>
          <a:p>
            <a:pPr algn="ctr">
              <a:lnSpc>
                <a:spcPct val="110000"/>
              </a:lnSpc>
            </a:pPr>
            <a:r>
              <a:rPr lang="en-GB" sz="2800" dirty="0">
                <a:solidFill>
                  <a:srgbClr val="757575"/>
                </a:solidFill>
                <a:latin typeface="DM Sans 14pt" pitchFamily="2" charset="77"/>
              </a:rPr>
              <a:t>{{</a:t>
            </a:r>
            <a:r>
              <a:rPr lang="en-GB" sz="2800" dirty="0" err="1">
                <a:solidFill>
                  <a:srgbClr val="757575"/>
                </a:solidFill>
                <a:latin typeface="DM Sans 14pt" pitchFamily="2" charset="77"/>
              </a:rPr>
              <a:t>stat_cost_per_apply</a:t>
            </a:r>
            <a:r>
              <a:rPr lang="en-GB" sz="2800" dirty="0">
                <a:solidFill>
                  <a:srgbClr val="757575"/>
                </a:solidFill>
                <a:latin typeface="DM Sans 14pt" pitchFamily="2" charset="77"/>
              </a:rPr>
              <a:t>}}</a:t>
            </a:r>
            <a:endParaRPr lang="en-US" sz="2800" dirty="0">
              <a:solidFill>
                <a:srgbClr val="757575"/>
              </a:solidFill>
              <a:latin typeface="DM Sans 14pt" pitchFamily="2" charset="77"/>
            </a:endParaRPr>
          </a:p>
        </p:txBody>
      </p:sp>
      <p:sp>
        <p:nvSpPr>
          <p:cNvPr id="67" name="Text 25">
            <a:extLst>
              <a:ext uri="{FF2B5EF4-FFF2-40B4-BE49-F238E27FC236}">
                <a16:creationId xmlns:a16="http://schemas.microsoft.com/office/drawing/2014/main" id="{1AA2F224-0D2A-A56F-924F-6668AFA3EC30}"/>
              </a:ext>
            </a:extLst>
          </p:cNvPr>
          <p:cNvSpPr/>
          <p:nvPr/>
        </p:nvSpPr>
        <p:spPr>
          <a:xfrm>
            <a:off x="7854759" y="3004118"/>
            <a:ext cx="3931965" cy="190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ctr">
              <a:buNone/>
            </a:pPr>
            <a:endParaRPr lang="en-US" sz="1050" dirty="0">
              <a:latin typeface="DM Sans 14pt" pitchFamily="2" charset="77"/>
            </a:endParaRP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61E2CB06-5747-3C23-E251-3CD858542AE9}"/>
              </a:ext>
            </a:extLst>
          </p:cNvPr>
          <p:cNvSpPr/>
          <p:nvPr/>
        </p:nvSpPr>
        <p:spPr>
          <a:xfrm>
            <a:off x="869082" y="2799557"/>
            <a:ext cx="2607165" cy="428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lang="en-US" kern="0" spc="84" dirty="0">
                <a:solidFill>
                  <a:srgbClr val="111111">
                    <a:alpha val="63000"/>
                  </a:srgbClr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Spent vs rate card</a:t>
            </a:r>
            <a:endParaRPr lang="en-US" dirty="0">
              <a:latin typeface="DM Sans 14pt" pitchFamily="2" charset="77"/>
            </a:endParaRP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6A689E9D-4C68-487F-F198-BD395CA50078}"/>
              </a:ext>
            </a:extLst>
          </p:cNvPr>
          <p:cNvSpPr/>
          <p:nvPr/>
        </p:nvSpPr>
        <p:spPr>
          <a:xfrm>
            <a:off x="3987536" y="2799557"/>
            <a:ext cx="8581674" cy="428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lang="en-US" kern="0" spc="84" dirty="0">
                <a:solidFill>
                  <a:srgbClr val="111111">
                    <a:alpha val="63000"/>
                  </a:srgbClr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Cost per view · Cost per apply · by job type</a:t>
            </a:r>
            <a:endParaRPr lang="en-US" dirty="0">
              <a:latin typeface="DM Sans 14pt" pitchFamily="2" charset="77"/>
            </a:endParaRPr>
          </a:p>
        </p:txBody>
      </p:sp>
      <p:sp>
        <p:nvSpPr>
          <p:cNvPr id="5" name="Footer Placeholder 1">
            <a:extLst>
              <a:ext uri="{FF2B5EF4-FFF2-40B4-BE49-F238E27FC236}">
                <a16:creationId xmlns:a16="http://schemas.microsoft.com/office/drawing/2014/main" id="{C3F894CF-003B-DB6C-ECEC-0DCC355C033A}"/>
              </a:ext>
            </a:extLst>
          </p:cNvPr>
          <p:cNvSpPr txBox="1">
            <a:spLocks/>
          </p:cNvSpPr>
          <p:nvPr/>
        </p:nvSpPr>
        <p:spPr>
          <a:xfrm>
            <a:off x="17233255" y="9753300"/>
            <a:ext cx="522000" cy="190800"/>
          </a:xfrm>
          <a:prstGeom prst="rect">
            <a:avLst/>
          </a:prstGeom>
        </p:spPr>
        <p:txBody>
          <a:bodyPr vert="horz" lIns="36000" tIns="36000" rIns="36000" bIns="36000" rtlCol="0" anchor="ctr"/>
          <a:lstStyle>
            <a:lvl1pPr marL="0" algn="l" defTabSz="914400" rtl="0" eaLnBrk="1" latinLnBrk="0" hangingPunct="1">
              <a:defRPr sz="900" kern="1200">
                <a:solidFill>
                  <a:srgbClr val="E8E0F2"/>
                </a:solidFill>
                <a:latin typeface="DM Sans 14pt" pitchFamily="2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dirty="0">
                <a:solidFill>
                  <a:srgbClr val="757575"/>
                </a:solidFill>
              </a:rPr>
              <a:t>{{</a:t>
            </a:r>
            <a:r>
              <a:rPr lang="en-GB" dirty="0" err="1">
                <a:solidFill>
                  <a:srgbClr val="757575"/>
                </a:solidFill>
              </a:rPr>
              <a:t>slide_number</a:t>
            </a:r>
            <a:r>
              <a:rPr lang="en-GB" dirty="0">
                <a:solidFill>
                  <a:srgbClr val="757575"/>
                </a:solidFill>
              </a:rPr>
              <a:t>}} / {{</a:t>
            </a:r>
            <a:r>
              <a:rPr lang="en-GB" dirty="0" err="1">
                <a:solidFill>
                  <a:srgbClr val="757575"/>
                </a:solidFill>
              </a:rPr>
              <a:t>total_slides</a:t>
            </a:r>
            <a:r>
              <a:rPr lang="en-GB" dirty="0">
                <a:solidFill>
                  <a:srgbClr val="757575"/>
                </a:solidFill>
              </a:rPr>
              <a:t>}}</a:t>
            </a:r>
          </a:p>
        </p:txBody>
      </p:sp>
      <p:sp>
        <p:nvSpPr>
          <p:cNvPr id="8" name="Shape 28">
            <a:extLst>
              <a:ext uri="{FF2B5EF4-FFF2-40B4-BE49-F238E27FC236}">
                <a16:creationId xmlns:a16="http://schemas.microsoft.com/office/drawing/2014/main" id="{6A49D103-117C-847C-0C9B-0C9675E0C883}"/>
              </a:ext>
            </a:extLst>
          </p:cNvPr>
          <p:cNvSpPr/>
          <p:nvPr/>
        </p:nvSpPr>
        <p:spPr>
          <a:xfrm>
            <a:off x="12995755" y="1866900"/>
            <a:ext cx="4701600" cy="1188000"/>
          </a:xfrm>
          <a:prstGeom prst="roundRect">
            <a:avLst>
              <a:gd name="adj" fmla="val 6000"/>
            </a:avLst>
          </a:prstGeom>
          <a:solidFill>
            <a:srgbClr val="643791">
              <a:alpha val="8000"/>
            </a:srgbClr>
          </a:solidFill>
          <a:ln/>
        </p:spPr>
        <p:txBody>
          <a:bodyPr/>
          <a:lstStyle/>
          <a:p>
            <a:r>
              <a:rPr lang="en-GB" sz="1400" dirty="0">
                <a:solidFill>
                  <a:srgbClr val="643791"/>
                </a:solidFill>
                <a:latin typeface="DM Sans 14pt" pitchFamily="2" charset="77"/>
              </a:rPr>
              <a:t>{{</a:t>
            </a:r>
            <a:r>
              <a:rPr lang="en-GB" sz="1400" dirty="0" err="1">
                <a:solidFill>
                  <a:srgbClr val="643791"/>
                </a:solidFill>
                <a:latin typeface="DM Sans 14pt" pitchFamily="2" charset="77"/>
              </a:rPr>
              <a:t>chart_explainer_spend_vs_ratecard</a:t>
            </a:r>
            <a:r>
              <a:rPr lang="en-GB" sz="1400" dirty="0">
                <a:solidFill>
                  <a:srgbClr val="643791"/>
                </a:solidFill>
                <a:latin typeface="DM Sans 14pt" pitchFamily="2" charset="77"/>
              </a:rPr>
              <a:t>}}</a:t>
            </a:r>
          </a:p>
        </p:txBody>
      </p:sp>
      <p:sp>
        <p:nvSpPr>
          <p:cNvPr id="9" name="Shape 28">
            <a:extLst>
              <a:ext uri="{FF2B5EF4-FFF2-40B4-BE49-F238E27FC236}">
                <a16:creationId xmlns:a16="http://schemas.microsoft.com/office/drawing/2014/main" id="{B791A240-B474-B511-F245-3B06012C0378}"/>
              </a:ext>
            </a:extLst>
          </p:cNvPr>
          <p:cNvSpPr/>
          <p:nvPr/>
        </p:nvSpPr>
        <p:spPr>
          <a:xfrm>
            <a:off x="12995755" y="3262647"/>
            <a:ext cx="4701600" cy="1188000"/>
          </a:xfrm>
          <a:prstGeom prst="roundRect">
            <a:avLst>
              <a:gd name="adj" fmla="val 6000"/>
            </a:avLst>
          </a:prstGeom>
          <a:solidFill>
            <a:srgbClr val="643791">
              <a:alpha val="8000"/>
            </a:srgbClr>
          </a:solidFill>
          <a:ln/>
        </p:spPr>
        <p:txBody>
          <a:bodyPr/>
          <a:lstStyle/>
          <a:p>
            <a:r>
              <a:rPr lang="en-GB" sz="1400" dirty="0">
                <a:solidFill>
                  <a:srgbClr val="643791"/>
                </a:solidFill>
                <a:latin typeface="DM Sans 14pt" pitchFamily="2" charset="77"/>
              </a:rPr>
              <a:t>{{</a:t>
            </a:r>
            <a:r>
              <a:rPr lang="en-GB" sz="1400" dirty="0" err="1">
                <a:solidFill>
                  <a:srgbClr val="643791"/>
                </a:solidFill>
                <a:latin typeface="DM Sans 14pt" pitchFamily="2" charset="77"/>
              </a:rPr>
              <a:t>chart_explainer_cost_per_app_by_occupation</a:t>
            </a:r>
            <a:r>
              <a:rPr lang="en-GB" sz="1400" dirty="0">
                <a:solidFill>
                  <a:srgbClr val="643791"/>
                </a:solidFill>
                <a:latin typeface="DM Sans 14pt" pitchFamily="2" charset="77"/>
              </a:rPr>
              <a:t>}}</a:t>
            </a:r>
          </a:p>
        </p:txBody>
      </p:sp>
      <p:sp>
        <p:nvSpPr>
          <p:cNvPr id="11" name="Text 27">
            <a:extLst>
              <a:ext uri="{FF2B5EF4-FFF2-40B4-BE49-F238E27FC236}">
                <a16:creationId xmlns:a16="http://schemas.microsoft.com/office/drawing/2014/main" id="{30D615AC-9DBC-D2DC-5A8C-5430DBE92ADE}"/>
              </a:ext>
            </a:extLst>
          </p:cNvPr>
          <p:cNvSpPr/>
          <p:nvPr/>
        </p:nvSpPr>
        <p:spPr>
          <a:xfrm>
            <a:off x="12995755" y="4658394"/>
            <a:ext cx="4701600" cy="48886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400" b="1" kern="0" spc="368" dirty="0">
                <a:solidFill>
                  <a:srgbClr val="643791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COMMENTARY</a:t>
            </a:r>
            <a:endParaRPr lang="en-US" sz="2400" b="1" dirty="0">
              <a:latin typeface="DM Sans 14pt" pitchFamily="2" charset="77"/>
            </a:endParaRPr>
          </a:p>
        </p:txBody>
      </p:sp>
      <p:sp>
        <p:nvSpPr>
          <p:cNvPr id="13" name="Shape 28">
            <a:extLst>
              <a:ext uri="{FF2B5EF4-FFF2-40B4-BE49-F238E27FC236}">
                <a16:creationId xmlns:a16="http://schemas.microsoft.com/office/drawing/2014/main" id="{47061B04-CB2F-1EB7-370D-17632FF731D8}"/>
              </a:ext>
            </a:extLst>
          </p:cNvPr>
          <p:cNvSpPr/>
          <p:nvPr/>
        </p:nvSpPr>
        <p:spPr>
          <a:xfrm>
            <a:off x="12995755" y="5143500"/>
            <a:ext cx="4701600" cy="4211514"/>
          </a:xfrm>
          <a:prstGeom prst="roundRect">
            <a:avLst>
              <a:gd name="adj" fmla="val 3500"/>
            </a:avLst>
          </a:prstGeom>
          <a:solidFill>
            <a:srgbClr val="643791">
              <a:alpha val="8000"/>
            </a:srgbClr>
          </a:solidFill>
          <a:ln/>
        </p:spPr>
        <p:txBody>
          <a:bodyPr/>
          <a:lstStyle/>
          <a:p>
            <a:r>
              <a:rPr lang="en-US" sz="1400">
                <a:solidFill>
                  <a:srgbClr val="643791"/>
                </a:solidFill>
                <a:latin typeface="DM Sans 14pt" pitchFamily="2" charset="77"/>
                <a:cs typeface="Arial" pitchFamily="34" charset="-120"/>
              </a:rPr>
              <a:t>{{</a:t>
            </a:r>
            <a:r>
              <a:rPr lang="en-US" sz="1400" dirty="0" err="1">
                <a:solidFill>
                  <a:srgbClr val="643791"/>
                </a:solidFill>
                <a:latin typeface="DM Sans 14pt" pitchFamily="2" charset="77"/>
                <a:cs typeface="Arial" pitchFamily="34" charset="-120"/>
              </a:rPr>
              <a:t>commentary_roi</a:t>
            </a:r>
            <a:r>
              <a:rPr lang="en-US" sz="1400" err="1">
                <a:solidFill>
                  <a:srgbClr val="643791"/>
                </a:solidFill>
                <a:latin typeface="DM Sans 14pt" pitchFamily="2" charset="77"/>
                <a:cs typeface="Arial" pitchFamily="34" charset="-120"/>
              </a:rPr>
              <a:t>_</a:t>
            </a:r>
            <a:r>
              <a:rPr lang="en-US" sz="1400">
                <a:solidFill>
                  <a:srgbClr val="643791"/>
                </a:solidFill>
                <a:latin typeface="DM Sans 14pt" pitchFamily="2" charset="77"/>
                <a:cs typeface="Arial" pitchFamily="34" charset="-120"/>
              </a:rPr>
              <a:t>intro}}</a:t>
            </a:r>
            <a:endParaRPr lang="en-US" sz="1400" dirty="0">
              <a:solidFill>
                <a:srgbClr val="643791"/>
              </a:solidFill>
              <a:latin typeface="DM Sans 14pt" pitchFamily="2" charset="77"/>
              <a:cs typeface="Arial" pitchFamily="34" charset="-120"/>
            </a:endParaRPr>
          </a:p>
          <a:p>
            <a:endParaRPr lang="en-US" sz="1400" dirty="0">
              <a:solidFill>
                <a:srgbClr val="643791"/>
              </a:solidFill>
              <a:latin typeface="DM Sans 14pt" pitchFamily="2" charset="77"/>
              <a:cs typeface="Arial" pitchFamily="34" charset="-120"/>
            </a:endParaRPr>
          </a:p>
          <a:p>
            <a:r>
              <a:rPr lang="en-US" sz="1400" dirty="0">
                <a:solidFill>
                  <a:srgbClr val="643791"/>
                </a:solidFill>
                <a:latin typeface="DM Sans 14pt" pitchFamily="2" charset="77"/>
                <a:cs typeface="Arial" pitchFamily="34" charset="-120"/>
              </a:rPr>
              <a:t>{{commentary_roi_point_</a:t>
            </a:r>
            <a:r>
              <a:rPr lang="en-US" sz="1400">
                <a:solidFill>
                  <a:srgbClr val="643791"/>
                </a:solidFill>
                <a:latin typeface="DM Sans 14pt" pitchFamily="2" charset="77"/>
                <a:cs typeface="Arial" pitchFamily="34" charset="-120"/>
              </a:rPr>
              <a:t>1}}</a:t>
            </a:r>
            <a:endParaRPr lang="en-US" sz="1400" dirty="0">
              <a:solidFill>
                <a:srgbClr val="643791"/>
              </a:solidFill>
              <a:latin typeface="DM Sans 14pt" pitchFamily="2" charset="77"/>
              <a:cs typeface="Arial" pitchFamily="34" charset="-120"/>
            </a:endParaRPr>
          </a:p>
          <a:p>
            <a:endParaRPr lang="en-US" sz="1400" dirty="0">
              <a:solidFill>
                <a:srgbClr val="643791"/>
              </a:solidFill>
              <a:latin typeface="DM Sans 14pt" pitchFamily="2" charset="77"/>
              <a:cs typeface="Arial" pitchFamily="34" charset="-120"/>
            </a:endParaRPr>
          </a:p>
          <a:p>
            <a:r>
              <a:rPr lang="en-US" sz="1400" dirty="0">
                <a:solidFill>
                  <a:srgbClr val="643791"/>
                </a:solidFill>
                <a:latin typeface="DM Sans 14pt" pitchFamily="2" charset="77"/>
                <a:cs typeface="Arial" pitchFamily="34" charset="-120"/>
              </a:rPr>
              <a:t>{{commentary_roi_point</a:t>
            </a:r>
            <a:r>
              <a:rPr lang="en-US" sz="1400">
                <a:solidFill>
                  <a:srgbClr val="643791"/>
                </a:solidFill>
                <a:latin typeface="DM Sans 14pt" pitchFamily="2" charset="77"/>
                <a:cs typeface="Arial" pitchFamily="34" charset="-120"/>
              </a:rPr>
              <a:t>_2}}</a:t>
            </a:r>
            <a:endParaRPr lang="en-US" sz="1400" dirty="0">
              <a:solidFill>
                <a:srgbClr val="643791"/>
              </a:solidFill>
              <a:latin typeface="DM Sans 14pt" pitchFamily="2" charset="77"/>
              <a:cs typeface="Arial" pitchFamily="34" charset="-120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600" y="457200"/>
            <a:ext cx="495300" cy="438150"/>
          </a:xfrm>
          <a:prstGeom prst="rect">
            <a:avLst/>
          </a:prstGeom>
          <a:solidFill>
            <a:srgbClr val="643791"/>
          </a:solidFill>
          <a:ln/>
        </p:spPr>
        <p:txBody>
          <a:bodyPr/>
          <a:lstStyle/>
          <a:p>
            <a:endParaRPr lang="en-GB">
              <a:latin typeface="DM Sans 14pt" pitchFamily="2" charset="77"/>
            </a:endParaRPr>
          </a:p>
        </p:txBody>
      </p:sp>
      <p:sp>
        <p:nvSpPr>
          <p:cNvPr id="3" name="Text 1"/>
          <p:cNvSpPr/>
          <p:nvPr/>
        </p:nvSpPr>
        <p:spPr>
          <a:xfrm>
            <a:off x="571500" y="476250"/>
            <a:ext cx="49530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350" b="1" kern="0" spc="-27" dirty="0">
                <a:solidFill>
                  <a:srgbClr val="FFFFFF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Go</a:t>
            </a:r>
            <a:endParaRPr lang="en-US" sz="1350" dirty="0">
              <a:latin typeface="DM Sans 14pt" pitchFamily="2" charset="77"/>
            </a:endParaRPr>
          </a:p>
        </p:txBody>
      </p:sp>
      <p:sp>
        <p:nvSpPr>
          <p:cNvPr id="4" name="Text 2"/>
          <p:cNvSpPr/>
          <p:nvPr/>
        </p:nvSpPr>
        <p:spPr>
          <a:xfrm>
            <a:off x="1200150" y="538163"/>
            <a:ext cx="1561505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b="1" kern="0" spc="-16" dirty="0">
                <a:solidFill>
                  <a:srgbClr val="111111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Jobs Go Public</a:t>
            </a:r>
            <a:endParaRPr lang="en-US" sz="1650" dirty="0">
              <a:latin typeface="DM Sans 14pt" pitchFamily="2" charset="77"/>
            </a:endParaRPr>
          </a:p>
        </p:txBody>
      </p:sp>
      <p:sp>
        <p:nvSpPr>
          <p:cNvPr id="6" name="Text 4"/>
          <p:cNvSpPr/>
          <p:nvPr/>
        </p:nvSpPr>
        <p:spPr>
          <a:xfrm>
            <a:off x="762000" y="1047750"/>
            <a:ext cx="9460629" cy="647700"/>
          </a:xfrm>
          <a:prstGeom prst="rect">
            <a:avLst/>
          </a:prstGeom>
          <a:noFill/>
          <a:ln>
            <a:noFill/>
          </a:ln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4800" b="1" kern="0" spc="-144" dirty="0">
                <a:solidFill>
                  <a:srgbClr val="111111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Which channels worked hardest</a:t>
            </a:r>
            <a:endParaRPr lang="en-US" sz="4800" dirty="0">
              <a:latin typeface="DM Sans 14pt" pitchFamily="2" charset="77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977462" y="2486027"/>
            <a:ext cx="11350567" cy="66264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endParaRPr lang="en-US" sz="1650" dirty="0">
              <a:latin typeface="DM Sans 14pt" pitchFamily="2" charset="77"/>
            </a:endParaRPr>
          </a:p>
        </p:txBody>
      </p:sp>
      <p:sp>
        <p:nvSpPr>
          <p:cNvPr id="38" name="Text 36"/>
          <p:cNvSpPr/>
          <p:nvPr/>
        </p:nvSpPr>
        <p:spPr>
          <a:xfrm>
            <a:off x="609600" y="9753600"/>
            <a:ext cx="2373511" cy="190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85000" lnSpcReduction="10000"/>
          </a:bodyPr>
          <a:lstStyle/>
          <a:p>
            <a:pPr marL="0" indent="0" algn="l">
              <a:buNone/>
            </a:pPr>
            <a:r>
              <a:rPr lang="en-US" sz="1050" kern="0" spc="42" dirty="0">
                <a:solidFill>
                  <a:srgbClr val="111111">
                    <a:alpha val="63000"/>
                  </a:srgbClr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{{client_name}} · Advertising Report</a:t>
            </a:r>
            <a:endParaRPr lang="en-US" sz="1050" dirty="0">
              <a:latin typeface="DM Sans 14pt" pitchFamily="2" charset="77"/>
            </a:endParaRPr>
          </a:p>
        </p:txBody>
      </p:sp>
      <p:sp>
        <p:nvSpPr>
          <p:cNvPr id="46" name="Text 3">
            <a:extLst>
              <a:ext uri="{FF2B5EF4-FFF2-40B4-BE49-F238E27FC236}">
                <a16:creationId xmlns:a16="http://schemas.microsoft.com/office/drawing/2014/main" id="{176F46CA-EFBD-4EF3-CA69-1930614DD215}"/>
              </a:ext>
            </a:extLst>
          </p:cNvPr>
          <p:cNvSpPr/>
          <p:nvPr/>
        </p:nvSpPr>
        <p:spPr>
          <a:xfrm>
            <a:off x="12995755" y="575051"/>
            <a:ext cx="4703047" cy="280800"/>
          </a:xfrm>
          <a:prstGeom prst="rect">
            <a:avLst/>
          </a:prstGeom>
          <a:noFill/>
          <a:ln>
            <a:noFill/>
          </a:ln>
        </p:spPr>
        <p:txBody>
          <a:bodyPr wrap="square" lIns="25400" tIns="25400" rIns="25400" bIns="25400" rtlCol="0" anchor="t">
            <a:normAutofit/>
          </a:bodyPr>
          <a:lstStyle/>
          <a:p>
            <a:pPr algn="r"/>
            <a:r>
              <a:rPr lang="en-US" sz="1200" kern="0" spc="420" dirty="0">
                <a:solidFill>
                  <a:srgbClr val="643791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05 · MEDIA PERFORMANCE</a:t>
            </a:r>
            <a:endParaRPr lang="en-US" sz="1200" dirty="0">
              <a:latin typeface="DM Sans 14pt" pitchFamily="2" charset="77"/>
            </a:endParaRPr>
          </a:p>
        </p:txBody>
      </p:sp>
      <p:sp>
        <p:nvSpPr>
          <p:cNvPr id="10" name="Text 25">
            <a:extLst>
              <a:ext uri="{FF2B5EF4-FFF2-40B4-BE49-F238E27FC236}">
                <a16:creationId xmlns:a16="http://schemas.microsoft.com/office/drawing/2014/main" id="{6A8E8859-631F-EEF0-0FE0-BED6654904E5}"/>
              </a:ext>
            </a:extLst>
          </p:cNvPr>
          <p:cNvSpPr/>
          <p:nvPr/>
        </p:nvSpPr>
        <p:spPr>
          <a:xfrm>
            <a:off x="4893357" y="4881636"/>
            <a:ext cx="3931965" cy="190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ctr">
              <a:buNone/>
            </a:pPr>
            <a:endParaRPr lang="en-US" sz="1050" dirty="0">
              <a:latin typeface="DM Sans 14pt" pitchFamily="2" charset="77"/>
            </a:endParaRPr>
          </a:p>
        </p:txBody>
      </p:sp>
      <p:sp>
        <p:nvSpPr>
          <p:cNvPr id="13" name="Shape 19">
            <a:extLst>
              <a:ext uri="{FF2B5EF4-FFF2-40B4-BE49-F238E27FC236}">
                <a16:creationId xmlns:a16="http://schemas.microsoft.com/office/drawing/2014/main" id="{C7D18365-0678-F3D8-B4C4-9BC05823CF69}"/>
              </a:ext>
            </a:extLst>
          </p:cNvPr>
          <p:cNvSpPr/>
          <p:nvPr/>
        </p:nvSpPr>
        <p:spPr>
          <a:xfrm>
            <a:off x="762000" y="1866900"/>
            <a:ext cx="11945938" cy="7481190"/>
          </a:xfrm>
          <a:prstGeom prst="roundRect">
            <a:avLst>
              <a:gd name="adj" fmla="val 2331"/>
            </a:avLst>
          </a:prstGeom>
          <a:solidFill>
            <a:srgbClr val="E8E0F2"/>
          </a:solidFill>
          <a:ln w="19050">
            <a:solidFill>
              <a:srgbClr val="643791"/>
            </a:solidFill>
            <a:prstDash val="dash"/>
          </a:ln>
        </p:spPr>
        <p:txBody>
          <a:bodyPr/>
          <a:lstStyle/>
          <a:p>
            <a:endParaRPr lang="en-GB">
              <a:latin typeface="DM Sans 14pt" pitchFamily="2" charset="77"/>
            </a:endParaRPr>
          </a:p>
        </p:txBody>
      </p:sp>
      <p:sp>
        <p:nvSpPr>
          <p:cNvPr id="14" name="Shape 23">
            <a:extLst>
              <a:ext uri="{FF2B5EF4-FFF2-40B4-BE49-F238E27FC236}">
                <a16:creationId xmlns:a16="http://schemas.microsoft.com/office/drawing/2014/main" id="{E7FBA325-E675-B8ED-62A7-0B1DE99C7D20}"/>
              </a:ext>
            </a:extLst>
          </p:cNvPr>
          <p:cNvSpPr/>
          <p:nvPr/>
        </p:nvSpPr>
        <p:spPr>
          <a:xfrm>
            <a:off x="868675" y="2292129"/>
            <a:ext cx="11725200" cy="6951522"/>
          </a:xfrm>
          <a:prstGeom prst="roundRect">
            <a:avLst>
              <a:gd name="adj" fmla="val 2451"/>
            </a:avLst>
          </a:prstGeom>
          <a:solidFill>
            <a:srgbClr val="FFFFFF"/>
          </a:solidFill>
          <a:ln w="9525">
            <a:solidFill>
              <a:srgbClr val="000000">
                <a:alpha val="10000"/>
              </a:srgbClr>
            </a:solidFill>
            <a:prstDash val="solid"/>
          </a:ln>
        </p:spPr>
        <p:txBody>
          <a:bodyPr/>
          <a:lstStyle/>
          <a:p>
            <a:r>
              <a:rPr lang="en-US" kern="0" spc="30" dirty="0">
                <a:solidFill>
                  <a:srgbClr val="240F45"/>
                </a:solidFill>
                <a:latin typeface="DM Sans 14pt" pitchFamily="2" charset="77"/>
                <a:ea typeface="monospace" pitchFamily="34" charset="-122"/>
                <a:cs typeface="monospace" pitchFamily="34" charset="-120"/>
              </a:rPr>
              <a:t>{{</a:t>
            </a:r>
            <a:r>
              <a:rPr lang="en-US" kern="0" spc="30" dirty="0" err="1">
                <a:solidFill>
                  <a:srgbClr val="240F45"/>
                </a:solidFill>
                <a:latin typeface="DM Sans 14pt" pitchFamily="2" charset="77"/>
                <a:ea typeface="monospace" pitchFamily="34" charset="-122"/>
                <a:cs typeface="monospace" pitchFamily="34" charset="-120"/>
              </a:rPr>
              <a:t>chart:media_performance</a:t>
            </a:r>
            <a:r>
              <a:rPr lang="en-US" kern="0" spc="30" dirty="0">
                <a:solidFill>
                  <a:srgbClr val="240F45"/>
                </a:solidFill>
                <a:latin typeface="DM Sans 14pt" pitchFamily="2" charset="77"/>
                <a:ea typeface="monospace" pitchFamily="34" charset="-122"/>
                <a:cs typeface="monospace" pitchFamily="34" charset="-120"/>
              </a:rPr>
              <a:t>}}</a:t>
            </a:r>
            <a:endParaRPr lang="en-US" dirty="0">
              <a:latin typeface="DM Sans 14pt" pitchFamily="2" charset="77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A5A2DA5-EFA0-6960-EF7E-91A9B04AFC71}"/>
              </a:ext>
            </a:extLst>
          </p:cNvPr>
          <p:cNvSpPr/>
          <p:nvPr/>
        </p:nvSpPr>
        <p:spPr>
          <a:xfrm>
            <a:off x="868675" y="1866899"/>
            <a:ext cx="8009197" cy="428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lang="en-US" kern="0" spc="84" dirty="0">
                <a:solidFill>
                  <a:srgbClr val="111111">
                    <a:alpha val="63000"/>
                  </a:srgbClr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Views and apply clicks per vacancy, per source</a:t>
            </a:r>
            <a:endParaRPr lang="en-US" dirty="0">
              <a:latin typeface="DM Sans 14pt" pitchFamily="2" charset="77"/>
            </a:endParaRPr>
          </a:p>
        </p:txBody>
      </p:sp>
      <p:sp>
        <p:nvSpPr>
          <p:cNvPr id="5" name="Footer Placeholder 1">
            <a:extLst>
              <a:ext uri="{FF2B5EF4-FFF2-40B4-BE49-F238E27FC236}">
                <a16:creationId xmlns:a16="http://schemas.microsoft.com/office/drawing/2014/main" id="{27963530-69B1-9150-8D58-0676ABDF185C}"/>
              </a:ext>
            </a:extLst>
          </p:cNvPr>
          <p:cNvSpPr txBox="1">
            <a:spLocks/>
          </p:cNvSpPr>
          <p:nvPr/>
        </p:nvSpPr>
        <p:spPr>
          <a:xfrm>
            <a:off x="17233255" y="9753300"/>
            <a:ext cx="522000" cy="190800"/>
          </a:xfrm>
          <a:prstGeom prst="rect">
            <a:avLst/>
          </a:prstGeom>
        </p:spPr>
        <p:txBody>
          <a:bodyPr vert="horz" lIns="36000" tIns="36000" rIns="36000" bIns="36000" rtlCol="0" anchor="ctr"/>
          <a:lstStyle>
            <a:lvl1pPr marL="0" algn="l" defTabSz="914400" rtl="0" eaLnBrk="1" latinLnBrk="0" hangingPunct="1">
              <a:defRPr sz="900" kern="1200">
                <a:solidFill>
                  <a:srgbClr val="E8E0F2"/>
                </a:solidFill>
                <a:latin typeface="DM Sans 14pt" pitchFamily="2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dirty="0">
                <a:solidFill>
                  <a:srgbClr val="757575"/>
                </a:solidFill>
              </a:rPr>
              <a:t>{{</a:t>
            </a:r>
            <a:r>
              <a:rPr lang="en-GB" dirty="0" err="1">
                <a:solidFill>
                  <a:srgbClr val="757575"/>
                </a:solidFill>
              </a:rPr>
              <a:t>slide_number</a:t>
            </a:r>
            <a:r>
              <a:rPr lang="en-GB" dirty="0">
                <a:solidFill>
                  <a:srgbClr val="757575"/>
                </a:solidFill>
              </a:rPr>
              <a:t>}} / {{</a:t>
            </a:r>
            <a:r>
              <a:rPr lang="en-GB" dirty="0" err="1">
                <a:solidFill>
                  <a:srgbClr val="757575"/>
                </a:solidFill>
              </a:rPr>
              <a:t>total_slides</a:t>
            </a:r>
            <a:r>
              <a:rPr lang="en-GB" dirty="0">
                <a:solidFill>
                  <a:srgbClr val="757575"/>
                </a:solidFill>
              </a:rPr>
              <a:t>}}</a:t>
            </a:r>
          </a:p>
        </p:txBody>
      </p:sp>
      <p:sp>
        <p:nvSpPr>
          <p:cNvPr id="8" name="Shape 28">
            <a:extLst>
              <a:ext uri="{FF2B5EF4-FFF2-40B4-BE49-F238E27FC236}">
                <a16:creationId xmlns:a16="http://schemas.microsoft.com/office/drawing/2014/main" id="{CC7F9FAC-F4C9-64FC-9BBE-EE4FFC807375}"/>
              </a:ext>
            </a:extLst>
          </p:cNvPr>
          <p:cNvSpPr/>
          <p:nvPr/>
        </p:nvSpPr>
        <p:spPr>
          <a:xfrm>
            <a:off x="12995755" y="1866899"/>
            <a:ext cx="4701600" cy="1188000"/>
          </a:xfrm>
          <a:prstGeom prst="roundRect">
            <a:avLst>
              <a:gd name="adj" fmla="val 6000"/>
            </a:avLst>
          </a:prstGeom>
          <a:solidFill>
            <a:srgbClr val="643791">
              <a:alpha val="8000"/>
            </a:srgbClr>
          </a:solidFill>
          <a:ln/>
        </p:spPr>
        <p:txBody>
          <a:bodyPr/>
          <a:lstStyle/>
          <a:p>
            <a:r>
              <a:rPr lang="en-GB" sz="1400" dirty="0">
                <a:solidFill>
                  <a:srgbClr val="643791"/>
                </a:solidFill>
                <a:latin typeface="DM Sans 14pt" pitchFamily="2" charset="77"/>
              </a:rPr>
              <a:t>{{</a:t>
            </a:r>
            <a:r>
              <a:rPr lang="en-GB" sz="1400" dirty="0" err="1">
                <a:solidFill>
                  <a:srgbClr val="643791"/>
                </a:solidFill>
                <a:latin typeface="DM Sans 14pt" pitchFamily="2" charset="77"/>
              </a:rPr>
              <a:t>chart_explainer_media_performance</a:t>
            </a:r>
            <a:r>
              <a:rPr lang="en-GB" sz="1400" dirty="0">
                <a:solidFill>
                  <a:srgbClr val="643791"/>
                </a:solidFill>
                <a:latin typeface="DM Sans 14pt" pitchFamily="2" charset="77"/>
              </a:rPr>
              <a:t>}}</a:t>
            </a:r>
          </a:p>
        </p:txBody>
      </p:sp>
      <p:sp>
        <p:nvSpPr>
          <p:cNvPr id="11" name="Text 27">
            <a:extLst>
              <a:ext uri="{FF2B5EF4-FFF2-40B4-BE49-F238E27FC236}">
                <a16:creationId xmlns:a16="http://schemas.microsoft.com/office/drawing/2014/main" id="{70FE15C1-BC0D-49B2-7905-4CD52D904F9B}"/>
              </a:ext>
            </a:extLst>
          </p:cNvPr>
          <p:cNvSpPr/>
          <p:nvPr/>
        </p:nvSpPr>
        <p:spPr>
          <a:xfrm>
            <a:off x="12995755" y="3259384"/>
            <a:ext cx="4701600" cy="48886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400" b="1" kern="0" spc="368" dirty="0">
                <a:solidFill>
                  <a:srgbClr val="643791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COMMENTARY</a:t>
            </a:r>
            <a:endParaRPr lang="en-US" sz="2400" b="1" dirty="0">
              <a:latin typeface="DM Sans 14pt" pitchFamily="2" charset="77"/>
            </a:endParaRPr>
          </a:p>
        </p:txBody>
      </p:sp>
      <p:sp>
        <p:nvSpPr>
          <p:cNvPr id="17" name="Shape 28">
            <a:extLst>
              <a:ext uri="{FF2B5EF4-FFF2-40B4-BE49-F238E27FC236}">
                <a16:creationId xmlns:a16="http://schemas.microsoft.com/office/drawing/2014/main" id="{B7AF4DB2-7C41-050E-697B-5216A358A2F4}"/>
              </a:ext>
            </a:extLst>
          </p:cNvPr>
          <p:cNvSpPr/>
          <p:nvPr/>
        </p:nvSpPr>
        <p:spPr>
          <a:xfrm>
            <a:off x="12995755" y="3748249"/>
            <a:ext cx="4701600" cy="5606765"/>
          </a:xfrm>
          <a:prstGeom prst="roundRect">
            <a:avLst>
              <a:gd name="adj" fmla="val 3000"/>
            </a:avLst>
          </a:prstGeom>
          <a:solidFill>
            <a:srgbClr val="643791">
              <a:alpha val="8000"/>
            </a:srgbClr>
          </a:solidFill>
          <a:ln/>
        </p:spPr>
        <p:txBody>
          <a:bodyPr/>
          <a:lstStyle/>
          <a:p>
            <a:r>
              <a:rPr lang="en-US" sz="1400">
                <a:solidFill>
                  <a:srgbClr val="643791"/>
                </a:solidFill>
                <a:latin typeface="DM Sans 14pt" pitchFamily="2" charset="77"/>
                <a:cs typeface="Arial" pitchFamily="34" charset="-120"/>
              </a:rPr>
              <a:t>{{</a:t>
            </a:r>
            <a:r>
              <a:rPr lang="en-US" sz="1400" dirty="0" err="1">
                <a:solidFill>
                  <a:srgbClr val="643791"/>
                </a:solidFill>
                <a:latin typeface="DM Sans 14pt" pitchFamily="2" charset="77"/>
                <a:cs typeface="Arial" pitchFamily="34" charset="-120"/>
              </a:rPr>
              <a:t>commentary_media</a:t>
            </a:r>
            <a:r>
              <a:rPr lang="en-US" sz="1400" err="1">
                <a:solidFill>
                  <a:srgbClr val="643791"/>
                </a:solidFill>
                <a:latin typeface="DM Sans 14pt" pitchFamily="2" charset="77"/>
                <a:cs typeface="Arial" pitchFamily="34" charset="-120"/>
              </a:rPr>
              <a:t>_</a:t>
            </a:r>
            <a:r>
              <a:rPr lang="en-US" sz="1400">
                <a:solidFill>
                  <a:srgbClr val="643791"/>
                </a:solidFill>
                <a:latin typeface="DM Sans 14pt" pitchFamily="2" charset="77"/>
                <a:cs typeface="Arial" pitchFamily="34" charset="-120"/>
              </a:rPr>
              <a:t>intro}}</a:t>
            </a:r>
            <a:endParaRPr lang="en-US" sz="1400" dirty="0">
              <a:solidFill>
                <a:srgbClr val="643791"/>
              </a:solidFill>
              <a:latin typeface="DM Sans 14pt" pitchFamily="2" charset="77"/>
              <a:cs typeface="Arial" pitchFamily="34" charset="-120"/>
            </a:endParaRPr>
          </a:p>
          <a:p>
            <a:endParaRPr lang="en-US" sz="1400" dirty="0">
              <a:solidFill>
                <a:srgbClr val="643791"/>
              </a:solidFill>
              <a:latin typeface="DM Sans 14pt" pitchFamily="2" charset="77"/>
              <a:cs typeface="Arial" pitchFamily="34" charset="-120"/>
            </a:endParaRPr>
          </a:p>
          <a:p>
            <a:r>
              <a:rPr lang="en-US" sz="1400" dirty="0">
                <a:solidFill>
                  <a:srgbClr val="643791"/>
                </a:solidFill>
                <a:latin typeface="DM Sans 14pt" pitchFamily="2" charset="77"/>
                <a:cs typeface="Arial" pitchFamily="34" charset="-120"/>
              </a:rPr>
              <a:t>{{commentary_media_point_</a:t>
            </a:r>
            <a:r>
              <a:rPr lang="en-US" sz="1400">
                <a:solidFill>
                  <a:srgbClr val="643791"/>
                </a:solidFill>
                <a:latin typeface="DM Sans 14pt" pitchFamily="2" charset="77"/>
                <a:cs typeface="Arial" pitchFamily="34" charset="-120"/>
              </a:rPr>
              <a:t>1}}</a:t>
            </a:r>
            <a:endParaRPr lang="en-US" sz="1400" dirty="0">
              <a:solidFill>
                <a:srgbClr val="643791"/>
              </a:solidFill>
              <a:latin typeface="DM Sans 14pt" pitchFamily="2" charset="77"/>
              <a:cs typeface="Arial" pitchFamily="34" charset="-120"/>
            </a:endParaRPr>
          </a:p>
          <a:p>
            <a:endParaRPr lang="en-US" sz="1400" dirty="0">
              <a:solidFill>
                <a:srgbClr val="643791"/>
              </a:solidFill>
              <a:latin typeface="DM Sans 14pt" pitchFamily="2" charset="77"/>
              <a:cs typeface="Arial" pitchFamily="34" charset="-120"/>
            </a:endParaRPr>
          </a:p>
          <a:p>
            <a:r>
              <a:rPr lang="en-US" sz="1400" dirty="0">
                <a:solidFill>
                  <a:srgbClr val="643791"/>
                </a:solidFill>
                <a:latin typeface="DM Sans 14pt" pitchFamily="2" charset="77"/>
                <a:cs typeface="Arial" pitchFamily="34" charset="-120"/>
              </a:rPr>
              <a:t>{{commentary_media_point_</a:t>
            </a:r>
            <a:r>
              <a:rPr lang="en-US" sz="1400">
                <a:solidFill>
                  <a:srgbClr val="643791"/>
                </a:solidFill>
                <a:latin typeface="DM Sans 14pt" pitchFamily="2" charset="77"/>
                <a:cs typeface="Arial" pitchFamily="34" charset="-120"/>
              </a:rPr>
              <a:t>2}}</a:t>
            </a:r>
            <a:endParaRPr lang="en-US" sz="1400" dirty="0">
              <a:solidFill>
                <a:srgbClr val="643791"/>
              </a:solidFill>
              <a:latin typeface="DM Sans 14pt" pitchFamily="2" charset="77"/>
              <a:cs typeface="Arial" pitchFamily="34" charset="-120"/>
            </a:endParaRPr>
          </a:p>
          <a:p>
            <a:endParaRPr lang="en-US" sz="1400" dirty="0">
              <a:solidFill>
                <a:srgbClr val="643791"/>
              </a:solidFill>
              <a:latin typeface="DM Sans 14pt" pitchFamily="2" charset="77"/>
              <a:cs typeface="Arial" pitchFamily="34" charset="-120"/>
            </a:endParaRPr>
          </a:p>
          <a:p>
            <a:r>
              <a:rPr lang="en-US" sz="1400" dirty="0">
                <a:solidFill>
                  <a:srgbClr val="643791"/>
                </a:solidFill>
                <a:latin typeface="DM Sans 14pt" pitchFamily="2" charset="77"/>
                <a:cs typeface="Arial" pitchFamily="34" charset="-120"/>
              </a:rPr>
              <a:t>{{commentary_media</a:t>
            </a:r>
            <a:r>
              <a:rPr lang="en-US" sz="1400">
                <a:solidFill>
                  <a:srgbClr val="643791"/>
                </a:solidFill>
                <a:latin typeface="DM Sans 14pt" pitchFamily="2" charset="77"/>
                <a:cs typeface="Arial" pitchFamily="34" charset="-120"/>
              </a:rPr>
              <a:t>_point</a:t>
            </a:r>
            <a:r>
              <a:rPr lang="en-US" sz="1400" dirty="0">
                <a:solidFill>
                  <a:srgbClr val="643791"/>
                </a:solidFill>
                <a:latin typeface="DM Sans 14pt" pitchFamily="2" charset="77"/>
                <a:cs typeface="Arial" pitchFamily="34" charset="-120"/>
              </a:rPr>
              <a:t>_</a:t>
            </a:r>
            <a:r>
              <a:rPr lang="en-US" sz="1400">
                <a:solidFill>
                  <a:srgbClr val="643791"/>
                </a:solidFill>
                <a:latin typeface="DM Sans 14pt" pitchFamily="2" charset="77"/>
                <a:cs typeface="Arial" pitchFamily="34" charset="-120"/>
              </a:rPr>
              <a:t>3}}</a:t>
            </a:r>
            <a:endParaRPr lang="en-US" sz="1400" dirty="0">
              <a:solidFill>
                <a:srgbClr val="643791"/>
              </a:solidFill>
              <a:latin typeface="DM Sans 14pt" pitchFamily="2" charset="77"/>
              <a:cs typeface="Arial" pitchFamily="34" charset="-120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3B3652-5682-030C-16C8-859667E662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6769438C-534F-3653-4C67-806313405A08}"/>
              </a:ext>
            </a:extLst>
          </p:cNvPr>
          <p:cNvSpPr/>
          <p:nvPr/>
        </p:nvSpPr>
        <p:spPr>
          <a:xfrm>
            <a:off x="609600" y="457200"/>
            <a:ext cx="495300" cy="438150"/>
          </a:xfrm>
          <a:prstGeom prst="rect">
            <a:avLst/>
          </a:prstGeom>
          <a:solidFill>
            <a:srgbClr val="643791"/>
          </a:solidFill>
          <a:ln/>
        </p:spPr>
        <p:txBody>
          <a:bodyPr/>
          <a:lstStyle/>
          <a:p>
            <a:endParaRPr lang="en-GB">
              <a:latin typeface="DM Sans 14pt" pitchFamily="2" charset="77"/>
            </a:endParaRP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6F9E9FF0-CF8C-FC6B-F503-578F1A2C9E69}"/>
              </a:ext>
            </a:extLst>
          </p:cNvPr>
          <p:cNvSpPr/>
          <p:nvPr/>
        </p:nvSpPr>
        <p:spPr>
          <a:xfrm>
            <a:off x="571500" y="476250"/>
            <a:ext cx="49530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350" b="1" kern="0" spc="-27" dirty="0">
                <a:solidFill>
                  <a:srgbClr val="FFFFFF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Go</a:t>
            </a:r>
            <a:endParaRPr lang="en-US" sz="1350" dirty="0">
              <a:latin typeface="DM Sans 14pt" pitchFamily="2" charset="77"/>
            </a:endParaRP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9A54BD05-0BEA-5C3A-B2A1-EBA393BDE115}"/>
              </a:ext>
            </a:extLst>
          </p:cNvPr>
          <p:cNvSpPr/>
          <p:nvPr/>
        </p:nvSpPr>
        <p:spPr>
          <a:xfrm>
            <a:off x="1200150" y="538163"/>
            <a:ext cx="1561505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b="1" kern="0" spc="-16" dirty="0">
                <a:solidFill>
                  <a:srgbClr val="111111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Jobs Go Public</a:t>
            </a:r>
            <a:endParaRPr lang="en-US" sz="1650" dirty="0">
              <a:latin typeface="DM Sans 14pt" pitchFamily="2" charset="77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B9084D09-BE08-E661-5616-7526A3AD2A01}"/>
              </a:ext>
            </a:extLst>
          </p:cNvPr>
          <p:cNvSpPr/>
          <p:nvPr/>
        </p:nvSpPr>
        <p:spPr>
          <a:xfrm>
            <a:off x="762000" y="1047750"/>
            <a:ext cx="9460629" cy="647700"/>
          </a:xfrm>
          <a:prstGeom prst="rect">
            <a:avLst/>
          </a:prstGeom>
          <a:noFill/>
          <a:ln>
            <a:noFill/>
          </a:ln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4800" b="1" kern="0" spc="-144" dirty="0">
                <a:solidFill>
                  <a:srgbClr val="111111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Your salaries benchmarked</a:t>
            </a:r>
            <a:endParaRPr lang="en-US" sz="4800" dirty="0">
              <a:latin typeface="DM Sans 14pt" pitchFamily="2" charset="77"/>
            </a:endParaRPr>
          </a:p>
        </p:txBody>
      </p:sp>
      <p:sp>
        <p:nvSpPr>
          <p:cNvPr id="27" name="Text 25">
            <a:extLst>
              <a:ext uri="{FF2B5EF4-FFF2-40B4-BE49-F238E27FC236}">
                <a16:creationId xmlns:a16="http://schemas.microsoft.com/office/drawing/2014/main" id="{4E718164-87F5-1C17-3C8C-7615C2BF65BC}"/>
              </a:ext>
            </a:extLst>
          </p:cNvPr>
          <p:cNvSpPr/>
          <p:nvPr/>
        </p:nvSpPr>
        <p:spPr>
          <a:xfrm>
            <a:off x="977462" y="2486027"/>
            <a:ext cx="11350567" cy="66264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endParaRPr lang="en-US" sz="1650" dirty="0">
              <a:latin typeface="DM Sans 14pt" pitchFamily="2" charset="77"/>
            </a:endParaRPr>
          </a:p>
        </p:txBody>
      </p:sp>
      <p:sp>
        <p:nvSpPr>
          <p:cNvPr id="38" name="Text 36">
            <a:extLst>
              <a:ext uri="{FF2B5EF4-FFF2-40B4-BE49-F238E27FC236}">
                <a16:creationId xmlns:a16="http://schemas.microsoft.com/office/drawing/2014/main" id="{D64166D0-A6F5-DBA5-F270-F86FC33A0F32}"/>
              </a:ext>
            </a:extLst>
          </p:cNvPr>
          <p:cNvSpPr/>
          <p:nvPr/>
        </p:nvSpPr>
        <p:spPr>
          <a:xfrm>
            <a:off x="609600" y="9753600"/>
            <a:ext cx="2373511" cy="190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85000" lnSpcReduction="10000"/>
          </a:bodyPr>
          <a:lstStyle/>
          <a:p>
            <a:pPr marL="0" indent="0" algn="l">
              <a:buNone/>
            </a:pPr>
            <a:r>
              <a:rPr lang="en-US" sz="1050" kern="0" spc="42" dirty="0">
                <a:solidFill>
                  <a:srgbClr val="111111">
                    <a:alpha val="63000"/>
                  </a:srgbClr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{{client_name}} · Advertising Report</a:t>
            </a:r>
            <a:endParaRPr lang="en-US" sz="1050" dirty="0">
              <a:latin typeface="DM Sans 14pt" pitchFamily="2" charset="77"/>
            </a:endParaRPr>
          </a:p>
        </p:txBody>
      </p:sp>
      <p:sp>
        <p:nvSpPr>
          <p:cNvPr id="46" name="Text 3">
            <a:extLst>
              <a:ext uri="{FF2B5EF4-FFF2-40B4-BE49-F238E27FC236}">
                <a16:creationId xmlns:a16="http://schemas.microsoft.com/office/drawing/2014/main" id="{BE3C597C-B529-9D9E-3C0F-A3121FDAF6B4}"/>
              </a:ext>
            </a:extLst>
          </p:cNvPr>
          <p:cNvSpPr/>
          <p:nvPr/>
        </p:nvSpPr>
        <p:spPr>
          <a:xfrm>
            <a:off x="12995755" y="575051"/>
            <a:ext cx="4703047" cy="280800"/>
          </a:xfrm>
          <a:prstGeom prst="rect">
            <a:avLst/>
          </a:prstGeom>
          <a:noFill/>
          <a:ln>
            <a:noFill/>
          </a:ln>
        </p:spPr>
        <p:txBody>
          <a:bodyPr wrap="square" lIns="25400" tIns="25400" rIns="25400" bIns="25400" rtlCol="0" anchor="t">
            <a:normAutofit/>
          </a:bodyPr>
          <a:lstStyle/>
          <a:p>
            <a:pPr algn="r"/>
            <a:r>
              <a:rPr lang="en-US" sz="1200" kern="0" spc="420" dirty="0">
                <a:solidFill>
                  <a:srgbClr val="643791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06 · SALARY BENCHMARK</a:t>
            </a:r>
            <a:endParaRPr lang="en-US" sz="1200" dirty="0">
              <a:latin typeface="DM Sans 14pt" pitchFamily="2" charset="77"/>
            </a:endParaRPr>
          </a:p>
        </p:txBody>
      </p:sp>
      <p:sp>
        <p:nvSpPr>
          <p:cNvPr id="10" name="Text 25">
            <a:extLst>
              <a:ext uri="{FF2B5EF4-FFF2-40B4-BE49-F238E27FC236}">
                <a16:creationId xmlns:a16="http://schemas.microsoft.com/office/drawing/2014/main" id="{A60EF022-AFCA-1D43-00F7-23502A73BD1F}"/>
              </a:ext>
            </a:extLst>
          </p:cNvPr>
          <p:cNvSpPr/>
          <p:nvPr/>
        </p:nvSpPr>
        <p:spPr>
          <a:xfrm>
            <a:off x="4893357" y="4881636"/>
            <a:ext cx="3931965" cy="190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ctr">
              <a:buNone/>
            </a:pPr>
            <a:endParaRPr lang="en-US" sz="1050" dirty="0">
              <a:latin typeface="DM Sans 14pt" pitchFamily="2" charset="77"/>
            </a:endParaRPr>
          </a:p>
        </p:txBody>
      </p:sp>
      <p:sp>
        <p:nvSpPr>
          <p:cNvPr id="13" name="Shape 19">
            <a:extLst>
              <a:ext uri="{FF2B5EF4-FFF2-40B4-BE49-F238E27FC236}">
                <a16:creationId xmlns:a16="http://schemas.microsoft.com/office/drawing/2014/main" id="{95A19A90-8ED4-8C19-01E3-E847C853A5DA}"/>
              </a:ext>
            </a:extLst>
          </p:cNvPr>
          <p:cNvSpPr/>
          <p:nvPr/>
        </p:nvSpPr>
        <p:spPr>
          <a:xfrm>
            <a:off x="762000" y="1866900"/>
            <a:ext cx="11945938" cy="7481190"/>
          </a:xfrm>
          <a:prstGeom prst="roundRect">
            <a:avLst>
              <a:gd name="adj" fmla="val 2331"/>
            </a:avLst>
          </a:prstGeom>
          <a:solidFill>
            <a:srgbClr val="E8E0F2"/>
          </a:solidFill>
          <a:ln w="19050">
            <a:solidFill>
              <a:srgbClr val="643791"/>
            </a:solidFill>
            <a:prstDash val="dash"/>
          </a:ln>
        </p:spPr>
        <p:txBody>
          <a:bodyPr/>
          <a:lstStyle/>
          <a:p>
            <a:endParaRPr lang="en-GB" dirty="0">
              <a:latin typeface="DM Sans 14pt" pitchFamily="2" charset="77"/>
            </a:endParaRPr>
          </a:p>
        </p:txBody>
      </p:sp>
      <p:sp>
        <p:nvSpPr>
          <p:cNvPr id="14" name="Shape 23">
            <a:extLst>
              <a:ext uri="{FF2B5EF4-FFF2-40B4-BE49-F238E27FC236}">
                <a16:creationId xmlns:a16="http://schemas.microsoft.com/office/drawing/2014/main" id="{7E6276C6-75CF-5427-234E-A6B95AFAA899}"/>
              </a:ext>
            </a:extLst>
          </p:cNvPr>
          <p:cNvSpPr/>
          <p:nvPr/>
        </p:nvSpPr>
        <p:spPr>
          <a:xfrm>
            <a:off x="868675" y="2292129"/>
            <a:ext cx="11725200" cy="6951522"/>
          </a:xfrm>
          <a:prstGeom prst="roundRect">
            <a:avLst>
              <a:gd name="adj" fmla="val 2451"/>
            </a:avLst>
          </a:prstGeom>
          <a:solidFill>
            <a:srgbClr val="FFFFFF"/>
          </a:solidFill>
          <a:ln w="9525">
            <a:solidFill>
              <a:srgbClr val="000000">
                <a:alpha val="10000"/>
              </a:srgbClr>
            </a:solidFill>
            <a:prstDash val="solid"/>
          </a:ln>
        </p:spPr>
        <p:txBody>
          <a:bodyPr/>
          <a:lstStyle/>
          <a:p>
            <a:r>
              <a:rPr lang="en-US" kern="0" spc="30" dirty="0">
                <a:solidFill>
                  <a:srgbClr val="240F45"/>
                </a:solidFill>
                <a:latin typeface="DM Sans 14pt" pitchFamily="2" charset="77"/>
                <a:ea typeface="monospace" pitchFamily="34" charset="-122"/>
                <a:cs typeface="monospace" pitchFamily="34" charset="-120"/>
              </a:rPr>
              <a:t>{{</a:t>
            </a:r>
            <a:r>
              <a:rPr lang="en-US" kern="0" spc="30" dirty="0" err="1">
                <a:solidFill>
                  <a:srgbClr val="240F45"/>
                </a:solidFill>
                <a:latin typeface="DM Sans 14pt" pitchFamily="2" charset="77"/>
                <a:ea typeface="monospace" pitchFamily="34" charset="-122"/>
                <a:cs typeface="monospace" pitchFamily="34" charset="-120"/>
              </a:rPr>
              <a:t>chart:salary_by_occupation</a:t>
            </a:r>
            <a:r>
              <a:rPr lang="en-US" kern="0" spc="30" dirty="0">
                <a:solidFill>
                  <a:srgbClr val="240F45"/>
                </a:solidFill>
                <a:latin typeface="DM Sans 14pt" pitchFamily="2" charset="77"/>
                <a:ea typeface="monospace" pitchFamily="34" charset="-122"/>
                <a:cs typeface="monospace" pitchFamily="34" charset="-120"/>
              </a:rPr>
              <a:t>}}</a:t>
            </a:r>
            <a:endParaRPr lang="en-US" dirty="0">
              <a:latin typeface="DM Sans 14pt" pitchFamily="2" charset="77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7941C27-1F22-6A0D-3C82-2FA9F1BC078A}"/>
              </a:ext>
            </a:extLst>
          </p:cNvPr>
          <p:cNvSpPr/>
          <p:nvPr/>
        </p:nvSpPr>
        <p:spPr>
          <a:xfrm>
            <a:off x="868675" y="1866899"/>
            <a:ext cx="8009197" cy="428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lang="en-US" kern="0" spc="84" dirty="0">
                <a:solidFill>
                  <a:srgbClr val="111111">
                    <a:alpha val="63000"/>
                  </a:srgbClr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Top 10 occupations · salary benchmark</a:t>
            </a:r>
            <a:endParaRPr lang="en-US" dirty="0">
              <a:latin typeface="DM Sans 14pt" pitchFamily="2" charset="77"/>
            </a:endParaRPr>
          </a:p>
        </p:txBody>
      </p:sp>
      <p:sp>
        <p:nvSpPr>
          <p:cNvPr id="5" name="Footer Placeholder 1">
            <a:extLst>
              <a:ext uri="{FF2B5EF4-FFF2-40B4-BE49-F238E27FC236}">
                <a16:creationId xmlns:a16="http://schemas.microsoft.com/office/drawing/2014/main" id="{0011CFF4-EA6B-87CF-5D66-EFA3703E982E}"/>
              </a:ext>
            </a:extLst>
          </p:cNvPr>
          <p:cNvSpPr txBox="1">
            <a:spLocks/>
          </p:cNvSpPr>
          <p:nvPr/>
        </p:nvSpPr>
        <p:spPr>
          <a:xfrm>
            <a:off x="17233255" y="9753300"/>
            <a:ext cx="522000" cy="190800"/>
          </a:xfrm>
          <a:prstGeom prst="rect">
            <a:avLst/>
          </a:prstGeom>
        </p:spPr>
        <p:txBody>
          <a:bodyPr vert="horz" lIns="36000" tIns="36000" rIns="36000" bIns="36000" rtlCol="0" anchor="ctr"/>
          <a:lstStyle>
            <a:lvl1pPr marL="0" algn="l" defTabSz="914400" rtl="0" eaLnBrk="1" latinLnBrk="0" hangingPunct="1">
              <a:defRPr sz="900" kern="1200">
                <a:solidFill>
                  <a:srgbClr val="E8E0F2"/>
                </a:solidFill>
                <a:latin typeface="DM Sans 14pt" pitchFamily="2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dirty="0">
                <a:solidFill>
                  <a:srgbClr val="757575"/>
                </a:solidFill>
              </a:rPr>
              <a:t>{{</a:t>
            </a:r>
            <a:r>
              <a:rPr lang="en-GB" dirty="0" err="1">
                <a:solidFill>
                  <a:srgbClr val="757575"/>
                </a:solidFill>
              </a:rPr>
              <a:t>slide_number</a:t>
            </a:r>
            <a:r>
              <a:rPr lang="en-GB" dirty="0">
                <a:solidFill>
                  <a:srgbClr val="757575"/>
                </a:solidFill>
              </a:rPr>
              <a:t>}} / {{</a:t>
            </a:r>
            <a:r>
              <a:rPr lang="en-GB" dirty="0" err="1">
                <a:solidFill>
                  <a:srgbClr val="757575"/>
                </a:solidFill>
              </a:rPr>
              <a:t>total_slides</a:t>
            </a:r>
            <a:r>
              <a:rPr lang="en-GB" dirty="0">
                <a:solidFill>
                  <a:srgbClr val="757575"/>
                </a:solidFill>
              </a:rPr>
              <a:t>}}</a:t>
            </a:r>
          </a:p>
        </p:txBody>
      </p:sp>
      <p:sp>
        <p:nvSpPr>
          <p:cNvPr id="8" name="Shape 28">
            <a:extLst>
              <a:ext uri="{FF2B5EF4-FFF2-40B4-BE49-F238E27FC236}">
                <a16:creationId xmlns:a16="http://schemas.microsoft.com/office/drawing/2014/main" id="{5D19BA13-C8A8-47B4-D449-BB8BDE721A67}"/>
              </a:ext>
            </a:extLst>
          </p:cNvPr>
          <p:cNvSpPr/>
          <p:nvPr/>
        </p:nvSpPr>
        <p:spPr>
          <a:xfrm>
            <a:off x="12995755" y="1866899"/>
            <a:ext cx="4701600" cy="1188000"/>
          </a:xfrm>
          <a:prstGeom prst="roundRect">
            <a:avLst>
              <a:gd name="adj" fmla="val 6000"/>
            </a:avLst>
          </a:prstGeom>
          <a:solidFill>
            <a:srgbClr val="643791">
              <a:alpha val="8000"/>
            </a:srgbClr>
          </a:solidFill>
          <a:ln/>
        </p:spPr>
        <p:txBody>
          <a:bodyPr/>
          <a:lstStyle/>
          <a:p>
            <a:pPr>
              <a:lnSpc>
                <a:spcPct val="110000"/>
              </a:lnSpc>
            </a:pPr>
            <a:r>
              <a:rPr lang="en-GB" sz="1400" dirty="0">
                <a:solidFill>
                  <a:srgbClr val="643791"/>
                </a:solidFill>
                <a:latin typeface="DM Sans 14pt" pitchFamily="2" charset="77"/>
                <a:cs typeface="Arial" pitchFamily="34" charset="-120"/>
              </a:rPr>
              <a:t>{{</a:t>
            </a:r>
            <a:r>
              <a:rPr lang="en-GB" sz="1400" dirty="0" err="1">
                <a:solidFill>
                  <a:srgbClr val="643791"/>
                </a:solidFill>
                <a:latin typeface="DM Sans 14pt" pitchFamily="2" charset="77"/>
                <a:cs typeface="Arial" pitchFamily="34" charset="-120"/>
              </a:rPr>
              <a:t>chart_explainer_salary_by_occupation</a:t>
            </a:r>
            <a:r>
              <a:rPr lang="en-GB" sz="1400" dirty="0">
                <a:solidFill>
                  <a:srgbClr val="643791"/>
                </a:solidFill>
                <a:latin typeface="DM Sans 14pt" pitchFamily="2" charset="77"/>
                <a:cs typeface="Arial" pitchFamily="34" charset="-120"/>
              </a:rPr>
              <a:t>}}</a:t>
            </a:r>
          </a:p>
        </p:txBody>
      </p:sp>
      <p:sp>
        <p:nvSpPr>
          <p:cNvPr id="11" name="Text 27">
            <a:extLst>
              <a:ext uri="{FF2B5EF4-FFF2-40B4-BE49-F238E27FC236}">
                <a16:creationId xmlns:a16="http://schemas.microsoft.com/office/drawing/2014/main" id="{D6A29D89-A77D-0FD1-BDAA-9F510BFB5E88}"/>
              </a:ext>
            </a:extLst>
          </p:cNvPr>
          <p:cNvSpPr/>
          <p:nvPr/>
        </p:nvSpPr>
        <p:spPr>
          <a:xfrm>
            <a:off x="12995755" y="3259384"/>
            <a:ext cx="4701600" cy="48886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400" b="1" kern="0" spc="368" dirty="0">
                <a:solidFill>
                  <a:srgbClr val="643791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COMMENTARY</a:t>
            </a:r>
            <a:endParaRPr lang="en-US" sz="2400" b="1" dirty="0">
              <a:latin typeface="DM Sans 14pt" pitchFamily="2" charset="77"/>
            </a:endParaRPr>
          </a:p>
        </p:txBody>
      </p:sp>
      <p:sp>
        <p:nvSpPr>
          <p:cNvPr id="17" name="Shape 28">
            <a:extLst>
              <a:ext uri="{FF2B5EF4-FFF2-40B4-BE49-F238E27FC236}">
                <a16:creationId xmlns:a16="http://schemas.microsoft.com/office/drawing/2014/main" id="{D26B6FB8-984A-C032-5326-B6B169C26EFB}"/>
              </a:ext>
            </a:extLst>
          </p:cNvPr>
          <p:cNvSpPr/>
          <p:nvPr/>
        </p:nvSpPr>
        <p:spPr>
          <a:xfrm>
            <a:off x="12995755" y="3748249"/>
            <a:ext cx="4701600" cy="5606765"/>
          </a:xfrm>
          <a:prstGeom prst="roundRect">
            <a:avLst>
              <a:gd name="adj" fmla="val 3000"/>
            </a:avLst>
          </a:prstGeom>
          <a:solidFill>
            <a:srgbClr val="643791">
              <a:alpha val="8000"/>
            </a:srgbClr>
          </a:solidFill>
          <a:ln/>
        </p:spPr>
        <p:txBody>
          <a:bodyPr/>
          <a:lstStyle/>
          <a:p>
            <a:r>
              <a:rPr lang="en-GB" sz="1400" dirty="0">
                <a:solidFill>
                  <a:srgbClr val="643791"/>
                </a:solidFill>
                <a:latin typeface="DM Sans 14pt" pitchFamily="2" charset="77"/>
                <a:cs typeface="Arial" pitchFamily="34" charset="-120"/>
              </a:rPr>
              <a:t>{{</a:t>
            </a:r>
            <a:r>
              <a:rPr lang="en-GB" sz="1400" dirty="0" err="1">
                <a:solidFill>
                  <a:srgbClr val="643791"/>
                </a:solidFill>
                <a:latin typeface="DM Sans 14pt" pitchFamily="2" charset="77"/>
                <a:cs typeface="Arial" pitchFamily="34" charset="-120"/>
              </a:rPr>
              <a:t>commentary_salary_</a:t>
            </a:r>
            <a:r>
              <a:rPr lang="en-GB" sz="1400" err="1">
                <a:solidFill>
                  <a:srgbClr val="643791"/>
                </a:solidFill>
                <a:latin typeface="DM Sans 14pt" pitchFamily="2" charset="77"/>
                <a:cs typeface="Arial" pitchFamily="34" charset="-120"/>
              </a:rPr>
              <a:t>intro</a:t>
            </a:r>
            <a:r>
              <a:rPr lang="en-GB" sz="1400">
                <a:solidFill>
                  <a:srgbClr val="643791"/>
                </a:solidFill>
                <a:latin typeface="DM Sans 14pt" pitchFamily="2" charset="77"/>
                <a:cs typeface="Arial" pitchFamily="34" charset="-120"/>
              </a:rPr>
              <a:t>}}</a:t>
            </a:r>
            <a:endParaRPr lang="en-US" sz="1400" dirty="0">
              <a:solidFill>
                <a:srgbClr val="643791"/>
              </a:solidFill>
              <a:latin typeface="DM Sans 14pt" pitchFamily="2" charset="77"/>
              <a:cs typeface="Arial" pitchFamily="34" charset="-120"/>
            </a:endParaRPr>
          </a:p>
          <a:p>
            <a:endParaRPr lang="en-US" sz="1400" dirty="0">
              <a:solidFill>
                <a:srgbClr val="643791"/>
              </a:solidFill>
              <a:latin typeface="DM Sans 14pt" pitchFamily="2" charset="77"/>
              <a:cs typeface="Arial" pitchFamily="34" charset="-120"/>
            </a:endParaRPr>
          </a:p>
          <a:p>
            <a:r>
              <a:rPr lang="en-US" sz="1400">
                <a:solidFill>
                  <a:srgbClr val="643791"/>
                </a:solidFill>
                <a:latin typeface="DM Sans 14pt" pitchFamily="2" charset="77"/>
                <a:cs typeface="Arial" pitchFamily="34" charset="-120"/>
              </a:rPr>
              <a:t>{{commentary</a:t>
            </a:r>
            <a:r>
              <a:rPr lang="en-US" sz="1400" dirty="0">
                <a:solidFill>
                  <a:srgbClr val="643791"/>
                </a:solidFill>
                <a:latin typeface="DM Sans 14pt" pitchFamily="2" charset="77"/>
                <a:cs typeface="Arial" pitchFamily="34" charset="-120"/>
              </a:rPr>
              <a:t>_</a:t>
            </a:r>
            <a:r>
              <a:rPr lang="en-US" sz="1400">
                <a:solidFill>
                  <a:srgbClr val="643791"/>
                </a:solidFill>
                <a:latin typeface="DM Sans 14pt" pitchFamily="2" charset="77"/>
                <a:cs typeface="Arial" pitchFamily="34" charset="-120"/>
              </a:rPr>
              <a:t>salary_</a:t>
            </a:r>
            <a:r>
              <a:rPr lang="en-US" sz="1400" dirty="0">
                <a:solidFill>
                  <a:srgbClr val="643791"/>
                </a:solidFill>
                <a:latin typeface="DM Sans 14pt" pitchFamily="2" charset="77"/>
                <a:cs typeface="Arial" pitchFamily="34" charset="-120"/>
              </a:rPr>
              <a:t>point_</a:t>
            </a:r>
            <a:r>
              <a:rPr lang="en-US" sz="1400">
                <a:solidFill>
                  <a:srgbClr val="643791"/>
                </a:solidFill>
                <a:latin typeface="DM Sans 14pt" pitchFamily="2" charset="77"/>
                <a:cs typeface="Arial" pitchFamily="34" charset="-120"/>
              </a:rPr>
              <a:t>1}}</a:t>
            </a:r>
            <a:endParaRPr lang="en-US" sz="1400" dirty="0">
              <a:solidFill>
                <a:srgbClr val="643791"/>
              </a:solidFill>
              <a:latin typeface="DM Sans 14pt" pitchFamily="2" charset="77"/>
              <a:cs typeface="Arial" pitchFamily="34" charset="-120"/>
            </a:endParaRPr>
          </a:p>
          <a:p>
            <a:endParaRPr lang="en-US" sz="1400" dirty="0">
              <a:solidFill>
                <a:srgbClr val="643791"/>
              </a:solidFill>
              <a:latin typeface="DM Sans 14pt" pitchFamily="2" charset="77"/>
              <a:cs typeface="Arial" pitchFamily="34" charset="-120"/>
            </a:endParaRPr>
          </a:p>
          <a:p>
            <a:r>
              <a:rPr lang="en-US" sz="1400">
                <a:solidFill>
                  <a:srgbClr val="643791"/>
                </a:solidFill>
                <a:latin typeface="DM Sans 14pt" pitchFamily="2" charset="77"/>
                <a:cs typeface="Arial" pitchFamily="34" charset="-120"/>
              </a:rPr>
              <a:t>{{commentary_</a:t>
            </a:r>
            <a:r>
              <a:rPr lang="en-US" sz="1400" dirty="0">
                <a:solidFill>
                  <a:srgbClr val="643791"/>
                </a:solidFill>
                <a:latin typeface="DM Sans 14pt" pitchFamily="2" charset="77"/>
                <a:cs typeface="Arial" pitchFamily="34" charset="-120"/>
              </a:rPr>
              <a:t> </a:t>
            </a:r>
            <a:r>
              <a:rPr lang="en-US" sz="1400">
                <a:solidFill>
                  <a:srgbClr val="643791"/>
                </a:solidFill>
                <a:latin typeface="DM Sans 14pt" pitchFamily="2" charset="77"/>
                <a:cs typeface="Arial" pitchFamily="34" charset="-120"/>
              </a:rPr>
              <a:t>salary _</a:t>
            </a:r>
            <a:r>
              <a:rPr lang="en-US" sz="1400" dirty="0">
                <a:solidFill>
                  <a:srgbClr val="643791"/>
                </a:solidFill>
                <a:latin typeface="DM Sans 14pt" pitchFamily="2" charset="77"/>
                <a:cs typeface="Arial" pitchFamily="34" charset="-120"/>
              </a:rPr>
              <a:t>point_</a:t>
            </a:r>
            <a:r>
              <a:rPr lang="en-US" sz="1400">
                <a:solidFill>
                  <a:srgbClr val="643791"/>
                </a:solidFill>
                <a:latin typeface="DM Sans 14pt" pitchFamily="2" charset="77"/>
                <a:cs typeface="Arial" pitchFamily="34" charset="-120"/>
              </a:rPr>
              <a:t>2}}</a:t>
            </a:r>
            <a:endParaRPr lang="en-US" sz="1400" dirty="0">
              <a:solidFill>
                <a:srgbClr val="643791"/>
              </a:solidFill>
              <a:latin typeface="DM Sans 14pt" pitchFamily="2" charset="77"/>
              <a:cs typeface="Arial" pitchFamily="34" charset="-120"/>
            </a:endParaRPr>
          </a:p>
          <a:p>
            <a:endParaRPr lang="en-US" sz="1400" dirty="0">
              <a:solidFill>
                <a:srgbClr val="643791"/>
              </a:solidFill>
              <a:latin typeface="DM Sans 14pt" pitchFamily="2" charset="77"/>
              <a:cs typeface="Arial" pitchFamily="34" charset="-120"/>
            </a:endParaRPr>
          </a:p>
          <a:p>
            <a:r>
              <a:rPr lang="en-US" sz="1400">
                <a:solidFill>
                  <a:srgbClr val="643791"/>
                </a:solidFill>
                <a:latin typeface="DM Sans 14pt" pitchFamily="2" charset="77"/>
                <a:cs typeface="Arial" pitchFamily="34" charset="-120"/>
              </a:rPr>
              <a:t>{{commentary_</a:t>
            </a:r>
            <a:r>
              <a:rPr lang="en-US" sz="1400" dirty="0">
                <a:solidFill>
                  <a:srgbClr val="643791"/>
                </a:solidFill>
                <a:latin typeface="DM Sans 14pt" pitchFamily="2" charset="77"/>
                <a:cs typeface="Arial" pitchFamily="34" charset="-120"/>
              </a:rPr>
              <a:t> </a:t>
            </a:r>
            <a:r>
              <a:rPr lang="en-US" sz="1400">
                <a:solidFill>
                  <a:srgbClr val="643791"/>
                </a:solidFill>
                <a:latin typeface="DM Sans 14pt" pitchFamily="2" charset="77"/>
                <a:cs typeface="Arial" pitchFamily="34" charset="-120"/>
              </a:rPr>
              <a:t>salary _</a:t>
            </a:r>
            <a:r>
              <a:rPr lang="en-US" sz="1400" dirty="0">
                <a:solidFill>
                  <a:srgbClr val="643791"/>
                </a:solidFill>
                <a:latin typeface="DM Sans 14pt" pitchFamily="2" charset="77"/>
                <a:cs typeface="Arial" pitchFamily="34" charset="-120"/>
              </a:rPr>
              <a:t>point</a:t>
            </a:r>
            <a:r>
              <a:rPr lang="en-US" sz="1400">
                <a:solidFill>
                  <a:srgbClr val="643791"/>
                </a:solidFill>
                <a:latin typeface="DM Sans 14pt" pitchFamily="2" charset="77"/>
                <a:cs typeface="Arial" pitchFamily="34" charset="-120"/>
              </a:rPr>
              <a:t>_3}}</a:t>
            </a:r>
            <a:endParaRPr lang="en-US" sz="1400" dirty="0">
              <a:solidFill>
                <a:srgbClr val="643791"/>
              </a:solidFill>
              <a:latin typeface="DM Sans 14pt" pitchFamily="2" charset="77"/>
              <a:cs typeface="Arial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48396847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64379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600" y="457200"/>
            <a:ext cx="495300" cy="43815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GB">
              <a:latin typeface="DM Sans 14pt" pitchFamily="2" charset="77"/>
            </a:endParaRPr>
          </a:p>
        </p:txBody>
      </p:sp>
      <p:sp>
        <p:nvSpPr>
          <p:cNvPr id="3" name="Text 1"/>
          <p:cNvSpPr/>
          <p:nvPr/>
        </p:nvSpPr>
        <p:spPr>
          <a:xfrm>
            <a:off x="571500" y="476250"/>
            <a:ext cx="49530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350" b="1" kern="0" spc="-27" dirty="0">
                <a:solidFill>
                  <a:srgbClr val="643791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Go</a:t>
            </a:r>
            <a:endParaRPr lang="en-US" sz="1350" dirty="0">
              <a:latin typeface="DM Sans 14pt" pitchFamily="2" charset="77"/>
            </a:endParaRPr>
          </a:p>
        </p:txBody>
      </p:sp>
      <p:sp>
        <p:nvSpPr>
          <p:cNvPr id="4" name="Text 2"/>
          <p:cNvSpPr/>
          <p:nvPr/>
        </p:nvSpPr>
        <p:spPr>
          <a:xfrm>
            <a:off x="1200150" y="538163"/>
            <a:ext cx="1561505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b="1" kern="0" spc="-16" dirty="0">
                <a:solidFill>
                  <a:srgbClr val="FFFFFF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Jobs Go Public</a:t>
            </a:r>
            <a:endParaRPr lang="en-US" sz="1650" dirty="0">
              <a:latin typeface="DM Sans 14pt" pitchFamily="2" charset="77"/>
            </a:endParaRPr>
          </a:p>
        </p:txBody>
      </p:sp>
      <p:sp>
        <p:nvSpPr>
          <p:cNvPr id="5" name="Text 3"/>
          <p:cNvSpPr/>
          <p:nvPr/>
        </p:nvSpPr>
        <p:spPr>
          <a:xfrm>
            <a:off x="762000" y="1143000"/>
            <a:ext cx="16482060" cy="209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200" kern="0" spc="360" dirty="0">
                <a:solidFill>
                  <a:srgbClr val="E5FF6E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GET IN TOUCH</a:t>
            </a:r>
            <a:endParaRPr lang="en-US" sz="1200" dirty="0">
              <a:latin typeface="DM Sans 14pt" pitchFamily="2" charset="77"/>
            </a:endParaRPr>
          </a:p>
        </p:txBody>
      </p:sp>
      <p:sp>
        <p:nvSpPr>
          <p:cNvPr id="6" name="Text 4"/>
          <p:cNvSpPr/>
          <p:nvPr/>
        </p:nvSpPr>
        <p:spPr>
          <a:xfrm>
            <a:off x="762000" y="1695450"/>
            <a:ext cx="13735050" cy="3124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90000"/>
              </a:lnSpc>
              <a:buNone/>
            </a:pPr>
            <a:r>
              <a:rPr lang="en-US" sz="13500" b="1" kern="0" spc="-540" dirty="0">
                <a:solidFill>
                  <a:srgbClr val="FFFFFF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Let's talk </a:t>
            </a:r>
            <a:r>
              <a:rPr lang="en-US" sz="13500" b="1" kern="0" spc="-540" dirty="0">
                <a:solidFill>
                  <a:srgbClr val="E5FF6E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what's next</a:t>
            </a:r>
            <a:endParaRPr lang="en-US" sz="13500" dirty="0">
              <a:latin typeface="DM Sans 14pt" pitchFamily="2" charset="77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609600" y="9734550"/>
            <a:ext cx="2881908" cy="209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200" kern="0" spc="360" dirty="0">
                <a:solidFill>
                  <a:srgbClr val="E5FF6E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GO PLACES. GO PUBLIC.</a:t>
            </a:r>
            <a:endParaRPr lang="en-US" sz="1200" dirty="0">
              <a:latin typeface="DM Sans 14pt" pitchFamily="2" charset="77"/>
            </a:endParaRPr>
          </a:p>
        </p:txBody>
      </p:sp>
      <p:sp>
        <p:nvSpPr>
          <p:cNvPr id="26" name="Shape 5">
            <a:extLst>
              <a:ext uri="{FF2B5EF4-FFF2-40B4-BE49-F238E27FC236}">
                <a16:creationId xmlns:a16="http://schemas.microsoft.com/office/drawing/2014/main" id="{9DDC85A7-AB8B-D8AC-56B5-4A857EACA061}"/>
              </a:ext>
            </a:extLst>
          </p:cNvPr>
          <p:cNvSpPr/>
          <p:nvPr/>
        </p:nvSpPr>
        <p:spPr>
          <a:xfrm>
            <a:off x="762001" y="7321200"/>
            <a:ext cx="13848182" cy="1980000"/>
          </a:xfrm>
          <a:prstGeom prst="roundRect">
            <a:avLst>
              <a:gd name="adj" fmla="val 9399"/>
            </a:avLst>
          </a:prstGeom>
          <a:solidFill>
            <a:srgbClr val="E8E0F2">
              <a:alpha val="15000"/>
            </a:srgbClr>
          </a:solidFill>
          <a:ln/>
        </p:spPr>
        <p:txBody>
          <a:bodyPr/>
          <a:lstStyle/>
          <a:p>
            <a:endParaRPr lang="en-GB">
              <a:solidFill>
                <a:srgbClr val="F1F3E2"/>
              </a:solidFill>
              <a:latin typeface="DM Sans 14pt" pitchFamily="2" charset="77"/>
            </a:endParaRPr>
          </a:p>
        </p:txBody>
      </p:sp>
      <p:sp>
        <p:nvSpPr>
          <p:cNvPr id="27" name="Text 6">
            <a:extLst>
              <a:ext uri="{FF2B5EF4-FFF2-40B4-BE49-F238E27FC236}">
                <a16:creationId xmlns:a16="http://schemas.microsoft.com/office/drawing/2014/main" id="{6E0D9A79-C9BA-D4A1-A9E2-D9484A4D7511}"/>
              </a:ext>
            </a:extLst>
          </p:cNvPr>
          <p:cNvSpPr/>
          <p:nvPr/>
        </p:nvSpPr>
        <p:spPr>
          <a:xfrm>
            <a:off x="1031999" y="7591200"/>
            <a:ext cx="6125495" cy="1809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975" kern="0" spc="293" dirty="0">
                <a:solidFill>
                  <a:srgbClr val="F1F3E2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YOUR ACCOUNT TEAM</a:t>
            </a:r>
            <a:endParaRPr lang="en-US" sz="975" dirty="0">
              <a:solidFill>
                <a:srgbClr val="F1F3E2"/>
              </a:solidFill>
              <a:latin typeface="DM Sans 14pt" pitchFamily="2" charset="77"/>
            </a:endParaRPr>
          </a:p>
        </p:txBody>
      </p:sp>
      <p:sp>
        <p:nvSpPr>
          <p:cNvPr id="28" name="Shape 7">
            <a:extLst>
              <a:ext uri="{FF2B5EF4-FFF2-40B4-BE49-F238E27FC236}">
                <a16:creationId xmlns:a16="http://schemas.microsoft.com/office/drawing/2014/main" id="{834C1E1C-41FB-F94B-831B-06824C51B72D}"/>
              </a:ext>
            </a:extLst>
          </p:cNvPr>
          <p:cNvSpPr/>
          <p:nvPr/>
        </p:nvSpPr>
        <p:spPr>
          <a:xfrm>
            <a:off x="1031999" y="7861193"/>
            <a:ext cx="6125497" cy="540990"/>
          </a:xfrm>
          <a:prstGeom prst="roundRect">
            <a:avLst>
              <a:gd name="adj" fmla="val 15242"/>
            </a:avLst>
          </a:prstGeom>
          <a:solidFill>
            <a:srgbClr val="643791"/>
          </a:solidFill>
          <a:ln/>
        </p:spPr>
        <p:txBody>
          <a:bodyPr anchor="ctr"/>
          <a:lstStyle/>
          <a:p>
            <a:r>
              <a:rPr lang="en-US" kern="0" spc="-72" dirty="0">
                <a:solidFill>
                  <a:srgbClr val="F1F3E2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{{</a:t>
            </a:r>
            <a:r>
              <a:rPr lang="en-US" kern="0" spc="-72" dirty="0" err="1">
                <a:solidFill>
                  <a:srgbClr val="F1F3E2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contact_name</a:t>
            </a:r>
            <a:r>
              <a:rPr lang="en-US" kern="0" spc="-72" dirty="0">
                <a:solidFill>
                  <a:srgbClr val="F1F3E2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}}</a:t>
            </a:r>
            <a:endParaRPr lang="en-US" dirty="0">
              <a:solidFill>
                <a:srgbClr val="F1F3E2"/>
              </a:solidFill>
              <a:latin typeface="DM Sans 14pt" pitchFamily="2" charset="77"/>
            </a:endParaRPr>
          </a:p>
        </p:txBody>
      </p:sp>
      <p:sp>
        <p:nvSpPr>
          <p:cNvPr id="29" name="Shape 9">
            <a:extLst>
              <a:ext uri="{FF2B5EF4-FFF2-40B4-BE49-F238E27FC236}">
                <a16:creationId xmlns:a16="http://schemas.microsoft.com/office/drawing/2014/main" id="{E2CDD09A-BBE0-9B80-19BA-A1CB90EBDD42}"/>
              </a:ext>
            </a:extLst>
          </p:cNvPr>
          <p:cNvSpPr/>
          <p:nvPr/>
        </p:nvSpPr>
        <p:spPr>
          <a:xfrm>
            <a:off x="1031999" y="8491200"/>
            <a:ext cx="6125497" cy="540000"/>
          </a:xfrm>
          <a:prstGeom prst="roundRect">
            <a:avLst>
              <a:gd name="adj" fmla="val 15385"/>
            </a:avLst>
          </a:prstGeom>
          <a:solidFill>
            <a:srgbClr val="643791"/>
          </a:solidFill>
          <a:ln/>
        </p:spPr>
        <p:txBody>
          <a:bodyPr anchor="ctr"/>
          <a:lstStyle/>
          <a:p>
            <a:r>
              <a:rPr lang="en-US" sz="1400" dirty="0">
                <a:solidFill>
                  <a:srgbClr val="F1F3E2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{{</a:t>
            </a:r>
            <a:r>
              <a:rPr lang="en-US" sz="1400" dirty="0" err="1">
                <a:solidFill>
                  <a:srgbClr val="F1F3E2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contact_title</a:t>
            </a:r>
            <a:r>
              <a:rPr lang="en-US" sz="1400" dirty="0">
                <a:solidFill>
                  <a:srgbClr val="F1F3E2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}}</a:t>
            </a:r>
            <a:endParaRPr lang="en-US" sz="1400" dirty="0">
              <a:solidFill>
                <a:srgbClr val="F1F3E2"/>
              </a:solidFill>
              <a:latin typeface="DM Sans 14pt" pitchFamily="2" charset="77"/>
            </a:endParaRPr>
          </a:p>
        </p:txBody>
      </p:sp>
      <p:sp>
        <p:nvSpPr>
          <p:cNvPr id="30" name="Text 11">
            <a:extLst>
              <a:ext uri="{FF2B5EF4-FFF2-40B4-BE49-F238E27FC236}">
                <a16:creationId xmlns:a16="http://schemas.microsoft.com/office/drawing/2014/main" id="{DF82FE61-23A2-8A05-D965-69E389ACB73F}"/>
              </a:ext>
            </a:extLst>
          </p:cNvPr>
          <p:cNvSpPr/>
          <p:nvPr/>
        </p:nvSpPr>
        <p:spPr>
          <a:xfrm>
            <a:off x="7607822" y="8045963"/>
            <a:ext cx="647700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900" kern="0" spc="225" dirty="0">
                <a:solidFill>
                  <a:srgbClr val="F1F3E2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EMAIL</a:t>
            </a:r>
            <a:endParaRPr lang="en-US" sz="900" dirty="0">
              <a:solidFill>
                <a:srgbClr val="F1F3E2"/>
              </a:solidFill>
              <a:latin typeface="DM Sans 14pt" pitchFamily="2" charset="77"/>
            </a:endParaRPr>
          </a:p>
        </p:txBody>
      </p:sp>
      <p:sp>
        <p:nvSpPr>
          <p:cNvPr id="31" name="Shape 12">
            <a:extLst>
              <a:ext uri="{FF2B5EF4-FFF2-40B4-BE49-F238E27FC236}">
                <a16:creationId xmlns:a16="http://schemas.microsoft.com/office/drawing/2014/main" id="{6B036337-E8CE-F66E-FA10-BAD6FC17A546}"/>
              </a:ext>
            </a:extLst>
          </p:cNvPr>
          <p:cNvSpPr/>
          <p:nvPr/>
        </p:nvSpPr>
        <p:spPr>
          <a:xfrm>
            <a:off x="8220183" y="7862183"/>
            <a:ext cx="6120000" cy="540000"/>
          </a:xfrm>
          <a:prstGeom prst="roundRect">
            <a:avLst>
              <a:gd name="adj" fmla="val 14191"/>
            </a:avLst>
          </a:prstGeom>
          <a:solidFill>
            <a:srgbClr val="643791"/>
          </a:solidFill>
          <a:ln/>
        </p:spPr>
        <p:txBody>
          <a:bodyPr anchor="ctr"/>
          <a:lstStyle/>
          <a:p>
            <a:r>
              <a:rPr lang="en-US" sz="1400" dirty="0">
                <a:solidFill>
                  <a:srgbClr val="F1F3E2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{{</a:t>
            </a:r>
            <a:r>
              <a:rPr lang="en-US" sz="1400" dirty="0" err="1">
                <a:solidFill>
                  <a:srgbClr val="F1F3E2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contact_email</a:t>
            </a:r>
            <a:r>
              <a:rPr lang="en-US" sz="1400" dirty="0">
                <a:solidFill>
                  <a:srgbClr val="F1F3E2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}}</a:t>
            </a:r>
            <a:endParaRPr lang="en-US" sz="1400" dirty="0">
              <a:solidFill>
                <a:srgbClr val="F1F3E2"/>
              </a:solidFill>
              <a:latin typeface="DM Sans 14pt" pitchFamily="2" charset="77"/>
            </a:endParaRPr>
          </a:p>
        </p:txBody>
      </p:sp>
      <p:sp>
        <p:nvSpPr>
          <p:cNvPr id="32" name="Text 14">
            <a:extLst>
              <a:ext uri="{FF2B5EF4-FFF2-40B4-BE49-F238E27FC236}">
                <a16:creationId xmlns:a16="http://schemas.microsoft.com/office/drawing/2014/main" id="{30E88130-83D4-640A-3309-33A70E1C6934}"/>
              </a:ext>
            </a:extLst>
          </p:cNvPr>
          <p:cNvSpPr/>
          <p:nvPr/>
        </p:nvSpPr>
        <p:spPr>
          <a:xfrm>
            <a:off x="7607822" y="8675475"/>
            <a:ext cx="647700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900" kern="0" spc="225" dirty="0">
                <a:solidFill>
                  <a:srgbClr val="F1F3E2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PHONE</a:t>
            </a:r>
            <a:endParaRPr lang="en-US" sz="900" dirty="0">
              <a:solidFill>
                <a:srgbClr val="F1F3E2"/>
              </a:solidFill>
              <a:latin typeface="DM Sans 14pt" pitchFamily="2" charset="77"/>
            </a:endParaRPr>
          </a:p>
        </p:txBody>
      </p:sp>
      <p:sp>
        <p:nvSpPr>
          <p:cNvPr id="33" name="Shape 15">
            <a:extLst>
              <a:ext uri="{FF2B5EF4-FFF2-40B4-BE49-F238E27FC236}">
                <a16:creationId xmlns:a16="http://schemas.microsoft.com/office/drawing/2014/main" id="{383090B5-315A-B7DE-6DD5-21C27C77FB75}"/>
              </a:ext>
            </a:extLst>
          </p:cNvPr>
          <p:cNvSpPr/>
          <p:nvPr/>
        </p:nvSpPr>
        <p:spPr>
          <a:xfrm>
            <a:off x="8220181" y="8491200"/>
            <a:ext cx="6120000" cy="540000"/>
          </a:xfrm>
          <a:prstGeom prst="roundRect">
            <a:avLst>
              <a:gd name="adj" fmla="val 14191"/>
            </a:avLst>
          </a:prstGeom>
          <a:solidFill>
            <a:srgbClr val="643791"/>
          </a:solidFill>
          <a:ln/>
        </p:spPr>
        <p:txBody>
          <a:bodyPr anchor="ctr"/>
          <a:lstStyle/>
          <a:p>
            <a:r>
              <a:rPr lang="en-US" sz="1400" dirty="0">
                <a:solidFill>
                  <a:srgbClr val="F1F3E2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{{</a:t>
            </a:r>
            <a:r>
              <a:rPr lang="en-US" sz="1400" dirty="0" err="1">
                <a:solidFill>
                  <a:srgbClr val="F1F3E2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contact_phone</a:t>
            </a:r>
            <a:r>
              <a:rPr lang="en-US" sz="1400" dirty="0">
                <a:solidFill>
                  <a:srgbClr val="F1F3E2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}}</a:t>
            </a:r>
            <a:endParaRPr lang="en-US" sz="1400" dirty="0">
              <a:solidFill>
                <a:srgbClr val="F1F3E2"/>
              </a:solidFill>
              <a:latin typeface="DM Sans 14pt" pitchFamily="2" charset="77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812</TotalTime>
  <Words>800</Words>
  <Application>Microsoft Macintosh PowerPoint</Application>
  <PresentationFormat>Custom</PresentationFormat>
  <Paragraphs>163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DM Sans 14pt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Thomas Jordan</cp:lastModifiedBy>
  <cp:revision>42</cp:revision>
  <dcterms:created xsi:type="dcterms:W3CDTF">2026-04-25T02:21:32Z</dcterms:created>
  <dcterms:modified xsi:type="dcterms:W3CDTF">2026-05-06T15:54:28Z</dcterms:modified>
</cp:coreProperties>
</file>